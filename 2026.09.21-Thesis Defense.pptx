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305" r:id="rId2"/>
    <p:sldId id="337" r:id="rId3"/>
    <p:sldId id="338" r:id="rId4"/>
    <p:sldId id="352" r:id="rId5"/>
    <p:sldId id="344" r:id="rId6"/>
    <p:sldId id="343" r:id="rId7"/>
    <p:sldId id="340" r:id="rId8"/>
    <p:sldId id="316" r:id="rId9"/>
    <p:sldId id="363" r:id="rId10"/>
    <p:sldId id="361" r:id="rId11"/>
    <p:sldId id="364" r:id="rId12"/>
    <p:sldId id="315" r:id="rId13"/>
    <p:sldId id="331" r:id="rId14"/>
    <p:sldId id="332" r:id="rId15"/>
    <p:sldId id="318" r:id="rId16"/>
    <p:sldId id="360" r:id="rId17"/>
    <p:sldId id="365" r:id="rId18"/>
    <p:sldId id="342" r:id="rId19"/>
    <p:sldId id="369" r:id="rId20"/>
    <p:sldId id="350" r:id="rId21"/>
    <p:sldId id="345" r:id="rId22"/>
    <p:sldId id="351" r:id="rId23"/>
    <p:sldId id="353" r:id="rId24"/>
    <p:sldId id="370" r:id="rId25"/>
    <p:sldId id="347" r:id="rId26"/>
    <p:sldId id="357" r:id="rId27"/>
    <p:sldId id="358" r:id="rId28"/>
    <p:sldId id="371" r:id="rId29"/>
    <p:sldId id="348" r:id="rId30"/>
    <p:sldId id="356" r:id="rId31"/>
    <p:sldId id="354" r:id="rId32"/>
    <p:sldId id="355" r:id="rId33"/>
    <p:sldId id="373" r:id="rId34"/>
    <p:sldId id="374"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17A1502-137B-402D-93E1-7C1800FB4D93}">
          <p14:sldIdLst>
            <p14:sldId id="305"/>
            <p14:sldId id="337"/>
            <p14:sldId id="338"/>
            <p14:sldId id="352"/>
            <p14:sldId id="344"/>
            <p14:sldId id="343"/>
            <p14:sldId id="340"/>
            <p14:sldId id="316"/>
            <p14:sldId id="363"/>
            <p14:sldId id="361"/>
            <p14:sldId id="364"/>
            <p14:sldId id="315"/>
            <p14:sldId id="331"/>
            <p14:sldId id="332"/>
            <p14:sldId id="318"/>
            <p14:sldId id="360"/>
            <p14:sldId id="365"/>
            <p14:sldId id="342"/>
            <p14:sldId id="369"/>
            <p14:sldId id="350"/>
            <p14:sldId id="345"/>
            <p14:sldId id="351"/>
            <p14:sldId id="353"/>
            <p14:sldId id="370"/>
            <p14:sldId id="347"/>
            <p14:sldId id="357"/>
            <p14:sldId id="358"/>
            <p14:sldId id="371"/>
            <p14:sldId id="348"/>
            <p14:sldId id="356"/>
            <p14:sldId id="354"/>
            <p14:sldId id="355"/>
            <p14:sldId id="373"/>
            <p14:sldId id="37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hao" initials="h" lastIdx="1" clrIdx="0">
    <p:extLst>
      <p:ext uri="{19B8F6BF-5375-455C-9EA6-DF929625EA0E}">
        <p15:presenceInfo xmlns:p15="http://schemas.microsoft.com/office/powerpoint/2012/main" userId="53f25fbde486d94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6E6E6"/>
    <a:srgbClr val="4472C4"/>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A8531-2160-4F0A-8BF0-2BF5084DC85B}" v="22" dt="2026-09-13T19:09:13.76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 He" userId="566a5fee-3a01-4c2c-ae39-89ea6daa5f88" providerId="ADAL" clId="{C7204A7F-2326-4EA8-8E25-414BC0B7A123}"/>
    <pc:docChg chg="undo custSel addSld delSld modSld sldOrd modSection">
      <pc:chgData name="Hao He" userId="566a5fee-3a01-4c2c-ae39-89ea6daa5f88" providerId="ADAL" clId="{C7204A7F-2326-4EA8-8E25-414BC0B7A123}" dt="2026-09-13T19:09:13.767" v="1322"/>
      <pc:docMkLst>
        <pc:docMk/>
      </pc:docMkLst>
      <pc:sldChg chg="modSp mod">
        <pc:chgData name="Hao He" userId="566a5fee-3a01-4c2c-ae39-89ea6daa5f88" providerId="ADAL" clId="{C7204A7F-2326-4EA8-8E25-414BC0B7A123}" dt="2026-09-13T17:39:59.418" v="22" actId="21"/>
        <pc:sldMkLst>
          <pc:docMk/>
          <pc:sldMk cId="1303931892" sldId="305"/>
        </pc:sldMkLst>
        <pc:spChg chg="mod">
          <ac:chgData name="Hao He" userId="566a5fee-3a01-4c2c-ae39-89ea6daa5f88" providerId="ADAL" clId="{C7204A7F-2326-4EA8-8E25-414BC0B7A123}" dt="2026-09-13T17:39:59.418" v="22" actId="21"/>
          <ac:spMkLst>
            <pc:docMk/>
            <pc:sldMk cId="1303931892" sldId="305"/>
            <ac:spMk id="2" creationId="{55F962A1-DCCB-8A73-1799-011E6198FE71}"/>
          </ac:spMkLst>
        </pc:spChg>
        <pc:spChg chg="mod">
          <ac:chgData name="Hao He" userId="566a5fee-3a01-4c2c-ae39-89ea6daa5f88" providerId="ADAL" clId="{C7204A7F-2326-4EA8-8E25-414BC0B7A123}" dt="2026-09-13T17:39:48.759" v="20" actId="20577"/>
          <ac:spMkLst>
            <pc:docMk/>
            <pc:sldMk cId="1303931892" sldId="305"/>
            <ac:spMk id="5" creationId="{4C8B7464-6683-A2F9-EEEC-CA3D9CAB9961}"/>
          </ac:spMkLst>
        </pc:spChg>
      </pc:sldChg>
      <pc:sldChg chg="del">
        <pc:chgData name="Hao He" userId="566a5fee-3a01-4c2c-ae39-89ea6daa5f88" providerId="ADAL" clId="{C7204A7F-2326-4EA8-8E25-414BC0B7A123}" dt="2026-09-13T17:40:35.862" v="24" actId="47"/>
        <pc:sldMkLst>
          <pc:docMk/>
          <pc:sldMk cId="2882582753" sldId="308"/>
        </pc:sldMkLst>
      </pc:sldChg>
      <pc:sldChg chg="ord">
        <pc:chgData name="Hao He" userId="566a5fee-3a01-4c2c-ae39-89ea6daa5f88" providerId="ADAL" clId="{C7204A7F-2326-4EA8-8E25-414BC0B7A123}" dt="2026-09-13T18:38:32.670" v="667"/>
        <pc:sldMkLst>
          <pc:docMk/>
          <pc:sldMk cId="887472350" sldId="315"/>
        </pc:sldMkLst>
      </pc:sldChg>
      <pc:sldChg chg="modSp add del mod ord">
        <pc:chgData name="Hao He" userId="566a5fee-3a01-4c2c-ae39-89ea6daa5f88" providerId="ADAL" clId="{C7204A7F-2326-4EA8-8E25-414BC0B7A123}" dt="2026-09-13T18:38:14.786" v="659"/>
        <pc:sldMkLst>
          <pc:docMk/>
          <pc:sldMk cId="2227869089" sldId="316"/>
        </pc:sldMkLst>
        <pc:spChg chg="mod">
          <ac:chgData name="Hao He" userId="566a5fee-3a01-4c2c-ae39-89ea6daa5f88" providerId="ADAL" clId="{C7204A7F-2326-4EA8-8E25-414BC0B7A123}" dt="2026-09-13T17:45:32.018" v="91" actId="207"/>
          <ac:spMkLst>
            <pc:docMk/>
            <pc:sldMk cId="2227869089" sldId="316"/>
            <ac:spMk id="3" creationId="{B3C8611B-5A05-7CD0-565C-BBC1ECC36964}"/>
          </ac:spMkLst>
        </pc:spChg>
        <pc:spChg chg="mod">
          <ac:chgData name="Hao He" userId="566a5fee-3a01-4c2c-ae39-89ea6daa5f88" providerId="ADAL" clId="{C7204A7F-2326-4EA8-8E25-414BC0B7A123}" dt="2026-09-13T17:45:21.325" v="82" actId="14100"/>
          <ac:spMkLst>
            <pc:docMk/>
            <pc:sldMk cId="2227869089" sldId="316"/>
            <ac:spMk id="11" creationId="{3E4BF423-089E-230C-A26C-87A42A6816E0}"/>
          </ac:spMkLst>
        </pc:spChg>
        <pc:picChg chg="mod">
          <ac:chgData name="Hao He" userId="566a5fee-3a01-4c2c-ae39-89ea6daa5f88" providerId="ADAL" clId="{C7204A7F-2326-4EA8-8E25-414BC0B7A123}" dt="2026-09-13T17:45:13.986" v="80" actId="14100"/>
          <ac:picMkLst>
            <pc:docMk/>
            <pc:sldMk cId="2227869089" sldId="316"/>
            <ac:picMk id="9" creationId="{190D79E6-1D69-5E27-5AA7-752A4F6DE6BD}"/>
          </ac:picMkLst>
        </pc:picChg>
        <pc:cxnChg chg="mod">
          <ac:chgData name="Hao He" userId="566a5fee-3a01-4c2c-ae39-89ea6daa5f88" providerId="ADAL" clId="{C7204A7F-2326-4EA8-8E25-414BC0B7A123}" dt="2026-09-13T17:45:26.037" v="84" actId="1076"/>
          <ac:cxnSpMkLst>
            <pc:docMk/>
            <pc:sldMk cId="2227869089" sldId="316"/>
            <ac:cxnSpMk id="10" creationId="{9B854118-CFBF-3EA5-448D-4EC090C1284C}"/>
          </ac:cxnSpMkLst>
        </pc:cxnChg>
      </pc:sldChg>
      <pc:sldChg chg="mod ord modShow">
        <pc:chgData name="Hao He" userId="566a5fee-3a01-4c2c-ae39-89ea6daa5f88" providerId="ADAL" clId="{C7204A7F-2326-4EA8-8E25-414BC0B7A123}" dt="2026-09-13T18:39:11.804" v="677" actId="34476"/>
        <pc:sldMkLst>
          <pc:docMk/>
          <pc:sldMk cId="813303006" sldId="318"/>
        </pc:sldMkLst>
      </pc:sldChg>
      <pc:sldChg chg="del">
        <pc:chgData name="Hao He" userId="566a5fee-3a01-4c2c-ae39-89ea6daa5f88" providerId="ADAL" clId="{C7204A7F-2326-4EA8-8E25-414BC0B7A123}" dt="2026-09-13T18:50:40.785" v="1314" actId="47"/>
        <pc:sldMkLst>
          <pc:docMk/>
          <pc:sldMk cId="4215255389" sldId="320"/>
        </pc:sldMkLst>
      </pc:sldChg>
      <pc:sldChg chg="del">
        <pc:chgData name="Hao He" userId="566a5fee-3a01-4c2c-ae39-89ea6daa5f88" providerId="ADAL" clId="{C7204A7F-2326-4EA8-8E25-414BC0B7A123}" dt="2026-09-13T18:46:58.792" v="1163" actId="47"/>
        <pc:sldMkLst>
          <pc:docMk/>
          <pc:sldMk cId="2253495669" sldId="321"/>
        </pc:sldMkLst>
      </pc:sldChg>
      <pc:sldChg chg="del">
        <pc:chgData name="Hao He" userId="566a5fee-3a01-4c2c-ae39-89ea6daa5f88" providerId="ADAL" clId="{C7204A7F-2326-4EA8-8E25-414BC0B7A123}" dt="2026-09-13T18:46:58.216" v="1162" actId="47"/>
        <pc:sldMkLst>
          <pc:docMk/>
          <pc:sldMk cId="762547983" sldId="322"/>
        </pc:sldMkLst>
      </pc:sldChg>
      <pc:sldChg chg="del">
        <pc:chgData name="Hao He" userId="566a5fee-3a01-4c2c-ae39-89ea6daa5f88" providerId="ADAL" clId="{C7204A7F-2326-4EA8-8E25-414BC0B7A123}" dt="2026-09-13T18:46:57.621" v="1161" actId="47"/>
        <pc:sldMkLst>
          <pc:docMk/>
          <pc:sldMk cId="1704959172" sldId="323"/>
        </pc:sldMkLst>
      </pc:sldChg>
      <pc:sldChg chg="del">
        <pc:chgData name="Hao He" userId="566a5fee-3a01-4c2c-ae39-89ea6daa5f88" providerId="ADAL" clId="{C7204A7F-2326-4EA8-8E25-414BC0B7A123}" dt="2026-09-13T18:46:56.846" v="1160" actId="47"/>
        <pc:sldMkLst>
          <pc:docMk/>
          <pc:sldMk cId="966120556" sldId="324"/>
        </pc:sldMkLst>
      </pc:sldChg>
      <pc:sldChg chg="del">
        <pc:chgData name="Hao He" userId="566a5fee-3a01-4c2c-ae39-89ea6daa5f88" providerId="ADAL" clId="{C7204A7F-2326-4EA8-8E25-414BC0B7A123}" dt="2026-09-13T18:46:50.735" v="1156" actId="47"/>
        <pc:sldMkLst>
          <pc:docMk/>
          <pc:sldMk cId="546705867" sldId="325"/>
        </pc:sldMkLst>
      </pc:sldChg>
      <pc:sldChg chg="del">
        <pc:chgData name="Hao He" userId="566a5fee-3a01-4c2c-ae39-89ea6daa5f88" providerId="ADAL" clId="{C7204A7F-2326-4EA8-8E25-414BC0B7A123}" dt="2026-09-13T18:46:52.202" v="1157" actId="47"/>
        <pc:sldMkLst>
          <pc:docMk/>
          <pc:sldMk cId="1783706909" sldId="327"/>
        </pc:sldMkLst>
      </pc:sldChg>
      <pc:sldChg chg="del">
        <pc:chgData name="Hao He" userId="566a5fee-3a01-4c2c-ae39-89ea6daa5f88" providerId="ADAL" clId="{C7204A7F-2326-4EA8-8E25-414BC0B7A123}" dt="2026-09-13T18:46:45.628" v="1154" actId="47"/>
        <pc:sldMkLst>
          <pc:docMk/>
          <pc:sldMk cId="4277171034" sldId="328"/>
        </pc:sldMkLst>
      </pc:sldChg>
      <pc:sldChg chg="del">
        <pc:chgData name="Hao He" userId="566a5fee-3a01-4c2c-ae39-89ea6daa5f88" providerId="ADAL" clId="{C7204A7F-2326-4EA8-8E25-414BC0B7A123}" dt="2026-09-13T18:47:01.832" v="1167" actId="47"/>
        <pc:sldMkLst>
          <pc:docMk/>
          <pc:sldMk cId="161607488" sldId="329"/>
        </pc:sldMkLst>
      </pc:sldChg>
      <pc:sldChg chg="del">
        <pc:chgData name="Hao He" userId="566a5fee-3a01-4c2c-ae39-89ea6daa5f88" providerId="ADAL" clId="{C7204A7F-2326-4EA8-8E25-414BC0B7A123}" dt="2026-09-13T18:47:00.363" v="1165" actId="47"/>
        <pc:sldMkLst>
          <pc:docMk/>
          <pc:sldMk cId="2076733485" sldId="330"/>
        </pc:sldMkLst>
      </pc:sldChg>
      <pc:sldChg chg="modSp mod ord modShow">
        <pc:chgData name="Hao He" userId="566a5fee-3a01-4c2c-ae39-89ea6daa5f88" providerId="ADAL" clId="{C7204A7F-2326-4EA8-8E25-414BC0B7A123}" dt="2026-09-13T18:40:23.805" v="684" actId="20577"/>
        <pc:sldMkLst>
          <pc:docMk/>
          <pc:sldMk cId="2381455759" sldId="331"/>
        </pc:sldMkLst>
        <pc:spChg chg="mod">
          <ac:chgData name="Hao He" userId="566a5fee-3a01-4c2c-ae39-89ea6daa5f88" providerId="ADAL" clId="{C7204A7F-2326-4EA8-8E25-414BC0B7A123}" dt="2026-09-13T18:40:23.805" v="684" actId="20577"/>
          <ac:spMkLst>
            <pc:docMk/>
            <pc:sldMk cId="2381455759" sldId="331"/>
            <ac:spMk id="3" creationId="{6B96CAE7-9F7E-23F0-D89B-1D834216776E}"/>
          </ac:spMkLst>
        </pc:spChg>
      </pc:sldChg>
      <pc:sldChg chg="mod ord modShow">
        <pc:chgData name="Hao He" userId="566a5fee-3a01-4c2c-ae39-89ea6daa5f88" providerId="ADAL" clId="{C7204A7F-2326-4EA8-8E25-414BC0B7A123}" dt="2026-09-13T18:39:59.344" v="680"/>
        <pc:sldMkLst>
          <pc:docMk/>
          <pc:sldMk cId="2909985666" sldId="332"/>
        </pc:sldMkLst>
      </pc:sldChg>
      <pc:sldChg chg="del">
        <pc:chgData name="Hao He" userId="566a5fee-3a01-4c2c-ae39-89ea6daa5f88" providerId="ADAL" clId="{C7204A7F-2326-4EA8-8E25-414BC0B7A123}" dt="2026-09-13T18:47:01.086" v="1166" actId="47"/>
        <pc:sldMkLst>
          <pc:docMk/>
          <pc:sldMk cId="2822743288" sldId="334"/>
        </pc:sldMkLst>
      </pc:sldChg>
      <pc:sldChg chg="del">
        <pc:chgData name="Hao He" userId="566a5fee-3a01-4c2c-ae39-89ea6daa5f88" providerId="ADAL" clId="{C7204A7F-2326-4EA8-8E25-414BC0B7A123}" dt="2026-09-13T18:46:48.286" v="1155" actId="47"/>
        <pc:sldMkLst>
          <pc:docMk/>
          <pc:sldMk cId="142757376" sldId="335"/>
        </pc:sldMkLst>
      </pc:sldChg>
      <pc:sldChg chg="modSp">
        <pc:chgData name="Hao He" userId="566a5fee-3a01-4c2c-ae39-89ea6daa5f88" providerId="ADAL" clId="{C7204A7F-2326-4EA8-8E25-414BC0B7A123}" dt="2026-09-13T17:40:04.409" v="23"/>
        <pc:sldMkLst>
          <pc:docMk/>
          <pc:sldMk cId="231140887" sldId="337"/>
        </pc:sldMkLst>
        <pc:spChg chg="mod">
          <ac:chgData name="Hao He" userId="566a5fee-3a01-4c2c-ae39-89ea6daa5f88" providerId="ADAL" clId="{C7204A7F-2326-4EA8-8E25-414BC0B7A123}" dt="2026-09-13T17:40:04.409" v="23"/>
          <ac:spMkLst>
            <pc:docMk/>
            <pc:sldMk cId="231140887" sldId="337"/>
            <ac:spMk id="4" creationId="{DD6E8496-23C9-D5E9-3AC3-44F6DC9806FD}"/>
          </ac:spMkLst>
        </pc:spChg>
      </pc:sldChg>
      <pc:sldChg chg="del">
        <pc:chgData name="Hao He" userId="566a5fee-3a01-4c2c-ae39-89ea6daa5f88" providerId="ADAL" clId="{C7204A7F-2326-4EA8-8E25-414BC0B7A123}" dt="2026-09-13T17:42:10.447" v="25" actId="2696"/>
        <pc:sldMkLst>
          <pc:docMk/>
          <pc:sldMk cId="2058601401" sldId="339"/>
        </pc:sldMkLst>
      </pc:sldChg>
      <pc:sldChg chg="add del">
        <pc:chgData name="Hao He" userId="566a5fee-3a01-4c2c-ae39-89ea6daa5f88" providerId="ADAL" clId="{C7204A7F-2326-4EA8-8E25-414BC0B7A123}" dt="2026-09-13T17:43:48.787" v="26"/>
        <pc:sldMkLst>
          <pc:docMk/>
          <pc:sldMk cId="27402281" sldId="340"/>
        </pc:sldMkLst>
      </pc:sldChg>
      <pc:sldChg chg="modSp mod ord">
        <pc:chgData name="Hao He" userId="566a5fee-3a01-4c2c-ae39-89ea6daa5f88" providerId="ADAL" clId="{C7204A7F-2326-4EA8-8E25-414BC0B7A123}" dt="2026-09-13T18:42:18.977" v="728"/>
        <pc:sldMkLst>
          <pc:docMk/>
          <pc:sldMk cId="1633958688" sldId="342"/>
        </pc:sldMkLst>
        <pc:spChg chg="mod">
          <ac:chgData name="Hao He" userId="566a5fee-3a01-4c2c-ae39-89ea6daa5f88" providerId="ADAL" clId="{C7204A7F-2326-4EA8-8E25-414BC0B7A123}" dt="2026-09-13T18:25:35.375" v="302" actId="1076"/>
          <ac:spMkLst>
            <pc:docMk/>
            <pc:sldMk cId="1633958688" sldId="342"/>
            <ac:spMk id="6" creationId="{558C73C7-2131-808B-5B88-F50B3EFFF2D2}"/>
          </ac:spMkLst>
        </pc:spChg>
        <pc:spChg chg="mod">
          <ac:chgData name="Hao He" userId="566a5fee-3a01-4c2c-ae39-89ea6daa5f88" providerId="ADAL" clId="{C7204A7F-2326-4EA8-8E25-414BC0B7A123}" dt="2026-09-13T18:31:44.859" v="561" actId="20577"/>
          <ac:spMkLst>
            <pc:docMk/>
            <pc:sldMk cId="1633958688" sldId="342"/>
            <ac:spMk id="7" creationId="{FB227BF8-964B-2FF2-335F-C80992ADFEC9}"/>
          </ac:spMkLst>
        </pc:spChg>
      </pc:sldChg>
      <pc:sldChg chg="del">
        <pc:chgData name="Hao He" userId="566a5fee-3a01-4c2c-ae39-89ea6daa5f88" providerId="ADAL" clId="{C7204A7F-2326-4EA8-8E25-414BC0B7A123}" dt="2026-09-13T18:47:02.435" v="1168" actId="47"/>
        <pc:sldMkLst>
          <pc:docMk/>
          <pc:sldMk cId="2864647328" sldId="346"/>
        </pc:sldMkLst>
      </pc:sldChg>
      <pc:sldChg chg="del">
        <pc:chgData name="Hao He" userId="566a5fee-3a01-4c2c-ae39-89ea6daa5f88" providerId="ADAL" clId="{C7204A7F-2326-4EA8-8E25-414BC0B7A123}" dt="2026-09-13T18:46:59.454" v="1164" actId="47"/>
        <pc:sldMkLst>
          <pc:docMk/>
          <pc:sldMk cId="2188113165" sldId="349"/>
        </pc:sldMkLst>
      </pc:sldChg>
      <pc:sldChg chg="modSp">
        <pc:chgData name="Hao He" userId="566a5fee-3a01-4c2c-ae39-89ea6daa5f88" providerId="ADAL" clId="{C7204A7F-2326-4EA8-8E25-414BC0B7A123}" dt="2026-09-13T19:09:13.767" v="1322"/>
        <pc:sldMkLst>
          <pc:docMk/>
          <pc:sldMk cId="112783990" sldId="350"/>
        </pc:sldMkLst>
        <pc:spChg chg="mod">
          <ac:chgData name="Hao He" userId="566a5fee-3a01-4c2c-ae39-89ea6daa5f88" providerId="ADAL" clId="{C7204A7F-2326-4EA8-8E25-414BC0B7A123}" dt="2026-09-13T19:09:13.767" v="1322"/>
          <ac:spMkLst>
            <pc:docMk/>
            <pc:sldMk cId="112783990" sldId="350"/>
            <ac:spMk id="2" creationId="{A421B4CB-E55B-31D2-AC7C-C533BD3FC895}"/>
          </ac:spMkLst>
        </pc:spChg>
      </pc:sldChg>
      <pc:sldChg chg="del">
        <pc:chgData name="Hao He" userId="566a5fee-3a01-4c2c-ae39-89ea6daa5f88" providerId="ADAL" clId="{C7204A7F-2326-4EA8-8E25-414BC0B7A123}" dt="2026-09-13T17:54:55.104" v="131" actId="47"/>
        <pc:sldMkLst>
          <pc:docMk/>
          <pc:sldMk cId="1103542059" sldId="359"/>
        </pc:sldMkLst>
      </pc:sldChg>
      <pc:sldChg chg="addSp delSp modSp mod ord">
        <pc:chgData name="Hao He" userId="566a5fee-3a01-4c2c-ae39-89ea6daa5f88" providerId="ADAL" clId="{C7204A7F-2326-4EA8-8E25-414BC0B7A123}" dt="2026-09-13T18:38:42.597" v="673"/>
        <pc:sldMkLst>
          <pc:docMk/>
          <pc:sldMk cId="2897126603" sldId="360"/>
        </pc:sldMkLst>
        <pc:spChg chg="add mod">
          <ac:chgData name="Hao He" userId="566a5fee-3a01-4c2c-ae39-89ea6daa5f88" providerId="ADAL" clId="{C7204A7F-2326-4EA8-8E25-414BC0B7A123}" dt="2026-09-13T17:52:49.824" v="127" actId="113"/>
          <ac:spMkLst>
            <pc:docMk/>
            <pc:sldMk cId="2897126603" sldId="360"/>
            <ac:spMk id="11" creationId="{14D9E5AC-E6DD-6F28-7DEF-A2778D510C4B}"/>
          </ac:spMkLst>
        </pc:spChg>
        <pc:picChg chg="add del mod">
          <ac:chgData name="Hao He" userId="566a5fee-3a01-4c2c-ae39-89ea6daa5f88" providerId="ADAL" clId="{C7204A7F-2326-4EA8-8E25-414BC0B7A123}" dt="2026-09-13T17:51:36.504" v="102" actId="478"/>
          <ac:picMkLst>
            <pc:docMk/>
            <pc:sldMk cId="2897126603" sldId="360"/>
            <ac:picMk id="6" creationId="{9F1D0932-FBE3-2C6E-DCB4-F8DA5B0C21F2}"/>
          </ac:picMkLst>
        </pc:picChg>
        <pc:picChg chg="add mod">
          <ac:chgData name="Hao He" userId="566a5fee-3a01-4c2c-ae39-89ea6daa5f88" providerId="ADAL" clId="{C7204A7F-2326-4EA8-8E25-414BC0B7A123}" dt="2026-09-13T17:52:44.130" v="125" actId="1076"/>
          <ac:picMkLst>
            <pc:docMk/>
            <pc:sldMk cId="2897126603" sldId="360"/>
            <ac:picMk id="8" creationId="{44F3E5FF-AC9D-C437-A938-BCCD97A924FE}"/>
          </ac:picMkLst>
        </pc:picChg>
        <pc:picChg chg="del">
          <ac:chgData name="Hao He" userId="566a5fee-3a01-4c2c-ae39-89ea6daa5f88" providerId="ADAL" clId="{C7204A7F-2326-4EA8-8E25-414BC0B7A123}" dt="2026-09-13T17:50:39.638" v="98" actId="478"/>
          <ac:picMkLst>
            <pc:docMk/>
            <pc:sldMk cId="2897126603" sldId="360"/>
            <ac:picMk id="9" creationId="{64ABE382-2285-1D33-F2C6-BD3414EA3F00}"/>
          </ac:picMkLst>
        </pc:picChg>
      </pc:sldChg>
      <pc:sldChg chg="mod ord modShow">
        <pc:chgData name="Hao He" userId="566a5fee-3a01-4c2c-ae39-89ea6daa5f88" providerId="ADAL" clId="{C7204A7F-2326-4EA8-8E25-414BC0B7A123}" dt="2026-09-13T18:38:55.412" v="676" actId="34476"/>
        <pc:sldMkLst>
          <pc:docMk/>
          <pc:sldMk cId="401995667" sldId="361"/>
        </pc:sldMkLst>
      </pc:sldChg>
      <pc:sldChg chg="ord">
        <pc:chgData name="Hao He" userId="566a5fee-3a01-4c2c-ae39-89ea6daa5f88" providerId="ADAL" clId="{C7204A7F-2326-4EA8-8E25-414BC0B7A123}" dt="2026-09-13T18:37:54.945" v="653"/>
        <pc:sldMkLst>
          <pc:docMk/>
          <pc:sldMk cId="3812095243" sldId="363"/>
        </pc:sldMkLst>
      </pc:sldChg>
      <pc:sldChg chg="ord">
        <pc:chgData name="Hao He" userId="566a5fee-3a01-4c2c-ae39-89ea6daa5f88" providerId="ADAL" clId="{C7204A7F-2326-4EA8-8E25-414BC0B7A123}" dt="2026-09-13T18:38:01.364" v="655"/>
        <pc:sldMkLst>
          <pc:docMk/>
          <pc:sldMk cId="2779981135" sldId="364"/>
        </pc:sldMkLst>
      </pc:sldChg>
      <pc:sldChg chg="add del ord">
        <pc:chgData name="Hao He" userId="566a5fee-3a01-4c2c-ae39-89ea6daa5f88" providerId="ADAL" clId="{C7204A7F-2326-4EA8-8E25-414BC0B7A123}" dt="2026-09-13T18:46:22.538" v="1153"/>
        <pc:sldMkLst>
          <pc:docMk/>
          <pc:sldMk cId="2332201327" sldId="365"/>
        </pc:sldMkLst>
      </pc:sldChg>
      <pc:sldChg chg="del">
        <pc:chgData name="Hao He" userId="566a5fee-3a01-4c2c-ae39-89ea6daa5f88" providerId="ADAL" clId="{C7204A7F-2326-4EA8-8E25-414BC0B7A123}" dt="2026-09-13T18:46:55.623" v="1159" actId="47"/>
        <pc:sldMkLst>
          <pc:docMk/>
          <pc:sldMk cId="2262778858" sldId="366"/>
        </pc:sldMkLst>
      </pc:sldChg>
      <pc:sldChg chg="del">
        <pc:chgData name="Hao He" userId="566a5fee-3a01-4c2c-ae39-89ea6daa5f88" providerId="ADAL" clId="{C7204A7F-2326-4EA8-8E25-414BC0B7A123}" dt="2026-09-13T18:46:53.953" v="1158" actId="47"/>
        <pc:sldMkLst>
          <pc:docMk/>
          <pc:sldMk cId="3103939190" sldId="367"/>
        </pc:sldMkLst>
      </pc:sldChg>
      <pc:sldChg chg="modSp new del mod">
        <pc:chgData name="Hao He" userId="566a5fee-3a01-4c2c-ae39-89ea6daa5f88" providerId="ADAL" clId="{C7204A7F-2326-4EA8-8E25-414BC0B7A123}" dt="2026-09-13T18:40:56.226" v="685" actId="47"/>
        <pc:sldMkLst>
          <pc:docMk/>
          <pc:sldMk cId="911433066" sldId="368"/>
        </pc:sldMkLst>
        <pc:spChg chg="mod">
          <ac:chgData name="Hao He" userId="566a5fee-3a01-4c2c-ae39-89ea6daa5f88" providerId="ADAL" clId="{C7204A7F-2326-4EA8-8E25-414BC0B7A123}" dt="2026-09-13T18:34:11.496" v="650" actId="20577"/>
          <ac:spMkLst>
            <pc:docMk/>
            <pc:sldMk cId="911433066" sldId="368"/>
            <ac:spMk id="2" creationId="{F6133DC6-B93D-836A-73C2-CE375A4A2D29}"/>
          </ac:spMkLst>
        </pc:spChg>
      </pc:sldChg>
      <pc:sldChg chg="modSp new del mod">
        <pc:chgData name="Hao He" userId="566a5fee-3a01-4c2c-ae39-89ea6daa5f88" providerId="ADAL" clId="{C7204A7F-2326-4EA8-8E25-414BC0B7A123}" dt="2026-09-13T18:42:00.618" v="726" actId="47"/>
        <pc:sldMkLst>
          <pc:docMk/>
          <pc:sldMk cId="1873527934" sldId="368"/>
        </pc:sldMkLst>
        <pc:spChg chg="mod">
          <ac:chgData name="Hao He" userId="566a5fee-3a01-4c2c-ae39-89ea6daa5f88" providerId="ADAL" clId="{C7204A7F-2326-4EA8-8E25-414BC0B7A123}" dt="2026-09-13T18:41:58.969" v="725" actId="20577"/>
          <ac:spMkLst>
            <pc:docMk/>
            <pc:sldMk cId="1873527934" sldId="368"/>
            <ac:spMk id="2" creationId="{36CA4E9F-E771-1C11-4053-875476001F33}"/>
          </ac:spMkLst>
        </pc:spChg>
      </pc:sldChg>
      <pc:sldChg chg="addSp delSp modSp add del mod">
        <pc:chgData name="Hao He" userId="566a5fee-3a01-4c2c-ae39-89ea6daa5f88" providerId="ADAL" clId="{C7204A7F-2326-4EA8-8E25-414BC0B7A123}" dt="2026-09-13T18:44:44.019" v="971" actId="47"/>
        <pc:sldMkLst>
          <pc:docMk/>
          <pc:sldMk cId="3169080919" sldId="368"/>
        </pc:sldMkLst>
        <pc:spChg chg="mod">
          <ac:chgData name="Hao He" userId="566a5fee-3a01-4c2c-ae39-89ea6daa5f88" providerId="ADAL" clId="{C7204A7F-2326-4EA8-8E25-414BC0B7A123}" dt="2026-09-13T18:43:34.963" v="833" actId="20577"/>
          <ac:spMkLst>
            <pc:docMk/>
            <pc:sldMk cId="3169080919" sldId="368"/>
            <ac:spMk id="2" creationId="{78BCC618-266B-948C-5482-5C8A30354EAD}"/>
          </ac:spMkLst>
        </pc:spChg>
        <pc:spChg chg="del">
          <ac:chgData name="Hao He" userId="566a5fee-3a01-4c2c-ae39-89ea6daa5f88" providerId="ADAL" clId="{C7204A7F-2326-4EA8-8E25-414BC0B7A123}" dt="2026-09-13T18:42:51.151" v="731" actId="478"/>
          <ac:spMkLst>
            <pc:docMk/>
            <pc:sldMk cId="3169080919" sldId="368"/>
            <ac:spMk id="3" creationId="{2695C557-387E-15FF-E292-A1A2EC94962D}"/>
          </ac:spMkLst>
        </pc:spChg>
        <pc:spChg chg="del">
          <ac:chgData name="Hao He" userId="566a5fee-3a01-4c2c-ae39-89ea6daa5f88" providerId="ADAL" clId="{C7204A7F-2326-4EA8-8E25-414BC0B7A123}" dt="2026-09-13T18:42:49.070" v="730" actId="478"/>
          <ac:spMkLst>
            <pc:docMk/>
            <pc:sldMk cId="3169080919" sldId="368"/>
            <ac:spMk id="5" creationId="{45EF5FB1-59E3-AD16-3E54-41472410D217}"/>
          </ac:spMkLst>
        </pc:spChg>
        <pc:spChg chg="add del mod">
          <ac:chgData name="Hao He" userId="566a5fee-3a01-4c2c-ae39-89ea6daa5f88" providerId="ADAL" clId="{C7204A7F-2326-4EA8-8E25-414BC0B7A123}" dt="2026-09-13T18:42:55.640" v="732" actId="478"/>
          <ac:spMkLst>
            <pc:docMk/>
            <pc:sldMk cId="3169080919" sldId="368"/>
            <ac:spMk id="8" creationId="{5BDDF3F5-1291-5470-C624-4896144A3299}"/>
          </ac:spMkLst>
        </pc:spChg>
      </pc:sldChg>
      <pc:sldChg chg="new del">
        <pc:chgData name="Hao He" userId="566a5fee-3a01-4c2c-ae39-89ea6daa5f88" providerId="ADAL" clId="{C7204A7F-2326-4EA8-8E25-414BC0B7A123}" dt="2026-09-13T18:32:40.287" v="565" actId="47"/>
        <pc:sldMkLst>
          <pc:docMk/>
          <pc:sldMk cId="707411880" sldId="369"/>
        </pc:sldMkLst>
      </pc:sldChg>
      <pc:sldChg chg="modSp add mod">
        <pc:chgData name="Hao He" userId="566a5fee-3a01-4c2c-ae39-89ea6daa5f88" providerId="ADAL" clId="{C7204A7F-2326-4EA8-8E25-414BC0B7A123}" dt="2026-09-13T18:44:40.981" v="970" actId="14100"/>
        <pc:sldMkLst>
          <pc:docMk/>
          <pc:sldMk cId="1045461495" sldId="369"/>
        </pc:sldMkLst>
        <pc:spChg chg="mod">
          <ac:chgData name="Hao He" userId="566a5fee-3a01-4c2c-ae39-89ea6daa5f88" providerId="ADAL" clId="{C7204A7F-2326-4EA8-8E25-414BC0B7A123}" dt="2026-09-13T18:44:15.075" v="963" actId="14100"/>
          <ac:spMkLst>
            <pc:docMk/>
            <pc:sldMk cId="1045461495" sldId="369"/>
            <ac:spMk id="2" creationId="{E474F900-038A-DEBF-A14E-0DBD0C44D1A3}"/>
          </ac:spMkLst>
        </pc:spChg>
        <pc:spChg chg="mod">
          <ac:chgData name="Hao He" userId="566a5fee-3a01-4c2c-ae39-89ea6daa5f88" providerId="ADAL" clId="{C7204A7F-2326-4EA8-8E25-414BC0B7A123}" dt="2026-09-13T18:44:40.981" v="970" actId="14100"/>
          <ac:spMkLst>
            <pc:docMk/>
            <pc:sldMk cId="1045461495" sldId="369"/>
            <ac:spMk id="3" creationId="{CAE3AFF9-D0C8-13EF-3A97-9D0D7FF7C79A}"/>
          </ac:spMkLst>
        </pc:spChg>
        <pc:spChg chg="mod">
          <ac:chgData name="Hao He" userId="566a5fee-3a01-4c2c-ae39-89ea6daa5f88" providerId="ADAL" clId="{C7204A7F-2326-4EA8-8E25-414BC0B7A123}" dt="2026-09-13T18:43:55.238" v="865" actId="20577"/>
          <ac:spMkLst>
            <pc:docMk/>
            <pc:sldMk cId="1045461495" sldId="369"/>
            <ac:spMk id="5" creationId="{749DC973-6C09-C900-1EA3-1B5974817C7E}"/>
          </ac:spMkLst>
        </pc:spChg>
      </pc:sldChg>
      <pc:sldChg chg="modSp add mod ord">
        <pc:chgData name="Hao He" userId="566a5fee-3a01-4c2c-ae39-89ea6daa5f88" providerId="ADAL" clId="{C7204A7F-2326-4EA8-8E25-414BC0B7A123}" dt="2026-09-13T18:48:54.918" v="1238" actId="14100"/>
        <pc:sldMkLst>
          <pc:docMk/>
          <pc:sldMk cId="626057953" sldId="370"/>
        </pc:sldMkLst>
        <pc:spChg chg="mod">
          <ac:chgData name="Hao He" userId="566a5fee-3a01-4c2c-ae39-89ea6daa5f88" providerId="ADAL" clId="{C7204A7F-2326-4EA8-8E25-414BC0B7A123}" dt="2026-09-13T18:48:14.466" v="1217" actId="20577"/>
          <ac:spMkLst>
            <pc:docMk/>
            <pc:sldMk cId="626057953" sldId="370"/>
            <ac:spMk id="2" creationId="{97AC9098-B630-7A59-7EC2-8096C1552531}"/>
          </ac:spMkLst>
        </pc:spChg>
        <pc:spChg chg="mod">
          <ac:chgData name="Hao He" userId="566a5fee-3a01-4c2c-ae39-89ea6daa5f88" providerId="ADAL" clId="{C7204A7F-2326-4EA8-8E25-414BC0B7A123}" dt="2026-09-13T18:48:54.918" v="1238" actId="14100"/>
          <ac:spMkLst>
            <pc:docMk/>
            <pc:sldMk cId="626057953" sldId="370"/>
            <ac:spMk id="3" creationId="{3E6C50F4-DB61-FD2E-F43D-BC7FBFB5892E}"/>
          </ac:spMkLst>
        </pc:spChg>
        <pc:spChg chg="mod">
          <ac:chgData name="Hao He" userId="566a5fee-3a01-4c2c-ae39-89ea6daa5f88" providerId="ADAL" clId="{C7204A7F-2326-4EA8-8E25-414BC0B7A123}" dt="2026-09-13T18:47:51.139" v="1174" actId="20577"/>
          <ac:spMkLst>
            <pc:docMk/>
            <pc:sldMk cId="626057953" sldId="370"/>
            <ac:spMk id="5" creationId="{771D21A0-B948-1FCA-E0FB-27CC5757EA46}"/>
          </ac:spMkLst>
        </pc:spChg>
      </pc:sldChg>
      <pc:sldChg chg="addSp delSp modSp add del mod modShow">
        <pc:chgData name="Hao He" userId="566a5fee-3a01-4c2c-ae39-89ea6daa5f88" providerId="ADAL" clId="{C7204A7F-2326-4EA8-8E25-414BC0B7A123}" dt="2026-09-13T18:33:53" v="618" actId="47"/>
        <pc:sldMkLst>
          <pc:docMk/>
          <pc:sldMk cId="823938727" sldId="370"/>
        </pc:sldMkLst>
        <pc:spChg chg="mod">
          <ac:chgData name="Hao He" userId="566a5fee-3a01-4c2c-ae39-89ea6daa5f88" providerId="ADAL" clId="{C7204A7F-2326-4EA8-8E25-414BC0B7A123}" dt="2026-09-13T18:33:44.936" v="614" actId="20577"/>
          <ac:spMkLst>
            <pc:docMk/>
            <pc:sldMk cId="823938727" sldId="370"/>
            <ac:spMk id="2" creationId="{F4B942EA-C496-B797-C45D-7A28A0021A4C}"/>
          </ac:spMkLst>
        </pc:spChg>
        <pc:spChg chg="del">
          <ac:chgData name="Hao He" userId="566a5fee-3a01-4c2c-ae39-89ea6daa5f88" providerId="ADAL" clId="{C7204A7F-2326-4EA8-8E25-414BC0B7A123}" dt="2026-09-13T18:33:04.290" v="585" actId="478"/>
          <ac:spMkLst>
            <pc:docMk/>
            <pc:sldMk cId="823938727" sldId="370"/>
            <ac:spMk id="3" creationId="{9E903A68-CAC1-5275-5B70-A76C039402AB}"/>
          </ac:spMkLst>
        </pc:spChg>
        <pc:spChg chg="del mod">
          <ac:chgData name="Hao He" userId="566a5fee-3a01-4c2c-ae39-89ea6daa5f88" providerId="ADAL" clId="{C7204A7F-2326-4EA8-8E25-414BC0B7A123}" dt="2026-09-13T18:33:10.951" v="587" actId="478"/>
          <ac:spMkLst>
            <pc:docMk/>
            <pc:sldMk cId="823938727" sldId="370"/>
            <ac:spMk id="5" creationId="{5D785027-B21A-7F69-B57F-13CF96B339BC}"/>
          </ac:spMkLst>
        </pc:spChg>
        <pc:spChg chg="add del mod">
          <ac:chgData name="Hao He" userId="566a5fee-3a01-4c2c-ae39-89ea6daa5f88" providerId="ADAL" clId="{C7204A7F-2326-4EA8-8E25-414BC0B7A123}" dt="2026-09-13T18:33:06.173" v="586" actId="478"/>
          <ac:spMkLst>
            <pc:docMk/>
            <pc:sldMk cId="823938727" sldId="370"/>
            <ac:spMk id="8" creationId="{C7B23638-08F6-B5A5-D289-B61412493E5C}"/>
          </ac:spMkLst>
        </pc:spChg>
      </pc:sldChg>
      <pc:sldChg chg="modSp new del mod">
        <pc:chgData name="Hao He" userId="566a5fee-3a01-4c2c-ae39-89ea6daa5f88" providerId="ADAL" clId="{C7204A7F-2326-4EA8-8E25-414BC0B7A123}" dt="2026-09-13T18:46:06.790" v="1151" actId="47"/>
        <pc:sldMkLst>
          <pc:docMk/>
          <pc:sldMk cId="1443085939" sldId="370"/>
        </pc:sldMkLst>
        <pc:spChg chg="mod">
          <ac:chgData name="Hao He" userId="566a5fee-3a01-4c2c-ae39-89ea6daa5f88" providerId="ADAL" clId="{C7204A7F-2326-4EA8-8E25-414BC0B7A123}" dt="2026-09-13T18:45:54.042" v="1150" actId="20577"/>
          <ac:spMkLst>
            <pc:docMk/>
            <pc:sldMk cId="1443085939" sldId="370"/>
            <ac:spMk id="2" creationId="{4BE9372F-5FAA-D38B-D04E-0A120B9628C9}"/>
          </ac:spMkLst>
        </pc:spChg>
      </pc:sldChg>
      <pc:sldChg chg="modSp add mod ord">
        <pc:chgData name="Hao He" userId="566a5fee-3a01-4c2c-ae39-89ea6daa5f88" providerId="ADAL" clId="{C7204A7F-2326-4EA8-8E25-414BC0B7A123}" dt="2026-09-13T18:50:07.351" v="1287" actId="113"/>
        <pc:sldMkLst>
          <pc:docMk/>
          <pc:sldMk cId="195935261" sldId="371"/>
        </pc:sldMkLst>
        <pc:spChg chg="mod">
          <ac:chgData name="Hao He" userId="566a5fee-3a01-4c2c-ae39-89ea6daa5f88" providerId="ADAL" clId="{C7204A7F-2326-4EA8-8E25-414BC0B7A123}" dt="2026-09-13T18:49:33.114" v="1277" actId="20577"/>
          <ac:spMkLst>
            <pc:docMk/>
            <pc:sldMk cId="195935261" sldId="371"/>
            <ac:spMk id="2" creationId="{5E400B14-5EC4-393C-8B4B-A7123613B402}"/>
          </ac:spMkLst>
        </pc:spChg>
        <pc:spChg chg="mod">
          <ac:chgData name="Hao He" userId="566a5fee-3a01-4c2c-ae39-89ea6daa5f88" providerId="ADAL" clId="{C7204A7F-2326-4EA8-8E25-414BC0B7A123}" dt="2026-09-13T18:50:07.351" v="1287" actId="113"/>
          <ac:spMkLst>
            <pc:docMk/>
            <pc:sldMk cId="195935261" sldId="371"/>
            <ac:spMk id="3" creationId="{2035DD2F-15E8-F370-7E11-E3B1AE6FA037}"/>
          </ac:spMkLst>
        </pc:spChg>
        <pc:spChg chg="mod">
          <ac:chgData name="Hao He" userId="566a5fee-3a01-4c2c-ae39-89ea6daa5f88" providerId="ADAL" clId="{C7204A7F-2326-4EA8-8E25-414BC0B7A123}" dt="2026-09-13T18:49:11.596" v="1242" actId="20577"/>
          <ac:spMkLst>
            <pc:docMk/>
            <pc:sldMk cId="195935261" sldId="371"/>
            <ac:spMk id="5" creationId="{722486D3-6A7F-61F2-4F5C-CFF84B7CC4B3}"/>
          </ac:spMkLst>
        </pc:spChg>
      </pc:sldChg>
      <pc:sldChg chg="new del">
        <pc:chgData name="Hao He" userId="566a5fee-3a01-4c2c-ae39-89ea6daa5f88" providerId="ADAL" clId="{C7204A7F-2326-4EA8-8E25-414BC0B7A123}" dt="2026-09-13T18:32:58.573" v="574" actId="680"/>
        <pc:sldMkLst>
          <pc:docMk/>
          <pc:sldMk cId="626166080" sldId="371"/>
        </pc:sldMkLst>
      </pc:sldChg>
      <pc:sldChg chg="add del ord">
        <pc:chgData name="Hao He" userId="566a5fee-3a01-4c2c-ae39-89ea6daa5f88" providerId="ADAL" clId="{C7204A7F-2326-4EA8-8E25-414BC0B7A123}" dt="2026-09-13T18:37:06.850" v="651" actId="47"/>
        <pc:sldMkLst>
          <pc:docMk/>
          <pc:sldMk cId="2494720092" sldId="371"/>
        </pc:sldMkLst>
      </pc:sldChg>
      <pc:sldChg chg="new del">
        <pc:chgData name="Hao He" userId="566a5fee-3a01-4c2c-ae39-89ea6daa5f88" providerId="ADAL" clId="{C7204A7F-2326-4EA8-8E25-414BC0B7A123}" dt="2026-09-13T18:50:39.395" v="1313" actId="47"/>
        <pc:sldMkLst>
          <pc:docMk/>
          <pc:sldMk cId="1023363192" sldId="372"/>
        </pc:sldMkLst>
      </pc:sldChg>
      <pc:sldChg chg="new del">
        <pc:chgData name="Hao He" userId="566a5fee-3a01-4c2c-ae39-89ea6daa5f88" providerId="ADAL" clId="{C7204A7F-2326-4EA8-8E25-414BC0B7A123}" dt="2026-09-13T18:51:00.591" v="1317" actId="47"/>
        <pc:sldMkLst>
          <pc:docMk/>
          <pc:sldMk cId="3142797849" sldId="372"/>
        </pc:sldMkLst>
      </pc:sldChg>
      <pc:sldChg chg="add">
        <pc:chgData name="Hao He" userId="566a5fee-3a01-4c2c-ae39-89ea6daa5f88" providerId="ADAL" clId="{C7204A7F-2326-4EA8-8E25-414BC0B7A123}" dt="2026-09-13T18:50:59.179" v="1316"/>
        <pc:sldMkLst>
          <pc:docMk/>
          <pc:sldMk cId="881223448" sldId="373"/>
        </pc:sldMkLst>
      </pc:sldChg>
      <pc:sldChg chg="modSp add del mod ord">
        <pc:chgData name="Hao He" userId="566a5fee-3a01-4c2c-ae39-89ea6daa5f88" providerId="ADAL" clId="{C7204A7F-2326-4EA8-8E25-414BC0B7A123}" dt="2026-09-13T18:50:37.088" v="1312" actId="47"/>
        <pc:sldMkLst>
          <pc:docMk/>
          <pc:sldMk cId="1808583122" sldId="373"/>
        </pc:sldMkLst>
        <pc:spChg chg="mod">
          <ac:chgData name="Hao He" userId="566a5fee-3a01-4c2c-ae39-89ea6daa5f88" providerId="ADAL" clId="{C7204A7F-2326-4EA8-8E25-414BC0B7A123}" dt="2026-09-13T18:50:27.967" v="1311" actId="20577"/>
          <ac:spMkLst>
            <pc:docMk/>
            <pc:sldMk cId="1808583122" sldId="373"/>
            <ac:spMk id="5" creationId="{1C1838BB-3610-546B-EB02-69A175401072}"/>
          </ac:spMkLst>
        </pc:spChg>
      </pc:sldChg>
      <pc:sldChg chg="addSp delSp modSp add mod">
        <pc:chgData name="Hao He" userId="566a5fee-3a01-4c2c-ae39-89ea6daa5f88" providerId="ADAL" clId="{C7204A7F-2326-4EA8-8E25-414BC0B7A123}" dt="2026-09-13T18:51:19.260" v="1321" actId="478"/>
        <pc:sldMkLst>
          <pc:docMk/>
          <pc:sldMk cId="2539969792" sldId="374"/>
        </pc:sldMkLst>
        <pc:spChg chg="del">
          <ac:chgData name="Hao He" userId="566a5fee-3a01-4c2c-ae39-89ea6daa5f88" providerId="ADAL" clId="{C7204A7F-2326-4EA8-8E25-414BC0B7A123}" dt="2026-09-13T18:51:11.016" v="1319" actId="478"/>
          <ac:spMkLst>
            <pc:docMk/>
            <pc:sldMk cId="2539969792" sldId="374"/>
            <ac:spMk id="7" creationId="{D4B9783F-DEED-228B-B436-2527CE1B5BB0}"/>
          </ac:spMkLst>
        </pc:spChg>
        <pc:spChg chg="add del mod">
          <ac:chgData name="Hao He" userId="566a5fee-3a01-4c2c-ae39-89ea6daa5f88" providerId="ADAL" clId="{C7204A7F-2326-4EA8-8E25-414BC0B7A123}" dt="2026-09-13T18:51:19.260" v="1321" actId="478"/>
          <ac:spMkLst>
            <pc:docMk/>
            <pc:sldMk cId="2539969792" sldId="374"/>
            <ac:spMk id="8" creationId="{CD3FECBA-0988-8078-BFC9-B6E4BF0AB93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6F2EE1A-EC7F-4FF3-A4CC-7A4969AD5D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03CACD7-D4EC-49AF-BC0E-64BE92B9EF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D7C1F-9BD2-4176-B567-FEF7F021C831}" type="datetimeFigureOut">
              <a:rPr lang="zh-CN" altLang="en-US" smtClean="0"/>
              <a:t>2026/9/13</a:t>
            </a:fld>
            <a:endParaRPr lang="zh-CN" altLang="en-US"/>
          </a:p>
        </p:txBody>
      </p:sp>
      <p:sp>
        <p:nvSpPr>
          <p:cNvPr id="4" name="页脚占位符 3">
            <a:extLst>
              <a:ext uri="{FF2B5EF4-FFF2-40B4-BE49-F238E27FC236}">
                <a16:creationId xmlns:a16="http://schemas.microsoft.com/office/drawing/2014/main" id="{B26643D9-8297-4D8E-9ABF-4734A31171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5E183742-F28C-4679-9EEC-C5AB403A09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DB33B3-D20C-4DCC-B5E9-1AF388B0DA4B}" type="slidenum">
              <a:rPr lang="zh-CN" altLang="en-US" smtClean="0"/>
              <a:t>‹#›</a:t>
            </a:fld>
            <a:endParaRPr lang="zh-CN" altLang="en-US"/>
          </a:p>
        </p:txBody>
      </p:sp>
    </p:spTree>
    <p:extLst>
      <p:ext uri="{BB962C8B-B14F-4D97-AF65-F5344CB8AC3E}">
        <p14:creationId xmlns:p14="http://schemas.microsoft.com/office/powerpoint/2010/main" val="2698139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9CB3E-F21B-4A75-AD73-FC56ABBC6938}" type="datetimeFigureOut">
              <a:rPr lang="zh-CN" altLang="en-US" smtClean="0"/>
              <a:t>2026/9/13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E75974-D1CD-4370-88BE-127D0D2EB3AA}" type="slidenum">
              <a:rPr lang="zh-CN" altLang="en-US" smtClean="0"/>
              <a:t>‹#›</a:t>
            </a:fld>
            <a:endParaRPr lang="zh-CN" altLang="en-US"/>
          </a:p>
        </p:txBody>
      </p:sp>
    </p:spTree>
    <p:extLst>
      <p:ext uri="{BB962C8B-B14F-4D97-AF65-F5344CB8AC3E}">
        <p14:creationId xmlns:p14="http://schemas.microsoft.com/office/powerpoint/2010/main" val="3741290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1</a:t>
            </a:fld>
            <a:endParaRPr lang="zh-CN" altLang="en-US"/>
          </a:p>
        </p:txBody>
      </p:sp>
    </p:spTree>
    <p:extLst>
      <p:ext uri="{BB962C8B-B14F-4D97-AF65-F5344CB8AC3E}">
        <p14:creationId xmlns:p14="http://schemas.microsoft.com/office/powerpoint/2010/main" val="2290995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Applying the thesis framework is feasible for dispelling software engineering myths and inform evidence-based practice. Do an educational paper instead of the migration</a:t>
            </a:r>
          </a:p>
        </p:txBody>
      </p:sp>
      <p:sp>
        <p:nvSpPr>
          <p:cNvPr id="4" name="Slide Number Placeholder 3"/>
          <p:cNvSpPr>
            <a:spLocks noGrp="1"/>
          </p:cNvSpPr>
          <p:nvPr>
            <p:ph type="sldNum" sz="quarter" idx="5"/>
          </p:nvPr>
        </p:nvSpPr>
        <p:spPr/>
        <p:txBody>
          <a:bodyPr/>
          <a:lstStyle/>
          <a:p>
            <a:fld id="{3EE75974-D1CD-4370-88BE-127D0D2EB3AA}" type="slidenum">
              <a:rPr lang="zh-CN" altLang="en-US" smtClean="0"/>
              <a:t>18</a:t>
            </a:fld>
            <a:endParaRPr lang="zh-CN" altLang="en-US"/>
          </a:p>
        </p:txBody>
      </p:sp>
    </p:spTree>
    <p:extLst>
      <p:ext uri="{BB962C8B-B14F-4D97-AF65-F5344CB8AC3E}">
        <p14:creationId xmlns:p14="http://schemas.microsoft.com/office/powerpoint/2010/main" val="120990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B8059-2187-7AB7-88F9-BA3570FC2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69985-7C5B-5601-AA56-3D045B455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D6190-1CE7-B738-2DDC-C642EAA474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D02A5C-4AB3-0D36-AB1E-8AF859CC954D}"/>
              </a:ext>
            </a:extLst>
          </p:cNvPr>
          <p:cNvSpPr>
            <a:spLocks noGrp="1"/>
          </p:cNvSpPr>
          <p:nvPr>
            <p:ph type="sldNum" sz="quarter" idx="5"/>
          </p:nvPr>
        </p:nvSpPr>
        <p:spPr/>
        <p:txBody>
          <a:bodyPr/>
          <a:lstStyle/>
          <a:p>
            <a:fld id="{3EE75974-D1CD-4370-88BE-127D0D2EB3AA}" type="slidenum">
              <a:rPr lang="zh-CN" altLang="en-US" smtClean="0"/>
              <a:t>19</a:t>
            </a:fld>
            <a:endParaRPr lang="zh-CN" altLang="en-US"/>
          </a:p>
        </p:txBody>
      </p:sp>
    </p:spTree>
    <p:extLst>
      <p:ext uri="{BB962C8B-B14F-4D97-AF65-F5344CB8AC3E}">
        <p14:creationId xmlns:p14="http://schemas.microsoft.com/office/powerpoint/2010/main" val="2667762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18FB-40B2-0726-DAF4-540B7DC16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55B2C-556E-6AAA-28E0-56BDC3503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5901E-DC3A-0D26-EA72-5A1AFABB05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4F4054-8724-0475-7E25-E7C8EBF7926C}"/>
              </a:ext>
            </a:extLst>
          </p:cNvPr>
          <p:cNvSpPr>
            <a:spLocks noGrp="1"/>
          </p:cNvSpPr>
          <p:nvPr>
            <p:ph type="sldNum" sz="quarter" idx="5"/>
          </p:nvPr>
        </p:nvSpPr>
        <p:spPr/>
        <p:txBody>
          <a:bodyPr/>
          <a:lstStyle/>
          <a:p>
            <a:fld id="{3EE75974-D1CD-4370-88BE-127D0D2EB3AA}" type="slidenum">
              <a:rPr lang="zh-CN" altLang="en-US" smtClean="0"/>
              <a:t>24</a:t>
            </a:fld>
            <a:endParaRPr lang="zh-CN" altLang="en-US"/>
          </a:p>
        </p:txBody>
      </p:sp>
    </p:spTree>
    <p:extLst>
      <p:ext uri="{BB962C8B-B14F-4D97-AF65-F5344CB8AC3E}">
        <p14:creationId xmlns:p14="http://schemas.microsoft.com/office/powerpoint/2010/main" val="3535242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2F89-14DB-505B-BD7A-6217827FA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A8211-4395-182A-09E0-933AF5E5B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5DD10-A8F1-6C7C-F7DB-6BB18830F2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5B4C1-B029-0D6F-81F1-D5A41C799B32}"/>
              </a:ext>
            </a:extLst>
          </p:cNvPr>
          <p:cNvSpPr>
            <a:spLocks noGrp="1"/>
          </p:cNvSpPr>
          <p:nvPr>
            <p:ph type="sldNum" sz="quarter" idx="5"/>
          </p:nvPr>
        </p:nvSpPr>
        <p:spPr/>
        <p:txBody>
          <a:bodyPr/>
          <a:lstStyle/>
          <a:p>
            <a:fld id="{3EE75974-D1CD-4370-88BE-127D0D2EB3AA}" type="slidenum">
              <a:rPr lang="zh-CN" altLang="en-US" smtClean="0"/>
              <a:t>28</a:t>
            </a:fld>
            <a:endParaRPr lang="zh-CN" altLang="en-US"/>
          </a:p>
        </p:txBody>
      </p:sp>
    </p:spTree>
    <p:extLst>
      <p:ext uri="{BB962C8B-B14F-4D97-AF65-F5344CB8AC3E}">
        <p14:creationId xmlns:p14="http://schemas.microsoft.com/office/powerpoint/2010/main" val="2945893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4E568-624B-31B7-ADD7-392B57B17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D8511-D8E0-3BBC-37C3-7F226DF35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1818E-C81A-01DA-22CA-A06EA317BE9F}"/>
              </a:ext>
            </a:extLst>
          </p:cNvPr>
          <p:cNvSpPr>
            <a:spLocks noGrp="1"/>
          </p:cNvSpPr>
          <p:nvPr>
            <p:ph type="body" idx="1"/>
          </p:nvPr>
        </p:nvSpPr>
        <p:spPr/>
        <p:txBody>
          <a:bodyPr/>
          <a:lstStyle/>
          <a:p>
            <a:r>
              <a:rPr lang="en-US"/>
              <a:t>Applying the thesis framework is feasible for dispelling software engineering myths and inform evidence-based practice. Do an educational paper instead of the migration</a:t>
            </a:r>
          </a:p>
        </p:txBody>
      </p:sp>
      <p:sp>
        <p:nvSpPr>
          <p:cNvPr id="4" name="Slide Number Placeholder 3">
            <a:extLst>
              <a:ext uri="{FF2B5EF4-FFF2-40B4-BE49-F238E27FC236}">
                <a16:creationId xmlns:a16="http://schemas.microsoft.com/office/drawing/2014/main" id="{EE51678F-7BFE-28BE-9852-6402675505E2}"/>
              </a:ext>
            </a:extLst>
          </p:cNvPr>
          <p:cNvSpPr>
            <a:spLocks noGrp="1"/>
          </p:cNvSpPr>
          <p:nvPr>
            <p:ph type="sldNum" sz="quarter" idx="5"/>
          </p:nvPr>
        </p:nvSpPr>
        <p:spPr/>
        <p:txBody>
          <a:bodyPr/>
          <a:lstStyle/>
          <a:p>
            <a:fld id="{3EE75974-D1CD-4370-88BE-127D0D2EB3AA}" type="slidenum">
              <a:rPr lang="zh-CN" altLang="en-US" smtClean="0"/>
              <a:t>33</a:t>
            </a:fld>
            <a:endParaRPr lang="zh-CN" altLang="en-US"/>
          </a:p>
        </p:txBody>
      </p:sp>
    </p:spTree>
    <p:extLst>
      <p:ext uri="{BB962C8B-B14F-4D97-AF65-F5344CB8AC3E}">
        <p14:creationId xmlns:p14="http://schemas.microsoft.com/office/powerpoint/2010/main" val="2749975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6E460-CC45-7F34-A71B-FCC6C9F50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61906-4FEB-9549-C30F-84C9CF5D0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83134-EA6B-31DA-4A29-53E482989245}"/>
              </a:ext>
            </a:extLst>
          </p:cNvPr>
          <p:cNvSpPr>
            <a:spLocks noGrp="1"/>
          </p:cNvSpPr>
          <p:nvPr>
            <p:ph type="body" idx="1"/>
          </p:nvPr>
        </p:nvSpPr>
        <p:spPr/>
        <p:txBody>
          <a:bodyPr/>
          <a:lstStyle/>
          <a:p>
            <a:r>
              <a:rPr lang="en-US"/>
              <a:t>Applying the thesis framework is feasible for dispelling software engineering myths and inform evidence-based practice. Do an educational paper instead of the migration</a:t>
            </a:r>
          </a:p>
        </p:txBody>
      </p:sp>
      <p:sp>
        <p:nvSpPr>
          <p:cNvPr id="4" name="Slide Number Placeholder 3">
            <a:extLst>
              <a:ext uri="{FF2B5EF4-FFF2-40B4-BE49-F238E27FC236}">
                <a16:creationId xmlns:a16="http://schemas.microsoft.com/office/drawing/2014/main" id="{6584E061-D38B-B903-A433-BC3215091EAD}"/>
              </a:ext>
            </a:extLst>
          </p:cNvPr>
          <p:cNvSpPr>
            <a:spLocks noGrp="1"/>
          </p:cNvSpPr>
          <p:nvPr>
            <p:ph type="sldNum" sz="quarter" idx="5"/>
          </p:nvPr>
        </p:nvSpPr>
        <p:spPr/>
        <p:txBody>
          <a:bodyPr/>
          <a:lstStyle/>
          <a:p>
            <a:fld id="{3EE75974-D1CD-4370-88BE-127D0D2EB3AA}" type="slidenum">
              <a:rPr lang="zh-CN" altLang="en-US" smtClean="0"/>
              <a:t>34</a:t>
            </a:fld>
            <a:endParaRPr lang="zh-CN" altLang="en-US"/>
          </a:p>
        </p:txBody>
      </p:sp>
    </p:spTree>
    <p:extLst>
      <p:ext uri="{BB962C8B-B14F-4D97-AF65-F5344CB8AC3E}">
        <p14:creationId xmlns:p14="http://schemas.microsoft.com/office/powerpoint/2010/main" val="2862231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BB1D6-E51B-494D-B89D-02DB666AC5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595170B-ABA4-4928-90A0-24830A425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FD8C305-473C-4147-BD12-155DDC8A1E30}"/>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6CB69E3-0E39-4CD1-AED4-118D66A478A3}"/>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75C319D4-732B-4BAA-BC3D-0B22955DB80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787329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EADDE72-738D-4AFD-A24B-6C57D7B61985}"/>
              </a:ext>
            </a:extLst>
          </p:cNvPr>
          <p:cNvSpPr/>
          <p:nvPr userDrawn="1"/>
        </p:nvSpPr>
        <p:spPr>
          <a:xfrm>
            <a:off x="0" y="6476495"/>
            <a:ext cx="12192000" cy="395749"/>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E1E8E23-4F7F-46D1-B69E-2846A29A793C}"/>
              </a:ext>
            </a:extLst>
          </p:cNvPr>
          <p:cNvSpPr>
            <a:spLocks noGrp="1"/>
          </p:cNvSpPr>
          <p:nvPr>
            <p:ph type="title" hasCustomPrompt="1"/>
          </p:nvPr>
        </p:nvSpPr>
        <p:spPr>
          <a:xfrm>
            <a:off x="320949" y="292927"/>
            <a:ext cx="11584418" cy="719878"/>
          </a:xfrm>
        </p:spPr>
        <p:txBody>
          <a:bodyPr>
            <a:normAutofit/>
          </a:bodyPr>
          <a:lstStyle>
            <a:lvl1pPr>
              <a:defRPr sz="2900">
                <a:latin typeface="Gadugi" panose="020B0502040204020203" pitchFamily="34" charset="0"/>
                <a:ea typeface="+mn-ea"/>
              </a:defRPr>
            </a:lvl1pPr>
          </a:lstStyle>
          <a:p>
            <a:r>
              <a:rPr lang="en-US" altLang="zh-CN"/>
              <a:t>Title</a:t>
            </a:r>
            <a:r>
              <a:rPr lang="zh-CN" altLang="en-US"/>
              <a:t>标题</a:t>
            </a:r>
          </a:p>
        </p:txBody>
      </p:sp>
      <p:sp>
        <p:nvSpPr>
          <p:cNvPr id="3" name="内容占位符 2">
            <a:extLst>
              <a:ext uri="{FF2B5EF4-FFF2-40B4-BE49-F238E27FC236}">
                <a16:creationId xmlns:a16="http://schemas.microsoft.com/office/drawing/2014/main" id="{47784E31-94D8-4571-B304-57E10A1707EA}"/>
              </a:ext>
            </a:extLst>
          </p:cNvPr>
          <p:cNvSpPr>
            <a:spLocks noGrp="1"/>
          </p:cNvSpPr>
          <p:nvPr>
            <p:ph idx="1"/>
          </p:nvPr>
        </p:nvSpPr>
        <p:spPr>
          <a:xfrm>
            <a:off x="320948" y="1205069"/>
            <a:ext cx="11584419" cy="5081939"/>
          </a:xfrm>
        </p:spPr>
        <p:txBody>
          <a:bodyPr/>
          <a:lstStyle>
            <a:lvl1pPr>
              <a:lnSpc>
                <a:spcPct val="120000"/>
              </a:lnSpc>
              <a:defRPr sz="2400">
                <a:latin typeface="Gadugi" panose="020B0502040204020203" pitchFamily="34" charset="0"/>
              </a:defRPr>
            </a:lvl1pPr>
            <a:lvl2pPr>
              <a:lnSpc>
                <a:spcPct val="120000"/>
              </a:lnSpc>
              <a:defRPr sz="2400">
                <a:latin typeface="Gadugi" panose="020B0502040204020203" pitchFamily="34" charset="0"/>
              </a:defRPr>
            </a:lvl2pPr>
            <a:lvl3pPr>
              <a:lnSpc>
                <a:spcPct val="120000"/>
              </a:lnSpc>
              <a:defRPr sz="2400">
                <a:latin typeface="Gadugi" panose="020B0502040204020203" pitchFamily="34" charset="0"/>
              </a:defRPr>
            </a:lvl3pPr>
            <a:lvl4pPr>
              <a:lnSpc>
                <a:spcPct val="120000"/>
              </a:lnSpc>
              <a:defRPr sz="2400">
                <a:latin typeface="Gadugi" panose="020B0502040204020203" pitchFamily="34" charset="0"/>
              </a:defRPr>
            </a:lvl4pPr>
            <a:lvl5pPr>
              <a:lnSpc>
                <a:spcPct val="120000"/>
              </a:lnSpc>
              <a:defRPr sz="2400">
                <a:latin typeface="Gadugi" panose="020B0502040204020203" pitchFamily="34" charset="0"/>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334FCBF0-5B13-4046-B491-5A14D70BD78F}"/>
              </a:ext>
            </a:extLst>
          </p:cNvPr>
          <p:cNvSpPr>
            <a:spLocks noGrp="1"/>
          </p:cNvSpPr>
          <p:nvPr>
            <p:ph type="ftr" sz="quarter" idx="11"/>
          </p:nvPr>
        </p:nvSpPr>
        <p:spPr>
          <a:xfrm>
            <a:off x="320948" y="6494116"/>
            <a:ext cx="7835500" cy="365125"/>
          </a:xfrm>
        </p:spPr>
        <p:txBody>
          <a:bodyPr/>
          <a:lstStyle>
            <a:lvl1pPr algn="l">
              <a:defRPr lang="en-US" altLang="zh-CN" b="0" i="0" smtClean="0">
                <a:effectLst/>
              </a:defRPr>
            </a:lvl1p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6" name="灯片编号占位符 5">
            <a:extLst>
              <a:ext uri="{FF2B5EF4-FFF2-40B4-BE49-F238E27FC236}">
                <a16:creationId xmlns:a16="http://schemas.microsoft.com/office/drawing/2014/main" id="{3C5E3FEB-261C-4438-B709-F85F8CDD0DCA}"/>
              </a:ext>
            </a:extLst>
          </p:cNvPr>
          <p:cNvSpPr>
            <a:spLocks noGrp="1"/>
          </p:cNvSpPr>
          <p:nvPr>
            <p:ph type="sldNum" sz="quarter" idx="12"/>
          </p:nvPr>
        </p:nvSpPr>
        <p:spPr>
          <a:xfrm>
            <a:off x="8610600" y="6492875"/>
            <a:ext cx="3294767" cy="365125"/>
          </a:xfrm>
        </p:spPr>
        <p:txBody>
          <a:bodyPr/>
          <a:lstStyle>
            <a:lvl1pPr>
              <a:defRPr>
                <a:solidFill>
                  <a:schemeClr val="tx1">
                    <a:lumMod val="75000"/>
                    <a:lumOff val="25000"/>
                  </a:schemeClr>
                </a:solidFill>
                <a:latin typeface="Gadugi" panose="020B0502040204020203" pitchFamily="34" charset="0"/>
              </a:defRPr>
            </a:lvl1pPr>
          </a:lstStyle>
          <a:p>
            <a:fld id="{8E90A93A-CBEB-40B0-B638-E400989BEC3F}" type="slidenum">
              <a:rPr lang="zh-CN" altLang="en-US" smtClean="0"/>
              <a:pPr/>
              <a:t>‹#›</a:t>
            </a:fld>
            <a:endParaRPr lang="zh-CN" altLang="en-US"/>
          </a:p>
        </p:txBody>
      </p:sp>
    </p:spTree>
    <p:extLst>
      <p:ext uri="{BB962C8B-B14F-4D97-AF65-F5344CB8AC3E}">
        <p14:creationId xmlns:p14="http://schemas.microsoft.com/office/powerpoint/2010/main" val="19131668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46A2-6C55-4AA8-BE57-8375EBC3D22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3A5A2F9-7080-40A4-B3C5-F0B374434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0537502-C833-4A0E-9850-E6A79E036ED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0FFF8FC-7B63-43C6-A25D-E4852B12138B}"/>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83FE08AA-3039-4DD0-9422-865D0DB17C59}"/>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180231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11CE4-55ED-46F6-BD03-E8029FA9F83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7556A73-78F9-4C21-8CBA-59F5D377F07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5F34492-8261-44AB-8262-998E112E22A4}"/>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5740D09-46C8-411A-993D-3E8032575FD1}"/>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F0ED5E57-D278-4F67-B0AC-AD20FF07113E}"/>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4232803C-3980-4C7B-86C6-D4CF140977ED}"/>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301488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857AA-C027-4221-AD38-D6CCA860F3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42EF203-E49C-4D2F-B1BE-215A364770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8505B32-A08A-4030-B26E-AD868F881BC7}"/>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9C7D848-40B5-4042-B01F-17EB87899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0C17650-5CA9-4AE7-A0FE-C8D32760C6E9}"/>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1AC3736-A4EF-4A35-B16C-DD83D68B9C59}"/>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273E3FA7-D490-486C-BA8A-0E9A5077FB76}"/>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9" name="灯片编号占位符 8">
            <a:extLst>
              <a:ext uri="{FF2B5EF4-FFF2-40B4-BE49-F238E27FC236}">
                <a16:creationId xmlns:a16="http://schemas.microsoft.com/office/drawing/2014/main" id="{D5214473-73D8-413F-900F-238B6684A9E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643904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748D6-1BB3-4C28-84A6-34A387CD9EF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4FA058-EB39-4D25-A56E-3E3716BD1B73}"/>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AD59CA04-6C64-4685-9A6B-714522F418F5}"/>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5" name="灯片编号占位符 4">
            <a:extLst>
              <a:ext uri="{FF2B5EF4-FFF2-40B4-BE49-F238E27FC236}">
                <a16:creationId xmlns:a16="http://schemas.microsoft.com/office/drawing/2014/main" id="{BB02F80B-37EF-4904-B033-93D704D9DA53}"/>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383916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17A5C5-0914-4D8B-ABDB-C098889D7BC9}"/>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5A1CBE45-8EFE-495C-A795-6B0BC9276670}"/>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4" name="灯片编号占位符 3">
            <a:extLst>
              <a:ext uri="{FF2B5EF4-FFF2-40B4-BE49-F238E27FC236}">
                <a16:creationId xmlns:a16="http://schemas.microsoft.com/office/drawing/2014/main" id="{EFCA2EF4-8885-49A8-B59A-E4A7FF705BA0}"/>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359704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5B1B2-CCA5-45FA-B09D-E9E40A2C02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B6FCB8C-51DC-46E2-A0B5-042BC93E51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EE2894A3-801D-4E56-9840-800CA32D4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56E60E6-8C05-4553-A214-D4C49B635210}"/>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3349480E-9093-4A58-A718-10437FDFE046}"/>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612A5449-C5E8-427A-88F9-70DA0B576870}"/>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971273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3B9AB-8DB5-4DC9-869D-93122849E1E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0526B53-93EC-4DE5-A64C-9344EC1381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667A322-4789-4F37-B4A3-936F29BCE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CD8CD6E-8EE5-4303-BB69-4DC1FE93769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D48F661-084F-4B36-AAAE-6FFA904D4D7B}"/>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7" name="灯片编号占位符 6">
            <a:extLst>
              <a:ext uri="{FF2B5EF4-FFF2-40B4-BE49-F238E27FC236}">
                <a16:creationId xmlns:a16="http://schemas.microsoft.com/office/drawing/2014/main" id="{E1B287E9-039E-4BE3-8FE3-CF6948F1350F}"/>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355250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9AEF45-01BE-4031-9624-A326DE09077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8836C0A-CC31-416F-944A-807DC2D4975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1A390A4-5C59-4163-875B-D53C8EA2FE8D}"/>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FB7313D1-5DA0-47A2-B464-F89E8129905D}"/>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8B44DB9-C3BC-4F4F-BB47-429938EDF5AB}"/>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1618411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31309C-0DC3-4205-8DEB-1EBCED4B2CA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0837F26-516E-4F3C-AB61-C9ADFD1C635E}"/>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65CABEE-7B2E-4FB3-B643-55C02D9695D3}"/>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F8AA6966-0D6B-4CB1-B7CC-69CF42E5568D}"/>
              </a:ext>
            </a:extLst>
          </p:cNvPr>
          <p:cNvSpPr>
            <a:spLocks noGrp="1"/>
          </p:cNvSpPr>
          <p:nvPr>
            <p:ph type="ftr" sz="quarter" idx="11"/>
          </p:nvPr>
        </p:nvSpPr>
        <p:spPr/>
        <p:txBody>
          <a:body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B3D3656-387E-4B4F-8C1B-348B2510540B}"/>
              </a:ext>
            </a:extLst>
          </p:cNvPr>
          <p:cNvSpPr>
            <a:spLocks noGrp="1"/>
          </p:cNvSpPr>
          <p:nvPr>
            <p:ph type="sldNum" sz="quarter" idx="12"/>
          </p:nvPr>
        </p:nvSpPr>
        <p:spPr/>
        <p:txBody>
          <a:body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240817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2AB43FA-A548-46D0-B411-3BD5D0DEA6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744A492-A549-453F-ACB7-2F805A63C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763B76C-D119-47E9-BE9D-BD219025C4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678EDE9E-4306-482D-92FC-393201AAC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SANER 2021 – A Multi-Metric Ranking Approach for Library Migration Recommendations</a:t>
            </a:r>
            <a:endParaRPr lang="zh-CN" altLang="en-US"/>
          </a:p>
        </p:txBody>
      </p:sp>
      <p:sp>
        <p:nvSpPr>
          <p:cNvPr id="6" name="灯片编号占位符 5">
            <a:extLst>
              <a:ext uri="{FF2B5EF4-FFF2-40B4-BE49-F238E27FC236}">
                <a16:creationId xmlns:a16="http://schemas.microsoft.com/office/drawing/2014/main" id="{FB655EF5-8FC2-4FDF-BA6E-0F20095DF1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0A93A-CBEB-40B0-B638-E400989BEC3F}" type="slidenum">
              <a:rPr lang="zh-CN" altLang="en-US" smtClean="0"/>
              <a:t>‹#›</a:t>
            </a:fld>
            <a:endParaRPr lang="zh-CN" altLang="en-US"/>
          </a:p>
        </p:txBody>
      </p:sp>
    </p:spTree>
    <p:extLst>
      <p:ext uri="{BB962C8B-B14F-4D97-AF65-F5344CB8AC3E}">
        <p14:creationId xmlns:p14="http://schemas.microsoft.com/office/powerpoint/2010/main" val="4197220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haohe@andrew.cmu.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2" Type="http://schemas.openxmlformats.org/officeDocument/2006/relationships/hyperlink" Target="https://mixtape.scunning.com/03-directed_acyclical_graph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962A1-DCCB-8A73-1799-011E6198FE71}"/>
              </a:ext>
            </a:extLst>
          </p:cNvPr>
          <p:cNvSpPr>
            <a:spLocks noGrp="1"/>
          </p:cNvSpPr>
          <p:nvPr>
            <p:ph type="ctrTitle"/>
          </p:nvPr>
        </p:nvSpPr>
        <p:spPr>
          <a:xfrm>
            <a:off x="2534918" y="1434920"/>
            <a:ext cx="9657081" cy="2244194"/>
          </a:xfrm>
        </p:spPr>
        <p:txBody>
          <a:bodyPr>
            <a:noAutofit/>
          </a:bodyPr>
          <a:lstStyle/>
          <a:p>
            <a:pPr algn="l">
              <a:lnSpc>
                <a:spcPct val="120000"/>
              </a:lnSpc>
            </a:pPr>
            <a:r>
              <a:rPr lang="en-US" altLang="zh-CN" sz="3600" dirty="0">
                <a:latin typeface="Gadugi" panose="020B0502040204020203" pitchFamily="34" charset="0"/>
                <a:ea typeface="Gadugi" panose="020B0502040204020203" pitchFamily="34" charset="0"/>
              </a:rPr>
              <a:t>Dispelling Software Engineering Myths:</a:t>
            </a:r>
            <a:br>
              <a:rPr lang="en-US" altLang="zh-CN" sz="3600" dirty="0">
                <a:latin typeface="Gadugi" panose="020B0502040204020203" pitchFamily="34" charset="0"/>
                <a:ea typeface="Gadugi" panose="020B0502040204020203" pitchFamily="34" charset="0"/>
              </a:rPr>
            </a:br>
            <a:r>
              <a:rPr lang="en-US" altLang="zh-CN" sz="3600" dirty="0">
                <a:latin typeface="Gadugi" panose="020B0502040204020203" pitchFamily="34" charset="0"/>
                <a:ea typeface="Gadugi" panose="020B0502040204020203" pitchFamily="34" charset="0"/>
              </a:rPr>
              <a:t>A Pragmatic Causal Inference Approach</a:t>
            </a:r>
            <a:endParaRPr lang="en-US" sz="2400" dirty="0"/>
          </a:p>
        </p:txBody>
      </p:sp>
      <p:sp>
        <p:nvSpPr>
          <p:cNvPr id="3" name="Subtitle 2">
            <a:extLst>
              <a:ext uri="{FF2B5EF4-FFF2-40B4-BE49-F238E27FC236}">
                <a16:creationId xmlns:a16="http://schemas.microsoft.com/office/drawing/2014/main" id="{DD154F58-B086-ADB9-64C2-A1D687993C0F}"/>
              </a:ext>
            </a:extLst>
          </p:cNvPr>
          <p:cNvSpPr>
            <a:spLocks noGrp="1"/>
          </p:cNvSpPr>
          <p:nvPr>
            <p:ph type="subTitle" idx="1"/>
          </p:nvPr>
        </p:nvSpPr>
        <p:spPr>
          <a:xfrm>
            <a:off x="2595421" y="4420161"/>
            <a:ext cx="9144000" cy="2523171"/>
          </a:xfrm>
        </p:spPr>
        <p:txBody>
          <a:bodyPr>
            <a:normAutofit/>
          </a:bodyPr>
          <a:lstStyle/>
          <a:p>
            <a:pPr algn="l"/>
            <a:r>
              <a:rPr lang="en-US" sz="2000">
                <a:latin typeface="Roboto Slab" pitchFamily="2" charset="0"/>
                <a:ea typeface="Roboto Slab" pitchFamily="2" charset="0"/>
                <a:cs typeface="Roboto Slab" pitchFamily="2" charset="0"/>
              </a:rPr>
              <a:t>Hao He	</a:t>
            </a:r>
            <a:r>
              <a:rPr lang="en-US" sz="2000">
                <a:latin typeface="Roboto" panose="02000000000000000000" pitchFamily="2" charset="0"/>
                <a:ea typeface="Roboto" panose="02000000000000000000" pitchFamily="2" charset="0"/>
                <a:cs typeface="Roboto" panose="02000000000000000000" pitchFamily="2" charset="0"/>
              </a:rPr>
              <a:t>		</a:t>
            </a:r>
          </a:p>
          <a:p>
            <a:pPr algn="l"/>
            <a:r>
              <a:rPr lang="en-US" sz="2000">
                <a:latin typeface="Roboto Slab" pitchFamily="2" charset="0"/>
                <a:ea typeface="Roboto Slab" pitchFamily="2" charset="0"/>
                <a:cs typeface="Roboto Slab" pitchFamily="2" charset="0"/>
                <a:hlinkClick r:id="rId3"/>
              </a:rPr>
              <a:t>haohe@andrew.cmu.edu</a:t>
            </a:r>
            <a:r>
              <a:rPr lang="en-US" sz="2000">
                <a:latin typeface="Roboto Slab" pitchFamily="2" charset="0"/>
                <a:ea typeface="Roboto Slab" pitchFamily="2" charset="0"/>
                <a:cs typeface="Roboto Slab" pitchFamily="2" charset="0"/>
              </a:rPr>
              <a:t> </a:t>
            </a:r>
          </a:p>
          <a:p>
            <a:pPr algn="l"/>
            <a:r>
              <a:rPr lang="en-US" sz="2000">
                <a:latin typeface="Roboto Slab" pitchFamily="2" charset="0"/>
                <a:ea typeface="Roboto Slab" pitchFamily="2" charset="0"/>
                <a:cs typeface="Roboto Slab" pitchFamily="2" charset="0"/>
              </a:rPr>
              <a:t>Ph.D. Student in Software Engineering</a:t>
            </a:r>
          </a:p>
          <a:p>
            <a:pPr algn="l"/>
            <a:r>
              <a:rPr lang="en-US" sz="2000">
                <a:latin typeface="Roboto Slab" pitchFamily="2" charset="0"/>
                <a:ea typeface="Roboto Slab" pitchFamily="2" charset="0"/>
                <a:cs typeface="Roboto Slab" pitchFamily="2" charset="0"/>
              </a:rPr>
              <a:t>Carnegie Mellon University</a:t>
            </a:r>
          </a:p>
          <a:p>
            <a:pPr algn="l"/>
            <a:endParaRPr lang="en-US" sz="2000">
              <a:latin typeface="Roboto Slab" pitchFamily="2" charset="0"/>
              <a:ea typeface="Roboto Slab" pitchFamily="2" charset="0"/>
              <a:cs typeface="Roboto Slab" pitchFamily="2" charset="0"/>
            </a:endParaRPr>
          </a:p>
        </p:txBody>
      </p:sp>
      <p:pic>
        <p:nvPicPr>
          <p:cNvPr id="4" name="Picture 11">
            <a:extLst>
              <a:ext uri="{FF2B5EF4-FFF2-40B4-BE49-F238E27FC236}">
                <a16:creationId xmlns:a16="http://schemas.microsoft.com/office/drawing/2014/main" id="{A34E2C83-D2BD-2D7B-81D9-BD501F1EC1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895350"/>
            <a:ext cx="3429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50AE446-DFD7-57A3-F995-E43652358FB7}"/>
              </a:ext>
            </a:extLst>
          </p:cNvPr>
          <p:cNvSpPr/>
          <p:nvPr/>
        </p:nvSpPr>
        <p:spPr>
          <a:xfrm>
            <a:off x="0" y="0"/>
            <a:ext cx="22098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C881E57-8FEC-4523-0259-F74664E94F8E}"/>
              </a:ext>
            </a:extLst>
          </p:cNvPr>
          <p:cNvCxnSpPr/>
          <p:nvPr/>
        </p:nvCxnSpPr>
        <p:spPr>
          <a:xfrm>
            <a:off x="2595421" y="812800"/>
            <a:ext cx="0" cy="5648036"/>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FD1C81E-B209-515F-1AF7-1C800ACE5B3C}"/>
              </a:ext>
            </a:extLst>
          </p:cNvPr>
          <p:cNvCxnSpPr>
            <a:cxnSpLocks/>
          </p:cNvCxnSpPr>
          <p:nvPr/>
        </p:nvCxnSpPr>
        <p:spPr>
          <a:xfrm>
            <a:off x="2648063" y="3831695"/>
            <a:ext cx="5687223" cy="0"/>
          </a:xfrm>
          <a:prstGeom prst="line">
            <a:avLst/>
          </a:prstGeom>
          <a:noFill/>
          <a:ln w="127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4C8B7464-6683-A2F9-EEEC-CA3D9CAB9961}"/>
              </a:ext>
            </a:extLst>
          </p:cNvPr>
          <p:cNvSpPr txBox="1"/>
          <p:nvPr/>
        </p:nvSpPr>
        <p:spPr>
          <a:xfrm>
            <a:off x="2534919" y="1056262"/>
            <a:ext cx="4718921" cy="461665"/>
          </a:xfrm>
          <a:prstGeom prst="rect">
            <a:avLst/>
          </a:prstGeom>
          <a:noFill/>
        </p:spPr>
        <p:txBody>
          <a:bodyPr wrap="none" rtlCol="0">
            <a:spAutoFit/>
          </a:bodyPr>
          <a:lstStyle/>
          <a:p>
            <a:r>
              <a:rPr lang="en-US" altLang="zh-CN" sz="2400" dirty="0">
                <a:latin typeface="Calibri" panose="020F0502020204030204" pitchFamily="34" charset="0"/>
                <a:ea typeface="Calibri" panose="020F0502020204030204" pitchFamily="34" charset="0"/>
                <a:cs typeface="Calibri" panose="020F0502020204030204" pitchFamily="34" charset="0"/>
              </a:rPr>
              <a:t>Thesis Defense, September 21, 2026</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3931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79294-A0C0-DAA7-DD17-C04F80E09B9C}"/>
              </a:ext>
            </a:extLst>
          </p:cNvPr>
          <p:cNvSpPr>
            <a:spLocks noGrp="1"/>
          </p:cNvSpPr>
          <p:nvPr>
            <p:ph type="title"/>
          </p:nvPr>
        </p:nvSpPr>
        <p:spPr>
          <a:xfrm>
            <a:off x="320949" y="292926"/>
            <a:ext cx="11584418" cy="1129007"/>
          </a:xfrm>
        </p:spPr>
        <p:txBody>
          <a:bodyPr>
            <a:normAutofit/>
          </a:bodyPr>
          <a:lstStyle/>
          <a:p>
            <a:r>
              <a:rPr lang="en-US"/>
              <a:t>Software engineering is one of the most consequential engineering disciplines in the modern era</a:t>
            </a:r>
          </a:p>
        </p:txBody>
      </p:sp>
      <p:sp>
        <p:nvSpPr>
          <p:cNvPr id="4" name="Footer Placeholder 3">
            <a:extLst>
              <a:ext uri="{FF2B5EF4-FFF2-40B4-BE49-F238E27FC236}">
                <a16:creationId xmlns:a16="http://schemas.microsoft.com/office/drawing/2014/main" id="{DD6E8496-23C9-D5E9-3AC3-44F6DC9806FD}"/>
              </a:ext>
            </a:extLst>
          </p:cNvPr>
          <p:cNvSpPr>
            <a:spLocks noGrp="1"/>
          </p:cNvSpPr>
          <p:nvPr>
            <p:ph type="ftr" sz="quarter" idx="11"/>
          </p:nvPr>
        </p:nvSpPr>
        <p:spPr/>
        <p:txBody>
          <a:bodyPr/>
          <a:lstStyle/>
          <a:p>
            <a:r>
              <a:rPr lang="en-US" dirty="0">
                <a:latin typeface="Gadugi" panose="020B0502040204020203" pitchFamily="34" charset="0"/>
                <a:ea typeface="Gadugi" panose="020B0502040204020203" pitchFamily="34" charset="0"/>
              </a:rPr>
              <a:t>Dispelling Software Engineering Myths: A Pragmatic Causal Inference Approach</a:t>
            </a:r>
            <a:endParaRPr lang="en-US" dirty="0"/>
          </a:p>
        </p:txBody>
      </p:sp>
      <p:sp>
        <p:nvSpPr>
          <p:cNvPr id="5" name="Slide Number Placeholder 4">
            <a:extLst>
              <a:ext uri="{FF2B5EF4-FFF2-40B4-BE49-F238E27FC236}">
                <a16:creationId xmlns:a16="http://schemas.microsoft.com/office/drawing/2014/main" id="{F216BDD0-8BAD-B38D-323B-F2FF308AA70B}"/>
              </a:ext>
            </a:extLst>
          </p:cNvPr>
          <p:cNvSpPr>
            <a:spLocks noGrp="1"/>
          </p:cNvSpPr>
          <p:nvPr>
            <p:ph type="sldNum" sz="quarter" idx="12"/>
          </p:nvPr>
        </p:nvSpPr>
        <p:spPr/>
        <p:txBody>
          <a:bodyPr/>
          <a:lstStyle/>
          <a:p>
            <a:fld id="{8E90A93A-CBEB-40B0-B638-E400989BEC3F}" type="slidenum">
              <a:rPr lang="zh-CN" altLang="en-US" smtClean="0"/>
              <a:pPr/>
              <a:t>2</a:t>
            </a:fld>
            <a:endParaRPr lang="zh-CN" altLang="en-US"/>
          </a:p>
        </p:txBody>
      </p:sp>
      <p:pic>
        <p:nvPicPr>
          <p:cNvPr id="1026" name="Picture 2" descr="Autonomous Risk: The Complexity of Vehicle Code - Cybellum">
            <a:extLst>
              <a:ext uri="{FF2B5EF4-FFF2-40B4-BE49-F238E27FC236}">
                <a16:creationId xmlns:a16="http://schemas.microsoft.com/office/drawing/2014/main" id="{209E0F0B-FBA7-21DB-7C95-C3187BF43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470" y="3773532"/>
            <a:ext cx="1532575" cy="12311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26479DB-4B1F-3401-8DD0-D1AB40C4347B}"/>
              </a:ext>
            </a:extLst>
          </p:cNvPr>
          <p:cNvPicPr>
            <a:picLocks noChangeAspect="1"/>
          </p:cNvPicPr>
          <p:nvPr/>
        </p:nvPicPr>
        <p:blipFill>
          <a:blip r:embed="rId3"/>
          <a:stretch>
            <a:fillRect/>
          </a:stretch>
        </p:blipFill>
        <p:spPr>
          <a:xfrm>
            <a:off x="10098681" y="2457180"/>
            <a:ext cx="1855494" cy="972279"/>
          </a:xfrm>
          <a:prstGeom prst="rect">
            <a:avLst/>
          </a:prstGeom>
        </p:spPr>
      </p:pic>
      <p:pic>
        <p:nvPicPr>
          <p:cNvPr id="1030" name="Picture 6" descr="Positioning Solution for Autonomous Vehicle OEMs Released | UST">
            <a:extLst>
              <a:ext uri="{FF2B5EF4-FFF2-40B4-BE49-F238E27FC236}">
                <a16:creationId xmlns:a16="http://schemas.microsoft.com/office/drawing/2014/main" id="{FB6955F0-08CE-B536-96D2-5A5EC235D5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8139" y="2063299"/>
            <a:ext cx="1969970" cy="9780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xkcd: Dependency">
            <a:extLst>
              <a:ext uri="{FF2B5EF4-FFF2-40B4-BE49-F238E27FC236}">
                <a16:creationId xmlns:a16="http://schemas.microsoft.com/office/drawing/2014/main" id="{8450B5AD-8488-993E-CA55-89714B8C0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2723" y="1750411"/>
            <a:ext cx="3474989" cy="44139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Understanding Terraform State: The Backbone of Infrastructure as Code ...">
            <a:extLst>
              <a:ext uri="{FF2B5EF4-FFF2-40B4-BE49-F238E27FC236}">
                <a16:creationId xmlns:a16="http://schemas.microsoft.com/office/drawing/2014/main" id="{160592AD-EFA4-AA4C-1140-AEB5CE18FE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4288" y="1769954"/>
            <a:ext cx="1908214" cy="107534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reaking Boundaries: Open Source Across Industries | by Charles Lo | Medium">
            <a:extLst>
              <a:ext uri="{FF2B5EF4-FFF2-40B4-BE49-F238E27FC236}">
                <a16:creationId xmlns:a16="http://schemas.microsoft.com/office/drawing/2014/main" id="{59254B25-7B6E-B69B-2F95-0271E57ECC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1137" y="3094232"/>
            <a:ext cx="3697288" cy="2902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40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62BB-C740-C2EF-8C95-7400743A8ED3}"/>
              </a:ext>
            </a:extLst>
          </p:cNvPr>
          <p:cNvSpPr>
            <a:spLocks noGrp="1"/>
          </p:cNvSpPr>
          <p:nvPr>
            <p:ph type="title"/>
          </p:nvPr>
        </p:nvSpPr>
        <p:spPr/>
        <p:txBody>
          <a:bodyPr/>
          <a:lstStyle/>
          <a:p>
            <a:r>
              <a:rPr lang="en-US"/>
              <a:t>However, software engineering practice today is filled with </a:t>
            </a:r>
            <a:r>
              <a:rPr lang="en-US" b="1"/>
              <a:t>myths</a:t>
            </a:r>
          </a:p>
        </p:txBody>
      </p:sp>
      <p:sp>
        <p:nvSpPr>
          <p:cNvPr id="3" name="Content Placeholder 2">
            <a:extLst>
              <a:ext uri="{FF2B5EF4-FFF2-40B4-BE49-F238E27FC236}">
                <a16:creationId xmlns:a16="http://schemas.microsoft.com/office/drawing/2014/main" id="{A4AE96E6-FE6B-CC82-302A-AA4E4438D887}"/>
              </a:ext>
            </a:extLst>
          </p:cNvPr>
          <p:cNvSpPr>
            <a:spLocks noGrp="1"/>
          </p:cNvSpPr>
          <p:nvPr>
            <p:ph idx="1"/>
          </p:nvPr>
        </p:nvSpPr>
        <p:spPr>
          <a:xfrm>
            <a:off x="320948" y="4513278"/>
            <a:ext cx="11584419" cy="1489045"/>
          </a:xfrm>
        </p:spPr>
        <p:style>
          <a:lnRef idx="1">
            <a:schemeClr val="accent4"/>
          </a:lnRef>
          <a:fillRef idx="2">
            <a:schemeClr val="accent4"/>
          </a:fillRef>
          <a:effectRef idx="1">
            <a:schemeClr val="accent4"/>
          </a:effectRef>
          <a:fontRef idx="minor">
            <a:schemeClr val="dk1"/>
          </a:fontRef>
        </p:style>
        <p:txBody>
          <a:bodyPr/>
          <a:lstStyle/>
          <a:p>
            <a:r>
              <a:rPr lang="en-US" b="1"/>
              <a:t>Software Engineering Myths</a:t>
            </a:r>
            <a:r>
              <a:rPr lang="en-US"/>
              <a:t>: widely held beliefs derived from intuition, experience, and conventional wisdom, that have never been rigorously tested or, when tested, have produced inconclusive or contradictory results</a:t>
            </a:r>
          </a:p>
        </p:txBody>
      </p:sp>
      <p:sp>
        <p:nvSpPr>
          <p:cNvPr id="4" name="Footer Placeholder 3">
            <a:extLst>
              <a:ext uri="{FF2B5EF4-FFF2-40B4-BE49-F238E27FC236}">
                <a16:creationId xmlns:a16="http://schemas.microsoft.com/office/drawing/2014/main" id="{2D55954D-D3E9-74F6-3DFA-95F9357176DB}"/>
              </a:ext>
            </a:extLst>
          </p:cNvPr>
          <p:cNvSpPr>
            <a:spLocks noGrp="1"/>
          </p:cNvSpPr>
          <p:nvPr>
            <p:ph type="ftr" sz="quarter" idx="11"/>
          </p:nvPr>
        </p:nvSpPr>
        <p:spPr/>
        <p:txBody>
          <a:bodyPr/>
          <a:lstStyle/>
          <a:p>
            <a:r>
              <a:rPr lang="en-US" dirty="0">
                <a:latin typeface="Gadugi" panose="020B0502040204020203" pitchFamily="34" charset="0"/>
                <a:ea typeface="Gadugi" panose="020B0502040204020203" pitchFamily="34" charset="0"/>
              </a:rPr>
              <a:t>Dispelling Software Engineering Myths: A Pragmatic Causal Inference Approach</a:t>
            </a:r>
            <a:endParaRPr lang="en-US" dirty="0"/>
          </a:p>
        </p:txBody>
      </p:sp>
      <p:sp>
        <p:nvSpPr>
          <p:cNvPr id="5" name="Slide Number Placeholder 4">
            <a:extLst>
              <a:ext uri="{FF2B5EF4-FFF2-40B4-BE49-F238E27FC236}">
                <a16:creationId xmlns:a16="http://schemas.microsoft.com/office/drawing/2014/main" id="{3C2C5A8F-2530-9568-7657-8382DCF80A49}"/>
              </a:ext>
            </a:extLst>
          </p:cNvPr>
          <p:cNvSpPr>
            <a:spLocks noGrp="1"/>
          </p:cNvSpPr>
          <p:nvPr>
            <p:ph type="sldNum" sz="quarter" idx="12"/>
          </p:nvPr>
        </p:nvSpPr>
        <p:spPr/>
        <p:txBody>
          <a:bodyPr/>
          <a:lstStyle/>
          <a:p>
            <a:fld id="{8E90A93A-CBEB-40B0-B638-E400989BEC3F}" type="slidenum">
              <a:rPr lang="zh-CN" altLang="en-US" smtClean="0"/>
              <a:pPr/>
              <a:t>3</a:t>
            </a:fld>
            <a:endParaRPr lang="zh-CN" altLang="en-US"/>
          </a:p>
        </p:txBody>
      </p:sp>
      <p:pic>
        <p:nvPicPr>
          <p:cNvPr id="2050" name="Picture 2" descr="Myth Versus Reality Words Show False Mythology Vs Real Life - 3d ...">
            <a:extLst>
              <a:ext uri="{FF2B5EF4-FFF2-40B4-BE49-F238E27FC236}">
                <a16:creationId xmlns:a16="http://schemas.microsoft.com/office/drawing/2014/main" id="{725788CF-E08E-FA7C-1929-2ABB7A40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435" y="1153290"/>
            <a:ext cx="4152122" cy="3114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548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83EF24F-FD74-8A0F-1046-53B2BC60965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0405372-79E7-BEB7-85AE-B554BB4707F7}"/>
              </a:ext>
            </a:extLst>
          </p:cNvPr>
          <p:cNvSpPr>
            <a:spLocks noGrp="1"/>
          </p:cNvSpPr>
          <p:nvPr>
            <p:ph type="sldNum" sz="quarter" idx="12"/>
          </p:nvPr>
        </p:nvSpPr>
        <p:spPr/>
        <p:txBody>
          <a:bodyPr/>
          <a:lstStyle/>
          <a:p>
            <a:fld id="{8E90A93A-CBEB-40B0-B638-E400989BEC3F}" type="slidenum">
              <a:rPr lang="zh-CN" altLang="en-US" smtClean="0"/>
              <a:pPr/>
              <a:t>4</a:t>
            </a:fld>
            <a:endParaRPr lang="zh-CN" altLang="en-US"/>
          </a:p>
        </p:txBody>
      </p:sp>
      <p:pic>
        <p:nvPicPr>
          <p:cNvPr id="6" name="Picture 5">
            <a:extLst>
              <a:ext uri="{FF2B5EF4-FFF2-40B4-BE49-F238E27FC236}">
                <a16:creationId xmlns:a16="http://schemas.microsoft.com/office/drawing/2014/main" id="{E068E78B-CE35-701D-5598-39397FDBB328}"/>
              </a:ext>
            </a:extLst>
          </p:cNvPr>
          <p:cNvPicPr>
            <a:picLocks noChangeAspect="1"/>
          </p:cNvPicPr>
          <p:nvPr/>
        </p:nvPicPr>
        <p:blipFill>
          <a:blip r:embed="rId2"/>
          <a:stretch>
            <a:fillRect/>
          </a:stretch>
        </p:blipFill>
        <p:spPr>
          <a:xfrm>
            <a:off x="354589" y="1648149"/>
            <a:ext cx="6475311" cy="17747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2">
            <a:extLst>
              <a:ext uri="{FF2B5EF4-FFF2-40B4-BE49-F238E27FC236}">
                <a16:creationId xmlns:a16="http://schemas.microsoft.com/office/drawing/2014/main" id="{0E0475F9-180A-B256-4600-C8C13FD8D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9352" y="2153659"/>
            <a:ext cx="4824143" cy="29494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D771A1FA-3039-81BB-BD0E-BC2232D6291C}"/>
              </a:ext>
            </a:extLst>
          </p:cNvPr>
          <p:cNvPicPr>
            <a:picLocks noChangeAspect="1"/>
          </p:cNvPicPr>
          <p:nvPr/>
        </p:nvPicPr>
        <p:blipFill rotWithShape="1">
          <a:blip r:embed="rId4"/>
          <a:srcRect b="55631"/>
          <a:stretch/>
        </p:blipFill>
        <p:spPr>
          <a:xfrm>
            <a:off x="354589" y="4361442"/>
            <a:ext cx="6475310" cy="13413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itle 1">
            <a:extLst>
              <a:ext uri="{FF2B5EF4-FFF2-40B4-BE49-F238E27FC236}">
                <a16:creationId xmlns:a16="http://schemas.microsoft.com/office/drawing/2014/main" id="{36D8ED2E-B571-0714-57BF-0DEFF918B023}"/>
              </a:ext>
            </a:extLst>
          </p:cNvPr>
          <p:cNvSpPr>
            <a:spLocks noGrp="1"/>
          </p:cNvSpPr>
          <p:nvPr>
            <p:ph type="title"/>
          </p:nvPr>
        </p:nvSpPr>
        <p:spPr>
          <a:xfrm>
            <a:off x="320675" y="293688"/>
            <a:ext cx="11583988" cy="719137"/>
          </a:xfrm>
        </p:spPr>
        <p:txBody>
          <a:bodyPr/>
          <a:lstStyle/>
          <a:p>
            <a:r>
              <a:rPr lang="en-US"/>
              <a:t>Example 1: Pinning vs. Floating </a:t>
            </a:r>
          </a:p>
        </p:txBody>
      </p:sp>
    </p:spTree>
    <p:extLst>
      <p:ext uri="{BB962C8B-B14F-4D97-AF65-F5344CB8AC3E}">
        <p14:creationId xmlns:p14="http://schemas.microsoft.com/office/powerpoint/2010/main" val="3974277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C3A5B-DB3C-CA3E-8C0F-5FBC1BE7D3FA}"/>
              </a:ext>
            </a:extLst>
          </p:cNvPr>
          <p:cNvSpPr>
            <a:spLocks noGrp="1"/>
          </p:cNvSpPr>
          <p:nvPr>
            <p:ph type="title"/>
          </p:nvPr>
        </p:nvSpPr>
        <p:spPr/>
        <p:txBody>
          <a:bodyPr/>
          <a:lstStyle/>
          <a:p>
            <a:r>
              <a:rPr lang="en-US"/>
              <a:t>Example 2: GitHub Stars for Growth Hacking</a:t>
            </a:r>
          </a:p>
        </p:txBody>
      </p:sp>
      <p:sp>
        <p:nvSpPr>
          <p:cNvPr id="4" name="Footer Placeholder 3">
            <a:extLst>
              <a:ext uri="{FF2B5EF4-FFF2-40B4-BE49-F238E27FC236}">
                <a16:creationId xmlns:a16="http://schemas.microsoft.com/office/drawing/2014/main" id="{05A926CC-0025-FFFC-A845-665FB51E70E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7B50BC8C-F0FC-EF66-7437-89108A432BD3}"/>
              </a:ext>
            </a:extLst>
          </p:cNvPr>
          <p:cNvSpPr>
            <a:spLocks noGrp="1"/>
          </p:cNvSpPr>
          <p:nvPr>
            <p:ph type="sldNum" sz="quarter" idx="12"/>
          </p:nvPr>
        </p:nvSpPr>
        <p:spPr/>
        <p:txBody>
          <a:bodyPr/>
          <a:lstStyle/>
          <a:p>
            <a:fld id="{8E90A93A-CBEB-40B0-B638-E400989BEC3F}" type="slidenum">
              <a:rPr lang="zh-CN" altLang="en-US" smtClean="0"/>
              <a:pPr/>
              <a:t>5</a:t>
            </a:fld>
            <a:endParaRPr lang="zh-CN" altLang="en-US"/>
          </a:p>
        </p:txBody>
      </p:sp>
      <p:pic>
        <p:nvPicPr>
          <p:cNvPr id="9" name="Picture 8">
            <a:extLst>
              <a:ext uri="{FF2B5EF4-FFF2-40B4-BE49-F238E27FC236}">
                <a16:creationId xmlns:a16="http://schemas.microsoft.com/office/drawing/2014/main" id="{17DD73F8-8B8A-9081-4F98-52BF873F2E6D}"/>
              </a:ext>
            </a:extLst>
          </p:cNvPr>
          <p:cNvPicPr>
            <a:picLocks noChangeAspect="1"/>
          </p:cNvPicPr>
          <p:nvPr/>
        </p:nvPicPr>
        <p:blipFill>
          <a:blip r:embed="rId2"/>
          <a:stretch>
            <a:fillRect/>
          </a:stretch>
        </p:blipFill>
        <p:spPr>
          <a:xfrm>
            <a:off x="6430046" y="1193625"/>
            <a:ext cx="4745394" cy="5118035"/>
          </a:xfrm>
          <a:prstGeom prst="rect">
            <a:avLst/>
          </a:prstGeom>
          <a:ln>
            <a:solidFill>
              <a:schemeClr val="tx1"/>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F18FC282-9C0A-EB17-A808-0E6CC2B13B62}"/>
              </a:ext>
            </a:extLst>
          </p:cNvPr>
          <p:cNvPicPr>
            <a:picLocks noChangeAspect="1"/>
          </p:cNvPicPr>
          <p:nvPr/>
        </p:nvPicPr>
        <p:blipFill>
          <a:blip r:embed="rId3"/>
          <a:stretch>
            <a:fillRect/>
          </a:stretch>
        </p:blipFill>
        <p:spPr>
          <a:xfrm>
            <a:off x="966725" y="1193625"/>
            <a:ext cx="3898238" cy="5118035"/>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16713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4E988-5704-2319-A374-A511479682BE}"/>
              </a:ext>
            </a:extLst>
          </p:cNvPr>
          <p:cNvSpPr>
            <a:spLocks noGrp="1"/>
          </p:cNvSpPr>
          <p:nvPr>
            <p:ph type="title"/>
          </p:nvPr>
        </p:nvSpPr>
        <p:spPr/>
        <p:txBody>
          <a:bodyPr/>
          <a:lstStyle/>
          <a:p>
            <a:r>
              <a:rPr lang="en-US"/>
              <a:t>Example 3: AI Coding Tools on Productivity</a:t>
            </a:r>
          </a:p>
        </p:txBody>
      </p:sp>
      <p:sp>
        <p:nvSpPr>
          <p:cNvPr id="4" name="Footer Placeholder 3">
            <a:extLst>
              <a:ext uri="{FF2B5EF4-FFF2-40B4-BE49-F238E27FC236}">
                <a16:creationId xmlns:a16="http://schemas.microsoft.com/office/drawing/2014/main" id="{5C48FF9D-74A2-F5A3-2976-31E22E97C577}"/>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797B14A2-A2AA-B00D-EFA6-DA4870C58FB6}"/>
              </a:ext>
            </a:extLst>
          </p:cNvPr>
          <p:cNvSpPr>
            <a:spLocks noGrp="1"/>
          </p:cNvSpPr>
          <p:nvPr>
            <p:ph type="sldNum" sz="quarter" idx="12"/>
          </p:nvPr>
        </p:nvSpPr>
        <p:spPr/>
        <p:txBody>
          <a:bodyPr/>
          <a:lstStyle/>
          <a:p>
            <a:fld id="{8E90A93A-CBEB-40B0-B638-E400989BEC3F}" type="slidenum">
              <a:rPr lang="zh-CN" altLang="en-US" smtClean="0"/>
              <a:pPr/>
              <a:t>6</a:t>
            </a:fld>
            <a:endParaRPr lang="zh-CN" altLang="en-US"/>
          </a:p>
        </p:txBody>
      </p:sp>
      <p:pic>
        <p:nvPicPr>
          <p:cNvPr id="6" name="Picture 5">
            <a:extLst>
              <a:ext uri="{FF2B5EF4-FFF2-40B4-BE49-F238E27FC236}">
                <a16:creationId xmlns:a16="http://schemas.microsoft.com/office/drawing/2014/main" id="{736D961C-9DCE-880E-1DAE-C142F133FD9E}"/>
              </a:ext>
            </a:extLst>
          </p:cNvPr>
          <p:cNvPicPr>
            <a:picLocks noChangeAspect="1"/>
          </p:cNvPicPr>
          <p:nvPr/>
        </p:nvPicPr>
        <p:blipFill>
          <a:blip r:embed="rId2"/>
          <a:stretch>
            <a:fillRect/>
          </a:stretch>
        </p:blipFill>
        <p:spPr>
          <a:xfrm>
            <a:off x="6713190" y="1218671"/>
            <a:ext cx="3962304" cy="5136075"/>
          </a:xfrm>
          <a:prstGeom prst="rect">
            <a:avLst/>
          </a:prstGeom>
          <a:ln>
            <a:solidFill>
              <a:schemeClr val="tx1"/>
            </a:solid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60F4339F-7677-7D15-8007-8CE795A04FB3}"/>
              </a:ext>
            </a:extLst>
          </p:cNvPr>
          <p:cNvSpPr/>
          <p:nvPr/>
        </p:nvSpPr>
        <p:spPr>
          <a:xfrm>
            <a:off x="7068453" y="3261818"/>
            <a:ext cx="3271851" cy="9329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Open-source developers work on their daily tasks </a:t>
            </a:r>
            <a:r>
              <a:rPr lang="en-US" b="1">
                <a:latin typeface="Gadugi" panose="020B0502040204020203" pitchFamily="34" charset="0"/>
                <a:ea typeface="Gadugi" panose="020B0502040204020203" pitchFamily="34" charset="0"/>
              </a:rPr>
              <a:t>slower</a:t>
            </a:r>
            <a:r>
              <a:rPr lang="en-US">
                <a:latin typeface="Gadugi" panose="020B0502040204020203" pitchFamily="34" charset="0"/>
                <a:ea typeface="Gadugi" panose="020B0502040204020203" pitchFamily="34" charset="0"/>
              </a:rPr>
              <a:t> with Cursor AI in early 2025</a:t>
            </a:r>
          </a:p>
        </p:txBody>
      </p:sp>
      <p:pic>
        <p:nvPicPr>
          <p:cNvPr id="12" name="Picture 11">
            <a:extLst>
              <a:ext uri="{FF2B5EF4-FFF2-40B4-BE49-F238E27FC236}">
                <a16:creationId xmlns:a16="http://schemas.microsoft.com/office/drawing/2014/main" id="{71C7B219-AA71-0899-CF50-C2E8A450F8B3}"/>
              </a:ext>
            </a:extLst>
          </p:cNvPr>
          <p:cNvPicPr>
            <a:picLocks noChangeAspect="1"/>
          </p:cNvPicPr>
          <p:nvPr/>
        </p:nvPicPr>
        <p:blipFill>
          <a:blip r:embed="rId3"/>
          <a:srcRect b="8425"/>
          <a:stretch>
            <a:fillRect/>
          </a:stretch>
        </p:blipFill>
        <p:spPr>
          <a:xfrm>
            <a:off x="927094" y="1219913"/>
            <a:ext cx="4409405" cy="513483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5601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2D94-86DA-8AAE-3401-A5DB5425D9C1}"/>
              </a:ext>
            </a:extLst>
          </p:cNvPr>
          <p:cNvSpPr>
            <a:spLocks noGrp="1"/>
          </p:cNvSpPr>
          <p:nvPr>
            <p:ph type="title"/>
          </p:nvPr>
        </p:nvSpPr>
        <p:spPr/>
        <p:txBody>
          <a:bodyPr/>
          <a:lstStyle/>
          <a:p>
            <a:r>
              <a:rPr lang="en-US"/>
              <a:t>Example 4: Programming Language vs. Defect Proneness</a:t>
            </a:r>
          </a:p>
        </p:txBody>
      </p:sp>
      <p:sp>
        <p:nvSpPr>
          <p:cNvPr id="4" name="Footer Placeholder 3">
            <a:extLst>
              <a:ext uri="{FF2B5EF4-FFF2-40B4-BE49-F238E27FC236}">
                <a16:creationId xmlns:a16="http://schemas.microsoft.com/office/drawing/2014/main" id="{3CFEC283-87ED-7CFE-B001-AA519A6F664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283C50A-AD29-F5F9-8D6C-63E1AA22914B}"/>
              </a:ext>
            </a:extLst>
          </p:cNvPr>
          <p:cNvSpPr>
            <a:spLocks noGrp="1"/>
          </p:cNvSpPr>
          <p:nvPr>
            <p:ph type="sldNum" sz="quarter" idx="12"/>
          </p:nvPr>
        </p:nvSpPr>
        <p:spPr/>
        <p:txBody>
          <a:bodyPr/>
          <a:lstStyle/>
          <a:p>
            <a:fld id="{8E90A93A-CBEB-40B0-B638-E400989BEC3F}" type="slidenum">
              <a:rPr lang="zh-CN" altLang="en-US" smtClean="0"/>
              <a:pPr/>
              <a:t>7</a:t>
            </a:fld>
            <a:endParaRPr lang="zh-CN" altLang="en-US"/>
          </a:p>
        </p:txBody>
      </p:sp>
      <p:pic>
        <p:nvPicPr>
          <p:cNvPr id="6" name="Picture 5">
            <a:extLst>
              <a:ext uri="{FF2B5EF4-FFF2-40B4-BE49-F238E27FC236}">
                <a16:creationId xmlns:a16="http://schemas.microsoft.com/office/drawing/2014/main" id="{8FF8AC05-E644-1064-5917-815E9D999232}"/>
              </a:ext>
            </a:extLst>
          </p:cNvPr>
          <p:cNvPicPr>
            <a:picLocks noChangeAspect="1"/>
          </p:cNvPicPr>
          <p:nvPr/>
        </p:nvPicPr>
        <p:blipFill>
          <a:blip r:embed="rId2"/>
          <a:stretch>
            <a:fillRect/>
          </a:stretch>
        </p:blipFill>
        <p:spPr>
          <a:xfrm>
            <a:off x="4558612" y="1364126"/>
            <a:ext cx="3131295" cy="4645042"/>
          </a:xfrm>
          <a:prstGeom prst="rect">
            <a:avLst/>
          </a:prstGeom>
          <a:ln>
            <a:solidFill>
              <a:schemeClr val="tx1"/>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350C9A7A-9C0A-54CB-294E-7B28BB1EE350}"/>
              </a:ext>
            </a:extLst>
          </p:cNvPr>
          <p:cNvPicPr>
            <a:picLocks noChangeAspect="1"/>
          </p:cNvPicPr>
          <p:nvPr/>
        </p:nvPicPr>
        <p:blipFill>
          <a:blip r:embed="rId3"/>
          <a:stretch>
            <a:fillRect/>
          </a:stretch>
        </p:blipFill>
        <p:spPr>
          <a:xfrm>
            <a:off x="8222709" y="1366889"/>
            <a:ext cx="3602963" cy="4645042"/>
          </a:xfrm>
          <a:prstGeom prst="rect">
            <a:avLst/>
          </a:prstGeom>
          <a:ln>
            <a:solidFill>
              <a:schemeClr val="tx1"/>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A2104812-07A1-C354-36A2-B6CD8BF2B681}"/>
              </a:ext>
            </a:extLst>
          </p:cNvPr>
          <p:cNvPicPr>
            <a:picLocks noChangeAspect="1"/>
          </p:cNvPicPr>
          <p:nvPr/>
        </p:nvPicPr>
        <p:blipFill>
          <a:blip r:embed="rId4"/>
          <a:stretch>
            <a:fillRect/>
          </a:stretch>
        </p:blipFill>
        <p:spPr>
          <a:xfrm>
            <a:off x="366328" y="1364127"/>
            <a:ext cx="3659483" cy="464504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402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BAFE-07AB-590B-7E8A-C7828FB09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31B24-CCC7-A2DA-AA9D-FD543C02A4BF}"/>
              </a:ext>
            </a:extLst>
          </p:cNvPr>
          <p:cNvSpPr>
            <a:spLocks noGrp="1"/>
          </p:cNvSpPr>
          <p:nvPr>
            <p:ph type="title"/>
          </p:nvPr>
        </p:nvSpPr>
        <p:spPr/>
        <p:txBody>
          <a:bodyPr/>
          <a:lstStyle/>
          <a:p>
            <a:r>
              <a:rPr lang="en-US"/>
              <a:t>Example 4: Programming Language vs. Defect Proneness</a:t>
            </a:r>
          </a:p>
        </p:txBody>
      </p:sp>
      <p:sp>
        <p:nvSpPr>
          <p:cNvPr id="4" name="Footer Placeholder 3">
            <a:extLst>
              <a:ext uri="{FF2B5EF4-FFF2-40B4-BE49-F238E27FC236}">
                <a16:creationId xmlns:a16="http://schemas.microsoft.com/office/drawing/2014/main" id="{3A930488-81BD-DAD8-DBFF-A021BA99EC5D}"/>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6EFE3189-D200-63C6-DE4A-A27922560F59}"/>
              </a:ext>
            </a:extLst>
          </p:cNvPr>
          <p:cNvSpPr>
            <a:spLocks noGrp="1"/>
          </p:cNvSpPr>
          <p:nvPr>
            <p:ph type="sldNum" sz="quarter" idx="12"/>
          </p:nvPr>
        </p:nvSpPr>
        <p:spPr/>
        <p:txBody>
          <a:bodyPr/>
          <a:lstStyle/>
          <a:p>
            <a:fld id="{8E90A93A-CBEB-40B0-B638-E400989BEC3F}" type="slidenum">
              <a:rPr lang="zh-CN" altLang="en-US" smtClean="0"/>
              <a:pPr/>
              <a:t>8</a:t>
            </a:fld>
            <a:endParaRPr lang="zh-CN" altLang="en-US"/>
          </a:p>
        </p:txBody>
      </p:sp>
      <p:pic>
        <p:nvPicPr>
          <p:cNvPr id="9" name="Picture 8">
            <a:extLst>
              <a:ext uri="{FF2B5EF4-FFF2-40B4-BE49-F238E27FC236}">
                <a16:creationId xmlns:a16="http://schemas.microsoft.com/office/drawing/2014/main" id="{190D79E6-1D69-5E27-5AA7-752A4F6DE6BD}"/>
              </a:ext>
            </a:extLst>
          </p:cNvPr>
          <p:cNvPicPr>
            <a:picLocks noChangeAspect="1"/>
          </p:cNvPicPr>
          <p:nvPr/>
        </p:nvPicPr>
        <p:blipFill>
          <a:blip r:embed="rId2"/>
          <a:stretch>
            <a:fillRect/>
          </a:stretch>
        </p:blipFill>
        <p:spPr>
          <a:xfrm>
            <a:off x="435099" y="1154339"/>
            <a:ext cx="3404125" cy="4415951"/>
          </a:xfrm>
          <a:prstGeom prst="rect">
            <a:avLst/>
          </a:prstGeom>
          <a:ln>
            <a:solidFill>
              <a:schemeClr val="tx1"/>
            </a:solidFill>
          </a:ln>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3E4BF423-089E-230C-A26C-87A42A6816E0}"/>
              </a:ext>
            </a:extLst>
          </p:cNvPr>
          <p:cNvSpPr txBox="1"/>
          <p:nvPr/>
        </p:nvSpPr>
        <p:spPr>
          <a:xfrm>
            <a:off x="4063383" y="1158853"/>
            <a:ext cx="7597314" cy="1569660"/>
          </a:xfrm>
          <a:prstGeom prst="rect">
            <a:avLst/>
          </a:prstGeom>
          <a:noFill/>
        </p:spPr>
        <p:txBody>
          <a:bodyPr wrap="square">
            <a:spAutoFit/>
          </a:bodyPr>
          <a:lstStyle/>
          <a:p>
            <a:r>
              <a:rPr lang="en-US" sz="2400" dirty="0">
                <a:latin typeface="Gadugi" panose="020B0502040204020203" pitchFamily="34" charset="0"/>
                <a:ea typeface="Gadugi" panose="020B0502040204020203" pitchFamily="34" charset="0"/>
              </a:rPr>
              <a:t>“</a:t>
            </a:r>
            <a:r>
              <a:rPr lang="en-US" sz="2400" dirty="0">
                <a:latin typeface="Aptos Serif" panose="020B0502040204020203" pitchFamily="18" charset="0"/>
                <a:ea typeface="Gadugi" panose="020B0502040204020203" pitchFamily="34" charset="0"/>
                <a:cs typeface="Aptos Serif" panose="020B0502040204020203" pitchFamily="18" charset="0"/>
              </a:rPr>
              <a:t>We fundamentally do not believe that the question the FSE authors set out to answer, namely whether some languages are more defect prone than others, can be meaningfully answered by scraping GitHub</a:t>
            </a:r>
            <a:r>
              <a:rPr lang="en-US" sz="2400" dirty="0">
                <a:latin typeface="Gadugi" panose="020B0502040204020203" pitchFamily="34" charset="0"/>
                <a:ea typeface="Gadugi" panose="020B0502040204020203" pitchFamily="34" charset="0"/>
              </a:rPr>
              <a:t>.”</a:t>
            </a:r>
          </a:p>
        </p:txBody>
      </p:sp>
      <p:sp>
        <p:nvSpPr>
          <p:cNvPr id="3" name="TextBox 2">
            <a:extLst>
              <a:ext uri="{FF2B5EF4-FFF2-40B4-BE49-F238E27FC236}">
                <a16:creationId xmlns:a16="http://schemas.microsoft.com/office/drawing/2014/main" id="{B3C8611B-5A05-7CD0-565C-BBC1ECC36964}"/>
              </a:ext>
            </a:extLst>
          </p:cNvPr>
          <p:cNvSpPr txBox="1"/>
          <p:nvPr/>
        </p:nvSpPr>
        <p:spPr>
          <a:xfrm>
            <a:off x="4626879" y="4444221"/>
            <a:ext cx="7033818" cy="1200329"/>
          </a:xfrm>
          <a:prstGeom prst="rect">
            <a:avLst/>
          </a:prstGeom>
          <a:noFill/>
        </p:spPr>
        <p:txBody>
          <a:bodyPr wrap="square">
            <a:spAutoFit/>
          </a:bodyPr>
          <a:lstStyle/>
          <a:p>
            <a:r>
              <a:rPr lang="en-US" sz="2400" b="1" dirty="0">
                <a:solidFill>
                  <a:srgbClr val="EE0000"/>
                </a:solidFill>
                <a:latin typeface="Gadugi" panose="020B0502040204020203" pitchFamily="34" charset="0"/>
                <a:ea typeface="Gadugi" panose="020B0502040204020203" pitchFamily="34" charset="0"/>
              </a:rPr>
              <a:t>REALLY? </a:t>
            </a:r>
          </a:p>
          <a:p>
            <a:r>
              <a:rPr lang="en-US" sz="2400" b="1" dirty="0">
                <a:latin typeface="Gadugi" panose="020B0502040204020203" pitchFamily="34" charset="0"/>
                <a:ea typeface="Gadugi" panose="020B0502040204020203" pitchFamily="34" charset="0"/>
              </a:rPr>
              <a:t>Is it impossible to meaningfully settle important software engineering myths?</a:t>
            </a:r>
          </a:p>
        </p:txBody>
      </p:sp>
      <p:cxnSp>
        <p:nvCxnSpPr>
          <p:cNvPr id="10" name="Connector: Curved 9">
            <a:extLst>
              <a:ext uri="{FF2B5EF4-FFF2-40B4-BE49-F238E27FC236}">
                <a16:creationId xmlns:a16="http://schemas.microsoft.com/office/drawing/2014/main" id="{9B854118-CFBF-3EA5-448D-4EC090C1284C}"/>
              </a:ext>
            </a:extLst>
          </p:cNvPr>
          <p:cNvCxnSpPr>
            <a:cxnSpLocks/>
            <a:stCxn id="11" idx="2"/>
            <a:endCxn id="3" idx="1"/>
          </p:cNvCxnSpPr>
          <p:nvPr/>
        </p:nvCxnSpPr>
        <p:spPr>
          <a:xfrm rot="5400000">
            <a:off x="5086524" y="2268869"/>
            <a:ext cx="2315873" cy="3235161"/>
          </a:xfrm>
          <a:prstGeom prst="curvedConnector4">
            <a:avLst>
              <a:gd name="adj1" fmla="val 37042"/>
              <a:gd name="adj2" fmla="val 107066"/>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7869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D0C5-7C58-0E28-BD4F-33EF0F9A1197}"/>
              </a:ext>
            </a:extLst>
          </p:cNvPr>
          <p:cNvSpPr>
            <a:spLocks noGrp="1"/>
          </p:cNvSpPr>
          <p:nvPr>
            <p:ph type="title"/>
          </p:nvPr>
        </p:nvSpPr>
        <p:spPr/>
        <p:txBody>
          <a:bodyPr>
            <a:normAutofit fontScale="90000"/>
          </a:bodyPr>
          <a:lstStyle/>
          <a:p>
            <a:r>
              <a:rPr lang="en-US" b="1"/>
              <a:t>Common </a:t>
            </a:r>
            <a:r>
              <a:rPr lang="en-US" altLang="zh-CN" b="1"/>
              <a:t>P</a:t>
            </a:r>
            <a:r>
              <a:rPr lang="en-US" b="1"/>
              <a:t>attern: </a:t>
            </a:r>
            <a:r>
              <a:rPr lang="en-US"/>
              <a:t>Claiming to be only studying correlation when the research question is fundamentally a question about causal relationships</a:t>
            </a:r>
          </a:p>
        </p:txBody>
      </p:sp>
      <p:sp>
        <p:nvSpPr>
          <p:cNvPr id="4" name="Footer Placeholder 3">
            <a:extLst>
              <a:ext uri="{FF2B5EF4-FFF2-40B4-BE49-F238E27FC236}">
                <a16:creationId xmlns:a16="http://schemas.microsoft.com/office/drawing/2014/main" id="{F62B9656-5395-39DE-E91F-A011482E681E}"/>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700B601-7FF3-280D-1BB5-79A20BDA18E9}"/>
              </a:ext>
            </a:extLst>
          </p:cNvPr>
          <p:cNvSpPr>
            <a:spLocks noGrp="1"/>
          </p:cNvSpPr>
          <p:nvPr>
            <p:ph type="sldNum" sz="quarter" idx="12"/>
          </p:nvPr>
        </p:nvSpPr>
        <p:spPr/>
        <p:txBody>
          <a:bodyPr/>
          <a:lstStyle/>
          <a:p>
            <a:fld id="{8E90A93A-CBEB-40B0-B638-E400989BEC3F}" type="slidenum">
              <a:rPr lang="zh-CN" altLang="en-US" smtClean="0"/>
              <a:pPr/>
              <a:t>9</a:t>
            </a:fld>
            <a:endParaRPr lang="zh-CN" altLang="en-US"/>
          </a:p>
        </p:txBody>
      </p:sp>
      <p:pic>
        <p:nvPicPr>
          <p:cNvPr id="7" name="Picture 6">
            <a:extLst>
              <a:ext uri="{FF2B5EF4-FFF2-40B4-BE49-F238E27FC236}">
                <a16:creationId xmlns:a16="http://schemas.microsoft.com/office/drawing/2014/main" id="{39618A3B-7FA2-FF5C-A46A-393F744CD4EC}"/>
              </a:ext>
            </a:extLst>
          </p:cNvPr>
          <p:cNvPicPr>
            <a:picLocks noChangeAspect="1"/>
          </p:cNvPicPr>
          <p:nvPr/>
        </p:nvPicPr>
        <p:blipFill>
          <a:blip r:embed="rId2"/>
          <a:stretch>
            <a:fillRect/>
          </a:stretch>
        </p:blipFill>
        <p:spPr>
          <a:xfrm>
            <a:off x="640399" y="1698245"/>
            <a:ext cx="5264981" cy="1398833"/>
          </a:xfrm>
          <a:prstGeom prst="rect">
            <a:avLst/>
          </a:prstGeom>
        </p:spPr>
      </p:pic>
      <p:pic>
        <p:nvPicPr>
          <p:cNvPr id="9" name="Picture 8">
            <a:extLst>
              <a:ext uri="{FF2B5EF4-FFF2-40B4-BE49-F238E27FC236}">
                <a16:creationId xmlns:a16="http://schemas.microsoft.com/office/drawing/2014/main" id="{42A0F50E-1F07-B3C9-1B7F-7E58A1FA7D35}"/>
              </a:ext>
            </a:extLst>
          </p:cNvPr>
          <p:cNvPicPr>
            <a:picLocks noChangeAspect="1"/>
          </p:cNvPicPr>
          <p:nvPr/>
        </p:nvPicPr>
        <p:blipFill>
          <a:blip r:embed="rId3"/>
          <a:stretch>
            <a:fillRect/>
          </a:stretch>
        </p:blipFill>
        <p:spPr>
          <a:xfrm>
            <a:off x="221653" y="3608663"/>
            <a:ext cx="5874347" cy="1551092"/>
          </a:xfrm>
          <a:prstGeom prst="rect">
            <a:avLst/>
          </a:prstGeom>
        </p:spPr>
      </p:pic>
      <p:pic>
        <p:nvPicPr>
          <p:cNvPr id="11" name="Picture 10">
            <a:extLst>
              <a:ext uri="{FF2B5EF4-FFF2-40B4-BE49-F238E27FC236}">
                <a16:creationId xmlns:a16="http://schemas.microsoft.com/office/drawing/2014/main" id="{CB88FE83-2A3F-B3F4-0E0B-A85B6A13C60A}"/>
              </a:ext>
            </a:extLst>
          </p:cNvPr>
          <p:cNvPicPr>
            <a:picLocks noChangeAspect="1"/>
          </p:cNvPicPr>
          <p:nvPr/>
        </p:nvPicPr>
        <p:blipFill>
          <a:blip r:embed="rId4"/>
          <a:stretch>
            <a:fillRect/>
          </a:stretch>
        </p:blipFill>
        <p:spPr>
          <a:xfrm>
            <a:off x="439446" y="5159755"/>
            <a:ext cx="5612462" cy="921449"/>
          </a:xfrm>
          <a:prstGeom prst="rect">
            <a:avLst/>
          </a:prstGeom>
        </p:spPr>
      </p:pic>
      <p:pic>
        <p:nvPicPr>
          <p:cNvPr id="13" name="Picture 12">
            <a:extLst>
              <a:ext uri="{FF2B5EF4-FFF2-40B4-BE49-F238E27FC236}">
                <a16:creationId xmlns:a16="http://schemas.microsoft.com/office/drawing/2014/main" id="{26164A51-89EE-8674-07B5-3BF6E43E4D1D}"/>
              </a:ext>
            </a:extLst>
          </p:cNvPr>
          <p:cNvPicPr>
            <a:picLocks noChangeAspect="1"/>
          </p:cNvPicPr>
          <p:nvPr/>
        </p:nvPicPr>
        <p:blipFill>
          <a:blip r:embed="rId5"/>
          <a:stretch>
            <a:fillRect/>
          </a:stretch>
        </p:blipFill>
        <p:spPr>
          <a:xfrm>
            <a:off x="6199219" y="1694554"/>
            <a:ext cx="5589582" cy="1279465"/>
          </a:xfrm>
          <a:prstGeom prst="rect">
            <a:avLst/>
          </a:prstGeom>
        </p:spPr>
      </p:pic>
      <p:pic>
        <p:nvPicPr>
          <p:cNvPr id="17" name="Picture 16">
            <a:extLst>
              <a:ext uri="{FF2B5EF4-FFF2-40B4-BE49-F238E27FC236}">
                <a16:creationId xmlns:a16="http://schemas.microsoft.com/office/drawing/2014/main" id="{A8303897-8E8A-CC9A-FC75-246849ED88A0}"/>
              </a:ext>
            </a:extLst>
          </p:cNvPr>
          <p:cNvPicPr>
            <a:picLocks noChangeAspect="1"/>
          </p:cNvPicPr>
          <p:nvPr/>
        </p:nvPicPr>
        <p:blipFill>
          <a:blip r:embed="rId6"/>
          <a:stretch>
            <a:fillRect/>
          </a:stretch>
        </p:blipFill>
        <p:spPr>
          <a:xfrm>
            <a:off x="6199219" y="3754437"/>
            <a:ext cx="5591048" cy="2255480"/>
          </a:xfrm>
          <a:prstGeom prst="rect">
            <a:avLst/>
          </a:prstGeom>
        </p:spPr>
      </p:pic>
    </p:spTree>
    <p:extLst>
      <p:ext uri="{BB962C8B-B14F-4D97-AF65-F5344CB8AC3E}">
        <p14:creationId xmlns:p14="http://schemas.microsoft.com/office/powerpoint/2010/main" val="3812095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F3956-C2D0-1484-C650-7596A8F25E82}"/>
              </a:ext>
            </a:extLst>
          </p:cNvPr>
          <p:cNvSpPr>
            <a:spLocks noGrp="1"/>
          </p:cNvSpPr>
          <p:nvPr>
            <p:ph type="title"/>
          </p:nvPr>
        </p:nvSpPr>
        <p:spPr/>
        <p:txBody>
          <a:bodyPr>
            <a:normAutofit fontScale="90000"/>
          </a:bodyPr>
          <a:lstStyle/>
          <a:p>
            <a:r>
              <a:rPr lang="en-US"/>
              <a:t>Even a “causal inference” method is claimed, SE research may fail to discuss the nuance of underlying assumptions and when you can make a causal claim</a:t>
            </a:r>
          </a:p>
        </p:txBody>
      </p:sp>
      <p:sp>
        <p:nvSpPr>
          <p:cNvPr id="3" name="Content Placeholder 2">
            <a:extLst>
              <a:ext uri="{FF2B5EF4-FFF2-40B4-BE49-F238E27FC236}">
                <a16:creationId xmlns:a16="http://schemas.microsoft.com/office/drawing/2014/main" id="{A0F6E6D3-C5BC-1E62-D1A6-1934E4311CFE}"/>
              </a:ext>
            </a:extLst>
          </p:cNvPr>
          <p:cNvSpPr>
            <a:spLocks noGrp="1"/>
          </p:cNvSpPr>
          <p:nvPr>
            <p:ph idx="1"/>
          </p:nvPr>
        </p:nvSpPr>
        <p:spPr>
          <a:xfrm>
            <a:off x="320949" y="1205069"/>
            <a:ext cx="5635968" cy="5081939"/>
          </a:xfrm>
        </p:spPr>
        <p:txBody>
          <a:bodyPr/>
          <a:lstStyle/>
          <a:p>
            <a:r>
              <a:rPr lang="en-US" b="1" dirty="0"/>
              <a:t>Example: </a:t>
            </a:r>
            <a:r>
              <a:rPr lang="en-US" dirty="0"/>
              <a:t>Use propensity score matching without </a:t>
            </a:r>
            <a:r>
              <a:rPr lang="en-US" dirty="0">
                <a:solidFill>
                  <a:srgbClr val="FF0000"/>
                </a:solidFill>
              </a:rPr>
              <a:t>assessing</a:t>
            </a:r>
            <a:r>
              <a:rPr lang="en-US" dirty="0"/>
              <a:t> </a:t>
            </a:r>
            <a:r>
              <a:rPr lang="en-US" altLang="zh-CN" dirty="0"/>
              <a:t>the</a:t>
            </a:r>
            <a:r>
              <a:rPr lang="en-US" dirty="0"/>
              <a:t> conditional </a:t>
            </a:r>
            <a:r>
              <a:rPr lang="en-US" dirty="0" err="1"/>
              <a:t>ignorability</a:t>
            </a:r>
            <a:r>
              <a:rPr lang="en-US" dirty="0"/>
              <a:t> assumption</a:t>
            </a:r>
          </a:p>
        </p:txBody>
      </p:sp>
      <p:sp>
        <p:nvSpPr>
          <p:cNvPr id="4" name="Footer Placeholder 3">
            <a:extLst>
              <a:ext uri="{FF2B5EF4-FFF2-40B4-BE49-F238E27FC236}">
                <a16:creationId xmlns:a16="http://schemas.microsoft.com/office/drawing/2014/main" id="{43C2D371-9CEC-8006-BE02-3D38A59247F3}"/>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50C8C556-0DDE-2817-E516-D0A41DCC1949}"/>
              </a:ext>
            </a:extLst>
          </p:cNvPr>
          <p:cNvSpPr>
            <a:spLocks noGrp="1"/>
          </p:cNvSpPr>
          <p:nvPr>
            <p:ph type="sldNum" sz="quarter" idx="12"/>
          </p:nvPr>
        </p:nvSpPr>
        <p:spPr/>
        <p:txBody>
          <a:bodyPr/>
          <a:lstStyle/>
          <a:p>
            <a:fld id="{8E90A93A-CBEB-40B0-B638-E400989BEC3F}" type="slidenum">
              <a:rPr lang="zh-CN" altLang="en-US" smtClean="0"/>
              <a:pPr/>
              <a:t>10</a:t>
            </a:fld>
            <a:endParaRPr lang="zh-CN" altLang="en-US"/>
          </a:p>
        </p:txBody>
      </p:sp>
      <p:sp>
        <p:nvSpPr>
          <p:cNvPr id="6" name="Content Placeholder 2">
            <a:extLst>
              <a:ext uri="{FF2B5EF4-FFF2-40B4-BE49-F238E27FC236}">
                <a16:creationId xmlns:a16="http://schemas.microsoft.com/office/drawing/2014/main" id="{087F5963-96B9-2243-ECAD-908D63E40E2F}"/>
              </a:ext>
            </a:extLst>
          </p:cNvPr>
          <p:cNvSpPr txBox="1">
            <a:spLocks/>
          </p:cNvSpPr>
          <p:nvPr/>
        </p:nvSpPr>
        <p:spPr>
          <a:xfrm>
            <a:off x="6115466" y="1219913"/>
            <a:ext cx="5635968" cy="52729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Example: </a:t>
            </a:r>
            <a:r>
              <a:rPr lang="en-US"/>
              <a:t>Believe that experiment is golden standard without </a:t>
            </a:r>
            <a:r>
              <a:rPr lang="en-US">
                <a:solidFill>
                  <a:srgbClr val="FF0000"/>
                </a:solidFill>
              </a:rPr>
              <a:t>assessing</a:t>
            </a:r>
            <a:r>
              <a:rPr lang="en-US"/>
              <a:t> if randomization can be truly achieved</a:t>
            </a:r>
          </a:p>
          <a:p>
            <a:pPr lvl="1"/>
            <a:r>
              <a:rPr lang="en-US" altLang="zh-CN"/>
              <a:t>Believe that a small sample (N=30) achieve sufficient randomization</a:t>
            </a:r>
            <a:endParaRPr lang="en-US"/>
          </a:p>
          <a:p>
            <a:pPr lvl="1"/>
            <a:r>
              <a:rPr lang="en-US"/>
              <a:t>Randomization on non-randomizable treatment </a:t>
            </a:r>
          </a:p>
          <a:p>
            <a:pPr lvl="2"/>
            <a:r>
              <a:rPr lang="en-US"/>
              <a:t>e.g., compare men vs. women </a:t>
            </a:r>
            <a:r>
              <a:rPr lang="en-US" altLang="zh-CN"/>
              <a:t>in software engineering</a:t>
            </a:r>
            <a:endParaRPr lang="en-US"/>
          </a:p>
          <a:p>
            <a:pPr marL="914400" lvl="2" indent="0">
              <a:buNone/>
            </a:pPr>
            <a:r>
              <a:rPr lang="en-US"/>
              <a:t>=&gt; strong selection bias in place</a:t>
            </a:r>
          </a:p>
          <a:p>
            <a:pPr lvl="2"/>
            <a:endParaRPr lang="en-US"/>
          </a:p>
          <a:p>
            <a:pPr marL="914400" lvl="2" indent="0">
              <a:buNone/>
            </a:pPr>
            <a:endParaRPr lang="en-US"/>
          </a:p>
          <a:p>
            <a:pPr lvl="1"/>
            <a:endParaRPr lang="en-US" sz="2000"/>
          </a:p>
        </p:txBody>
      </p:sp>
      <p:pic>
        <p:nvPicPr>
          <p:cNvPr id="10" name="Picture 9">
            <a:extLst>
              <a:ext uri="{FF2B5EF4-FFF2-40B4-BE49-F238E27FC236}">
                <a16:creationId xmlns:a16="http://schemas.microsoft.com/office/drawing/2014/main" id="{B276FDF5-924B-DEE4-6471-73212A85185A}"/>
              </a:ext>
            </a:extLst>
          </p:cNvPr>
          <p:cNvPicPr>
            <a:picLocks noChangeAspect="1"/>
          </p:cNvPicPr>
          <p:nvPr/>
        </p:nvPicPr>
        <p:blipFill>
          <a:blip r:embed="rId2"/>
          <a:stretch>
            <a:fillRect/>
          </a:stretch>
        </p:blipFill>
        <p:spPr>
          <a:xfrm>
            <a:off x="772142" y="4658847"/>
            <a:ext cx="4785281" cy="1414172"/>
          </a:xfrm>
          <a:prstGeom prst="rect">
            <a:avLst/>
          </a:prstGeom>
        </p:spPr>
      </p:pic>
      <p:pic>
        <p:nvPicPr>
          <p:cNvPr id="12" name="Picture 11">
            <a:extLst>
              <a:ext uri="{FF2B5EF4-FFF2-40B4-BE49-F238E27FC236}">
                <a16:creationId xmlns:a16="http://schemas.microsoft.com/office/drawing/2014/main" id="{E5F7CDCF-F313-2CCD-D4DE-EF6F2DCA9D5C}"/>
              </a:ext>
            </a:extLst>
          </p:cNvPr>
          <p:cNvPicPr>
            <a:picLocks noChangeAspect="1"/>
          </p:cNvPicPr>
          <p:nvPr/>
        </p:nvPicPr>
        <p:blipFill>
          <a:blip r:embed="rId3"/>
          <a:stretch>
            <a:fillRect/>
          </a:stretch>
        </p:blipFill>
        <p:spPr>
          <a:xfrm>
            <a:off x="701118" y="2794966"/>
            <a:ext cx="4734061" cy="1714889"/>
          </a:xfrm>
          <a:prstGeom prst="rect">
            <a:avLst/>
          </a:prstGeom>
        </p:spPr>
      </p:pic>
    </p:spTree>
    <p:extLst>
      <p:ext uri="{BB962C8B-B14F-4D97-AF65-F5344CB8AC3E}">
        <p14:creationId xmlns:p14="http://schemas.microsoft.com/office/powerpoint/2010/main" val="401995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7BF0-2D79-A4C6-CC31-E60CEA384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4E4B8-7C42-25C0-B08E-B0074038CC06}"/>
              </a:ext>
            </a:extLst>
          </p:cNvPr>
          <p:cNvSpPr>
            <a:spLocks noGrp="1"/>
          </p:cNvSpPr>
          <p:nvPr>
            <p:ph type="title"/>
          </p:nvPr>
        </p:nvSpPr>
        <p:spPr>
          <a:xfrm>
            <a:off x="441122" y="2932769"/>
            <a:ext cx="11584418" cy="1230209"/>
          </a:xfrm>
        </p:spPr>
        <p:txBody>
          <a:bodyPr>
            <a:normAutofit/>
          </a:bodyPr>
          <a:lstStyle/>
          <a:p>
            <a:r>
              <a:rPr lang="en-US" dirty="0"/>
              <a:t>Without a framework and language of causal credibility, </a:t>
            </a:r>
            <a:r>
              <a:rPr lang="en-US" b="1" dirty="0"/>
              <a:t>one has to be an expert to assess the strength of causal claims </a:t>
            </a:r>
            <a:r>
              <a:rPr lang="en-US" dirty="0"/>
              <a:t>in each paper</a:t>
            </a:r>
            <a:endParaRPr lang="en-US" b="1" dirty="0"/>
          </a:p>
        </p:txBody>
      </p:sp>
      <p:sp>
        <p:nvSpPr>
          <p:cNvPr id="4" name="Footer Placeholder 3">
            <a:extLst>
              <a:ext uri="{FF2B5EF4-FFF2-40B4-BE49-F238E27FC236}">
                <a16:creationId xmlns:a16="http://schemas.microsoft.com/office/drawing/2014/main" id="{86024C60-B89E-4E06-B69F-01BADAF55A4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54DF4C0B-C3E1-3DE8-372A-91B092874A69}"/>
              </a:ext>
            </a:extLst>
          </p:cNvPr>
          <p:cNvSpPr>
            <a:spLocks noGrp="1"/>
          </p:cNvSpPr>
          <p:nvPr>
            <p:ph type="sldNum" sz="quarter" idx="12"/>
          </p:nvPr>
        </p:nvSpPr>
        <p:spPr/>
        <p:txBody>
          <a:bodyPr/>
          <a:lstStyle/>
          <a:p>
            <a:fld id="{8E90A93A-CBEB-40B0-B638-E400989BEC3F}" type="slidenum">
              <a:rPr lang="zh-CN" altLang="en-US" smtClean="0"/>
              <a:pPr/>
              <a:t>11</a:t>
            </a:fld>
            <a:endParaRPr lang="zh-CN" altLang="en-US"/>
          </a:p>
        </p:txBody>
      </p:sp>
    </p:spTree>
    <p:extLst>
      <p:ext uri="{BB962C8B-B14F-4D97-AF65-F5344CB8AC3E}">
        <p14:creationId xmlns:p14="http://schemas.microsoft.com/office/powerpoint/2010/main" val="2779981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31C7-E5CE-88C8-0715-D37F863C0524}"/>
              </a:ext>
            </a:extLst>
          </p:cNvPr>
          <p:cNvSpPr>
            <a:spLocks noGrp="1"/>
          </p:cNvSpPr>
          <p:nvPr>
            <p:ph type="title"/>
          </p:nvPr>
        </p:nvSpPr>
        <p:spPr/>
        <p:txBody>
          <a:bodyPr/>
          <a:lstStyle/>
          <a:p>
            <a:r>
              <a:rPr lang="en-US"/>
              <a:t>The Art of Causal Inference on Observational Data</a:t>
            </a:r>
          </a:p>
        </p:txBody>
      </p:sp>
      <p:sp>
        <p:nvSpPr>
          <p:cNvPr id="4" name="Footer Placeholder 3">
            <a:extLst>
              <a:ext uri="{FF2B5EF4-FFF2-40B4-BE49-F238E27FC236}">
                <a16:creationId xmlns:a16="http://schemas.microsoft.com/office/drawing/2014/main" id="{0396485D-9069-99B0-112E-8C0ED1AC70A7}"/>
              </a:ext>
            </a:extLst>
          </p:cNvPr>
          <p:cNvSpPr>
            <a:spLocks noGrp="1"/>
          </p:cNvSpPr>
          <p:nvPr>
            <p:ph type="ftr" sz="quarter" idx="11"/>
          </p:nvPr>
        </p:nvSpPr>
        <p:spPr>
          <a:xfrm>
            <a:off x="320948" y="6492875"/>
            <a:ext cx="7835500" cy="365125"/>
          </a:xfrm>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0FBE6FF-25B8-2D47-09B2-5EC0C0E05673}"/>
              </a:ext>
            </a:extLst>
          </p:cNvPr>
          <p:cNvSpPr>
            <a:spLocks noGrp="1"/>
          </p:cNvSpPr>
          <p:nvPr>
            <p:ph type="sldNum" sz="quarter" idx="12"/>
          </p:nvPr>
        </p:nvSpPr>
        <p:spPr/>
        <p:txBody>
          <a:bodyPr/>
          <a:lstStyle/>
          <a:p>
            <a:fld id="{8E90A93A-CBEB-40B0-B638-E400989BEC3F}" type="slidenum">
              <a:rPr lang="zh-CN" altLang="en-US" smtClean="0"/>
              <a:pPr/>
              <a:t>12</a:t>
            </a:fld>
            <a:endParaRPr lang="zh-CN" altLang="en-US"/>
          </a:p>
        </p:txBody>
      </p:sp>
      <p:pic>
        <p:nvPicPr>
          <p:cNvPr id="1026" name="Picture 2" descr="Causal Inference The Mixtape">
            <a:extLst>
              <a:ext uri="{FF2B5EF4-FFF2-40B4-BE49-F238E27FC236}">
                <a16:creationId xmlns:a16="http://schemas.microsoft.com/office/drawing/2014/main" id="{D99598C8-BB27-2595-AC63-A0DE34966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6374" y="1270648"/>
            <a:ext cx="2934337" cy="4535362"/>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Stata Bookstore: Econometrics">
            <a:extLst>
              <a:ext uri="{FF2B5EF4-FFF2-40B4-BE49-F238E27FC236}">
                <a16:creationId xmlns:a16="http://schemas.microsoft.com/office/drawing/2014/main" id="{7F1299B6-D907-BC34-3DD1-599B86B9D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331" y="1270647"/>
            <a:ext cx="3577293" cy="4520007"/>
          </a:xfrm>
          <a:prstGeom prst="rect">
            <a:avLst/>
          </a:prstGeom>
          <a:noFill/>
          <a:ln>
            <a:solidFill>
              <a:srgbClr val="000000"/>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CAUSALITY, 2nd Edition, 2009">
            <a:extLst>
              <a:ext uri="{FF2B5EF4-FFF2-40B4-BE49-F238E27FC236}">
                <a16:creationId xmlns:a16="http://schemas.microsoft.com/office/drawing/2014/main" id="{625CB55C-376D-C8E2-CDAB-FB8EBF7B3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53" y="1270647"/>
            <a:ext cx="3191209" cy="4520007"/>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47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02AE-57C3-7A79-78D5-212DDF742F32}"/>
              </a:ext>
            </a:extLst>
          </p:cNvPr>
          <p:cNvSpPr>
            <a:spLocks noGrp="1"/>
          </p:cNvSpPr>
          <p:nvPr>
            <p:ph type="title"/>
          </p:nvPr>
        </p:nvSpPr>
        <p:spPr/>
        <p:txBody>
          <a:bodyPr/>
          <a:lstStyle/>
          <a:p>
            <a:r>
              <a:rPr lang="en-US"/>
              <a:t>Causal Directed Acyclic Graphs (DAGs)</a:t>
            </a:r>
          </a:p>
        </p:txBody>
      </p:sp>
      <p:sp>
        <p:nvSpPr>
          <p:cNvPr id="3" name="Content Placeholder 2">
            <a:extLst>
              <a:ext uri="{FF2B5EF4-FFF2-40B4-BE49-F238E27FC236}">
                <a16:creationId xmlns:a16="http://schemas.microsoft.com/office/drawing/2014/main" id="{6B96CAE7-9F7E-23F0-D89B-1D834216776E}"/>
              </a:ext>
            </a:extLst>
          </p:cNvPr>
          <p:cNvSpPr>
            <a:spLocks noGrp="1"/>
          </p:cNvSpPr>
          <p:nvPr>
            <p:ph idx="1"/>
          </p:nvPr>
        </p:nvSpPr>
        <p:spPr/>
        <p:txBody>
          <a:bodyPr>
            <a:normAutofit/>
          </a:bodyPr>
          <a:lstStyle/>
          <a:p>
            <a:r>
              <a:rPr lang="en-US" dirty="0"/>
              <a:t>A way of formally specifying causal relationships</a:t>
            </a:r>
          </a:p>
          <a:p>
            <a:endParaRPr lang="en-US" dirty="0"/>
          </a:p>
          <a:p>
            <a:endParaRPr lang="en-US" dirty="0"/>
          </a:p>
          <a:p>
            <a:endParaRPr lang="en-US" dirty="0"/>
          </a:p>
          <a:p>
            <a:pPr marL="0" indent="0">
              <a:buNone/>
            </a:pPr>
            <a:endParaRPr lang="en-US" dirty="0"/>
          </a:p>
          <a:p>
            <a:endParaRPr lang="en-US" dirty="0"/>
          </a:p>
          <a:p>
            <a:endParaRPr lang="en-US" dirty="0"/>
          </a:p>
          <a:p>
            <a:r>
              <a:rPr lang="en-US" dirty="0"/>
              <a:t>Much more nuanced than what we show here,</a:t>
            </a:r>
            <a:r>
              <a:rPr lang="zh-CN" altLang="en-US" dirty="0"/>
              <a:t> </a:t>
            </a:r>
            <a:r>
              <a:rPr lang="en-US" altLang="zh-CN" dirty="0"/>
              <a:t>see: </a:t>
            </a:r>
            <a:r>
              <a:rPr lang="en-US" dirty="0">
                <a:hlinkClick r:id="rId2"/>
              </a:rPr>
              <a:t>https://mixtape.scunning.com/03-directed_acyclical_graphs</a:t>
            </a:r>
            <a:r>
              <a:rPr lang="en-US" dirty="0"/>
              <a:t> </a:t>
            </a:r>
          </a:p>
        </p:txBody>
      </p:sp>
      <p:sp>
        <p:nvSpPr>
          <p:cNvPr id="4" name="Footer Placeholder 3">
            <a:extLst>
              <a:ext uri="{FF2B5EF4-FFF2-40B4-BE49-F238E27FC236}">
                <a16:creationId xmlns:a16="http://schemas.microsoft.com/office/drawing/2014/main" id="{2E1DABA6-522C-D164-FE31-C34CBA0863B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0B6F0AA-A50E-E274-048C-A494E2A77E7F}"/>
              </a:ext>
            </a:extLst>
          </p:cNvPr>
          <p:cNvSpPr>
            <a:spLocks noGrp="1"/>
          </p:cNvSpPr>
          <p:nvPr>
            <p:ph type="sldNum" sz="quarter" idx="12"/>
          </p:nvPr>
        </p:nvSpPr>
        <p:spPr/>
        <p:txBody>
          <a:bodyPr/>
          <a:lstStyle/>
          <a:p>
            <a:fld id="{8E90A93A-CBEB-40B0-B638-E400989BEC3F}" type="slidenum">
              <a:rPr lang="zh-CN" altLang="en-US" smtClean="0"/>
              <a:pPr/>
              <a:t>13</a:t>
            </a:fld>
            <a:endParaRPr lang="zh-CN" altLang="en-US"/>
          </a:p>
        </p:txBody>
      </p:sp>
      <p:sp>
        <p:nvSpPr>
          <p:cNvPr id="6" name="Rectangle 5">
            <a:extLst>
              <a:ext uri="{FF2B5EF4-FFF2-40B4-BE49-F238E27FC236}">
                <a16:creationId xmlns:a16="http://schemas.microsoft.com/office/drawing/2014/main" id="{CE9AC132-9758-1D61-9453-305DD8FC7FE7}"/>
              </a:ext>
            </a:extLst>
          </p:cNvPr>
          <p:cNvSpPr/>
          <p:nvPr/>
        </p:nvSpPr>
        <p:spPr>
          <a:xfrm>
            <a:off x="3377954" y="1974057"/>
            <a:ext cx="3515557"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dirty="0">
                <a:latin typeface="Gadugi" panose="020B0502040204020203" pitchFamily="34" charset="0"/>
                <a:ea typeface="Gadugi" panose="020B0502040204020203" pitchFamily="34" charset="0"/>
              </a:rPr>
              <a:t>Programming Language</a:t>
            </a:r>
            <a:endParaRPr lang="en-US" sz="2400" dirty="0">
              <a:latin typeface="Gadugi" panose="020B0502040204020203" pitchFamily="34" charset="0"/>
              <a:ea typeface="Gadugi" panose="020B0502040204020203" pitchFamily="34" charset="0"/>
            </a:endParaRPr>
          </a:p>
        </p:txBody>
      </p:sp>
      <p:sp>
        <p:nvSpPr>
          <p:cNvPr id="7" name="Rectangle 6">
            <a:extLst>
              <a:ext uri="{FF2B5EF4-FFF2-40B4-BE49-F238E27FC236}">
                <a16:creationId xmlns:a16="http://schemas.microsoft.com/office/drawing/2014/main" id="{954F8CB3-368F-DD50-B942-6CBA6AECBB09}"/>
              </a:ext>
            </a:extLst>
          </p:cNvPr>
          <p:cNvSpPr/>
          <p:nvPr/>
        </p:nvSpPr>
        <p:spPr>
          <a:xfrm>
            <a:off x="7825667" y="1974057"/>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Defect Proneness</a:t>
            </a:r>
          </a:p>
        </p:txBody>
      </p:sp>
      <p:cxnSp>
        <p:nvCxnSpPr>
          <p:cNvPr id="8" name="Straight Arrow Connector 7">
            <a:extLst>
              <a:ext uri="{FF2B5EF4-FFF2-40B4-BE49-F238E27FC236}">
                <a16:creationId xmlns:a16="http://schemas.microsoft.com/office/drawing/2014/main" id="{59FA7300-2FC0-ECE2-D4E7-D25343906DC9}"/>
              </a:ext>
            </a:extLst>
          </p:cNvPr>
          <p:cNvCxnSpPr>
            <a:cxnSpLocks/>
            <a:stCxn id="6" idx="3"/>
            <a:endCxn id="7" idx="1"/>
          </p:cNvCxnSpPr>
          <p:nvPr/>
        </p:nvCxnSpPr>
        <p:spPr>
          <a:xfrm>
            <a:off x="6893511" y="2219435"/>
            <a:ext cx="93215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F5784FF3-FF75-681E-7D0A-BA00F399D90F}"/>
              </a:ext>
            </a:extLst>
          </p:cNvPr>
          <p:cNvSpPr txBox="1"/>
          <p:nvPr/>
        </p:nvSpPr>
        <p:spPr>
          <a:xfrm>
            <a:off x="567061" y="2003147"/>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Direct Relationship</a:t>
            </a:r>
            <a:endParaRPr lang="en-US" sz="2400"/>
          </a:p>
        </p:txBody>
      </p:sp>
      <p:sp>
        <p:nvSpPr>
          <p:cNvPr id="20" name="TextBox 19">
            <a:extLst>
              <a:ext uri="{FF2B5EF4-FFF2-40B4-BE49-F238E27FC236}">
                <a16:creationId xmlns:a16="http://schemas.microsoft.com/office/drawing/2014/main" id="{F7DB56BC-69D7-85BE-E857-B1941FABBB38}"/>
              </a:ext>
            </a:extLst>
          </p:cNvPr>
          <p:cNvSpPr txBox="1"/>
          <p:nvPr/>
        </p:nvSpPr>
        <p:spPr>
          <a:xfrm>
            <a:off x="567061" y="2888947"/>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Confounders</a:t>
            </a:r>
            <a:endParaRPr lang="en-US" sz="2400"/>
          </a:p>
        </p:txBody>
      </p:sp>
      <p:sp>
        <p:nvSpPr>
          <p:cNvPr id="24" name="Rectangle 23">
            <a:extLst>
              <a:ext uri="{FF2B5EF4-FFF2-40B4-BE49-F238E27FC236}">
                <a16:creationId xmlns:a16="http://schemas.microsoft.com/office/drawing/2014/main" id="{7C2BC617-DCA1-8C54-C21F-DC940B0ECD33}"/>
              </a:ext>
            </a:extLst>
          </p:cNvPr>
          <p:cNvSpPr/>
          <p:nvPr/>
        </p:nvSpPr>
        <p:spPr>
          <a:xfrm>
            <a:off x="5844406" y="2859857"/>
            <a:ext cx="2738312"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Task Difficulty</a:t>
            </a:r>
            <a:endParaRPr lang="en-US" sz="2400">
              <a:latin typeface="Gadugi" panose="020B0502040204020203" pitchFamily="34" charset="0"/>
              <a:ea typeface="Gadugi" panose="020B0502040204020203" pitchFamily="34" charset="0"/>
            </a:endParaRPr>
          </a:p>
        </p:txBody>
      </p:sp>
      <p:cxnSp>
        <p:nvCxnSpPr>
          <p:cNvPr id="25" name="Straight Arrow Connector 24">
            <a:extLst>
              <a:ext uri="{FF2B5EF4-FFF2-40B4-BE49-F238E27FC236}">
                <a16:creationId xmlns:a16="http://schemas.microsoft.com/office/drawing/2014/main" id="{0EF3D79C-55AA-9957-9A6C-5DB13BC20A0E}"/>
              </a:ext>
            </a:extLst>
          </p:cNvPr>
          <p:cNvCxnSpPr>
            <a:cxnSpLocks/>
            <a:stCxn id="24" idx="0"/>
            <a:endCxn id="6" idx="2"/>
          </p:cNvCxnSpPr>
          <p:nvPr/>
        </p:nvCxnSpPr>
        <p:spPr>
          <a:xfrm flipH="1" flipV="1">
            <a:off x="5135733" y="2464812"/>
            <a:ext cx="2077829" cy="3950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DD83CEAD-819A-9C44-DE66-D8519773ED04}"/>
              </a:ext>
            </a:extLst>
          </p:cNvPr>
          <p:cNvCxnSpPr>
            <a:cxnSpLocks/>
            <a:stCxn id="24" idx="0"/>
            <a:endCxn id="7" idx="2"/>
          </p:cNvCxnSpPr>
          <p:nvPr/>
        </p:nvCxnSpPr>
        <p:spPr>
          <a:xfrm flipV="1">
            <a:off x="7213562" y="2464812"/>
            <a:ext cx="2139064" cy="3950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527E21C8-8284-9577-5398-55E7EA52CF96}"/>
              </a:ext>
            </a:extLst>
          </p:cNvPr>
          <p:cNvSpPr txBox="1"/>
          <p:nvPr/>
        </p:nvSpPr>
        <p:spPr>
          <a:xfrm>
            <a:off x="567060" y="4650024"/>
            <a:ext cx="8426019"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Colliders / Backdoors (not shown here for brevity)</a:t>
            </a:r>
            <a:endParaRPr lang="en-US" sz="2400"/>
          </a:p>
        </p:txBody>
      </p:sp>
      <p:sp>
        <p:nvSpPr>
          <p:cNvPr id="38" name="Rectangle 37">
            <a:extLst>
              <a:ext uri="{FF2B5EF4-FFF2-40B4-BE49-F238E27FC236}">
                <a16:creationId xmlns:a16="http://schemas.microsoft.com/office/drawing/2014/main" id="{597A438F-CD6C-F3BB-E25D-FB74F68B1FDB}"/>
              </a:ext>
            </a:extLst>
          </p:cNvPr>
          <p:cNvSpPr/>
          <p:nvPr/>
        </p:nvSpPr>
        <p:spPr>
          <a:xfrm>
            <a:off x="2829019" y="3810845"/>
            <a:ext cx="1862830"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Team Skill</a:t>
            </a:r>
            <a:endParaRPr lang="en-US" sz="2400">
              <a:latin typeface="Gadugi" panose="020B0502040204020203" pitchFamily="34" charset="0"/>
              <a:ea typeface="Gadugi" panose="020B0502040204020203" pitchFamily="34" charset="0"/>
            </a:endParaRPr>
          </a:p>
        </p:txBody>
      </p:sp>
      <p:sp>
        <p:nvSpPr>
          <p:cNvPr id="39" name="Rectangle 38">
            <a:extLst>
              <a:ext uri="{FF2B5EF4-FFF2-40B4-BE49-F238E27FC236}">
                <a16:creationId xmlns:a16="http://schemas.microsoft.com/office/drawing/2014/main" id="{9D7AEBD7-B63A-288A-2CBA-F9CF59774318}"/>
              </a:ext>
            </a:extLst>
          </p:cNvPr>
          <p:cNvSpPr/>
          <p:nvPr/>
        </p:nvSpPr>
        <p:spPr>
          <a:xfrm>
            <a:off x="8756343" y="3810845"/>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Defect Proneness</a:t>
            </a:r>
          </a:p>
        </p:txBody>
      </p:sp>
      <p:sp>
        <p:nvSpPr>
          <p:cNvPr id="40" name="Rectangle 39">
            <a:extLst>
              <a:ext uri="{FF2B5EF4-FFF2-40B4-BE49-F238E27FC236}">
                <a16:creationId xmlns:a16="http://schemas.microsoft.com/office/drawing/2014/main" id="{81A79DA1-71E3-A4E2-766E-71E62B73D7AB}"/>
              </a:ext>
            </a:extLst>
          </p:cNvPr>
          <p:cNvSpPr/>
          <p:nvPr/>
        </p:nvSpPr>
        <p:spPr>
          <a:xfrm>
            <a:off x="5178641" y="3810845"/>
            <a:ext cx="3053918" cy="4907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Code Complexity</a:t>
            </a:r>
          </a:p>
        </p:txBody>
      </p:sp>
      <p:cxnSp>
        <p:nvCxnSpPr>
          <p:cNvPr id="41" name="Straight Arrow Connector 40">
            <a:extLst>
              <a:ext uri="{FF2B5EF4-FFF2-40B4-BE49-F238E27FC236}">
                <a16:creationId xmlns:a16="http://schemas.microsoft.com/office/drawing/2014/main" id="{CC48BA29-19BE-0DF1-0AD5-E638E8221F09}"/>
              </a:ext>
            </a:extLst>
          </p:cNvPr>
          <p:cNvCxnSpPr>
            <a:cxnSpLocks/>
            <a:stCxn id="38" idx="3"/>
            <a:endCxn id="40" idx="1"/>
          </p:cNvCxnSpPr>
          <p:nvPr/>
        </p:nvCxnSpPr>
        <p:spPr>
          <a:xfrm>
            <a:off x="4691849" y="4056223"/>
            <a:ext cx="4867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FB42227-9037-4071-E05D-2BDD286AB991}"/>
              </a:ext>
            </a:extLst>
          </p:cNvPr>
          <p:cNvCxnSpPr>
            <a:cxnSpLocks/>
            <a:stCxn id="40" idx="3"/>
            <a:endCxn id="39" idx="1"/>
          </p:cNvCxnSpPr>
          <p:nvPr/>
        </p:nvCxnSpPr>
        <p:spPr>
          <a:xfrm>
            <a:off x="8232559" y="4056223"/>
            <a:ext cx="52378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F8C61B9A-4341-1AD0-14E0-5449F6560FFA}"/>
              </a:ext>
            </a:extLst>
          </p:cNvPr>
          <p:cNvSpPr txBox="1"/>
          <p:nvPr/>
        </p:nvSpPr>
        <p:spPr>
          <a:xfrm>
            <a:off x="567061" y="3838059"/>
            <a:ext cx="2868598" cy="461665"/>
          </a:xfrm>
          <a:prstGeom prst="rect">
            <a:avLst/>
          </a:prstGeom>
          <a:noFill/>
        </p:spPr>
        <p:txBody>
          <a:bodyPr wrap="square">
            <a:spAutoFit/>
          </a:bodyPr>
          <a:lstStyle/>
          <a:p>
            <a:r>
              <a:rPr lang="en-US" altLang="zh-CN" sz="2400">
                <a:latin typeface="Gadugi" panose="020B0502040204020203" pitchFamily="34" charset="0"/>
                <a:ea typeface="Gadugi" panose="020B0502040204020203" pitchFamily="34" charset="0"/>
              </a:rPr>
              <a:t>Mediators</a:t>
            </a:r>
            <a:endParaRPr lang="en-US" sz="2400"/>
          </a:p>
        </p:txBody>
      </p:sp>
    </p:spTree>
    <p:extLst>
      <p:ext uri="{BB962C8B-B14F-4D97-AF65-F5344CB8AC3E}">
        <p14:creationId xmlns:p14="http://schemas.microsoft.com/office/powerpoint/2010/main" val="2381455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7983-C86C-423A-13EB-8F07483ED959}"/>
              </a:ext>
            </a:extLst>
          </p:cNvPr>
          <p:cNvSpPr>
            <a:spLocks noGrp="1"/>
          </p:cNvSpPr>
          <p:nvPr>
            <p:ph type="title"/>
          </p:nvPr>
        </p:nvSpPr>
        <p:spPr/>
        <p:txBody>
          <a:bodyPr/>
          <a:lstStyle/>
          <a:p>
            <a:r>
              <a:rPr lang="en-US"/>
              <a:t>The Potential Outcome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DC5E45-FD2F-2DF1-846F-6C47584612B5}"/>
                  </a:ext>
                </a:extLst>
              </p:cNvPr>
              <p:cNvSpPr>
                <a:spLocks noGrp="1"/>
              </p:cNvSpPr>
              <p:nvPr>
                <p:ph idx="1"/>
              </p:nvPr>
            </p:nvSpPr>
            <p:spPr/>
            <p:txBody>
              <a:bodyPr>
                <a:normAutofit lnSpcReduction="10000"/>
              </a:bodyPr>
              <a:lstStyle/>
              <a:p>
                <a:r>
                  <a:rPr lang="en-US"/>
                  <a:t>A formal way of reasoning about </a:t>
                </a:r>
                <a:r>
                  <a:rPr lang="en-US">
                    <a:solidFill>
                      <a:srgbClr val="FF0000"/>
                    </a:solidFill>
                  </a:rPr>
                  <a:t>counterfactuals</a:t>
                </a:r>
              </a:p>
              <a:p>
                <a:pPr lvl="1"/>
                <a:r>
                  <a:rPr lang="en-US"/>
                  <a:t>In all study settings, we observe entities with treatment </a:t>
                </a:r>
                <a14:m>
                  <m:oMath xmlns:m="http://schemas.openxmlformats.org/officeDocument/2006/math">
                    <m:r>
                      <a:rPr lang="en-US" i="1">
                        <a:latin typeface="Cambria Math" panose="02040503050406030204" pitchFamily="18" charset="0"/>
                      </a:rPr>
                      <m:t>𝑋</m:t>
                    </m:r>
                  </m:oMath>
                </a14:m>
                <a:r>
                  <a:rPr lang="en-US"/>
                  <a:t> and without</a:t>
                </a:r>
              </a:p>
              <a:p>
                <a:pPr lvl="1"/>
                <a:r>
                  <a:rPr lang="en-US"/>
                  <a:t>The treatment effect on </a:t>
                </a:r>
                <a14:m>
                  <m:oMath xmlns:m="http://schemas.openxmlformats.org/officeDocument/2006/math">
                    <m:r>
                      <a:rPr lang="en-US" i="1">
                        <a:latin typeface="Cambria Math" panose="02040503050406030204" pitchFamily="18" charset="0"/>
                      </a:rPr>
                      <m:t>𝑌</m:t>
                    </m:r>
                  </m:oMath>
                </a14:m>
                <a:r>
                  <a:rPr lang="en-US"/>
                  <a:t> for those with treatment should be</a:t>
                </a:r>
              </a:p>
              <a:p>
                <a:pPr marL="914400" lvl="2" indent="0">
                  <a:buNone/>
                </a:pPr>
                <a14:m>
                  <m:oMathPara xmlns:m="http://schemas.openxmlformats.org/officeDocument/2006/math">
                    <m:oMath>
                      <m:r>
                        <a:rPr lang="en-US" b="0" i="1" smtClean="0">
                          <a:latin typeface="Cambria Math" panose="02040503050406030204" pitchFamily="18" charset="0"/>
                        </a:rPr>
                        <m:t>𝐴𝑇𝑇</m:t>
                      </m:r>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e>
                        <m:e>
                          <m:r>
                            <a:rPr lang="en-US" b="0" i="1" smtClean="0">
                              <a:latin typeface="Cambria Math" panose="02040503050406030204" pitchFamily="18" charset="0"/>
                            </a:rPr>
                            <m:t>𝑋</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e>
                        <m:e>
                          <m:r>
                            <a:rPr lang="en-US" b="0" i="1" smtClean="0">
                              <a:latin typeface="Cambria Math" panose="02040503050406030204" pitchFamily="18" charset="0"/>
                            </a:rPr>
                            <m:t>𝑋</m:t>
                          </m:r>
                          <m:r>
                            <a:rPr lang="en-US" b="0" i="1" smtClean="0">
                              <a:latin typeface="Cambria Math" panose="02040503050406030204" pitchFamily="18" charset="0"/>
                            </a:rPr>
                            <m:t>=0</m:t>
                          </m:r>
                        </m:e>
                      </m:d>
                    </m:oMath>
                  </m:oMathPara>
                </a14:m>
                <a:endParaRPr lang="en-US" b="0"/>
              </a:p>
              <a:p>
                <a:pPr lvl="1"/>
                <a14:m>
                  <m:oMath xmlns:m="http://schemas.openxmlformats.org/officeDocument/2006/math">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oMath>
                </a14:m>
                <a:r>
                  <a:rPr lang="en-US"/>
                  <a:t>: </a:t>
                </a:r>
                <a:r>
                  <a:rPr lang="en-US" b="1"/>
                  <a:t>potential outcome </a:t>
                </a:r>
                <a:r>
                  <a:rPr lang="en-US"/>
                  <a:t>for the treated </a:t>
                </a:r>
                <a:r>
                  <a:rPr lang="en-US">
                    <a:solidFill>
                      <a:srgbClr val="FF0000"/>
                    </a:solidFill>
                  </a:rPr>
                  <a:t>if without treatment</a:t>
                </a:r>
              </a:p>
              <a:p>
                <a:pPr lvl="1"/>
                <a14:m>
                  <m:oMath xmlns:m="http://schemas.openxmlformats.org/officeDocument/2006/math">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r>
                      <a:rPr lang="en-US" i="1">
                        <a:latin typeface="Cambria Math" panose="02040503050406030204" pitchFamily="18" charset="0"/>
                      </a:rPr>
                      <m:t> </m:t>
                    </m:r>
                  </m:oMath>
                </a14:m>
                <a:r>
                  <a:rPr lang="en-US"/>
                  <a:t>is fundamentally unobservable without the time machine</a:t>
                </a:r>
              </a:p>
              <a:p>
                <a:r>
                  <a:rPr lang="en-US"/>
                  <a:t>All causal inference methods use some models to </a:t>
                </a:r>
                <a:r>
                  <a:rPr lang="en-US">
                    <a:solidFill>
                      <a:srgbClr val="FF0000"/>
                    </a:solidFill>
                  </a:rPr>
                  <a:t>estimate</a:t>
                </a:r>
                <a:r>
                  <a:rPr lang="en-US"/>
                  <a:t> </a:t>
                </a:r>
                <a14:m>
                  <m:oMath xmlns:m="http://schemas.openxmlformats.org/officeDocument/2006/math">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r>
                      <a:rPr lang="en-US" i="1">
                        <a:latin typeface="Cambria Math" panose="02040503050406030204" pitchFamily="18" charset="0"/>
                      </a:rPr>
                      <m:t> </m:t>
                    </m:r>
                  </m:oMath>
                </a14:m>
                <a:r>
                  <a:rPr lang="en-US"/>
                  <a:t>based on observations of untreated entities, each with </a:t>
                </a:r>
                <a:r>
                  <a:rPr lang="en-US">
                    <a:solidFill>
                      <a:srgbClr val="FF0000"/>
                    </a:solidFill>
                  </a:rPr>
                  <a:t>assumptions</a:t>
                </a:r>
                <a:r>
                  <a:rPr lang="en-US"/>
                  <a:t> for unbiased estimation</a:t>
                </a:r>
              </a:p>
              <a:p>
                <a:pPr marL="457200" lvl="1" indent="0">
                  <a:buNone/>
                </a:pP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𝐴𝑇𝑇</m:t>
                        </m:r>
                      </m:e>
                    </m:acc>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=1</m:t>
                        </m:r>
                      </m:e>
                    </m:d>
                    <m:r>
                      <a:rPr lang="en-US" i="1">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oMath>
                </a14:m>
                <a:r>
                  <a:rPr lang="en-US"/>
                  <a:t>, where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 </m:t>
                    </m:r>
                  </m:oMath>
                </a14:m>
                <a:endParaRPr lang="en-US"/>
              </a:p>
              <a:p>
                <a:pPr marL="457200" lvl="1" indent="0">
                  <a:buNone/>
                </a:pPr>
                <a:r>
                  <a:rPr lang="en-US"/>
                  <a:t>Under assumption XYZ, we show that </a:t>
                </a:r>
                <a14:m>
                  <m:oMath xmlns:m="http://schemas.openxmlformats.org/officeDocument/2006/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𝑁</m:t>
                            </m:r>
                            <m:r>
                              <a:rPr lang="en-US" i="1">
                                <a:latin typeface="Cambria Math" panose="02040503050406030204" pitchFamily="18" charset="0"/>
                                <a:ea typeface="Cambria Math" panose="02040503050406030204" pitchFamily="18" charset="0"/>
                              </a:rPr>
                              <m:t>→∞</m:t>
                            </m:r>
                          </m:lim>
                        </m:limLow>
                      </m:fName>
                      <m:e>
                        <m:acc>
                          <m:accPr>
                            <m:chr m:val="̃"/>
                            <m:ctrlPr>
                              <a:rPr lang="en-US" i="1">
                                <a:latin typeface="Cambria Math" panose="02040503050406030204" pitchFamily="18" charset="0"/>
                              </a:rPr>
                            </m:ctrlPr>
                          </m:accPr>
                          <m:e>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e>
                        </m:acc>
                      </m:e>
                    </m:func>
                    <m:r>
                      <a:rPr lang="en-US" i="1">
                        <a:latin typeface="Cambria Math" panose="02040503050406030204" pitchFamily="18" charset="0"/>
                      </a:rPr>
                      <m:t> </m:t>
                    </m:r>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1</m:t>
                            </m:r>
                          </m:sub>
                        </m:sSub>
                      </m:e>
                      <m:e>
                        <m:r>
                          <a:rPr lang="en-US" i="1">
                            <a:latin typeface="Cambria Math" panose="02040503050406030204" pitchFamily="18" charset="0"/>
                          </a:rPr>
                          <m:t>𝑋</m:t>
                        </m:r>
                        <m:r>
                          <a:rPr lang="en-US" i="1">
                            <a:latin typeface="Cambria Math" panose="02040503050406030204" pitchFamily="18" charset="0"/>
                          </a:rPr>
                          <m:t>=0</m:t>
                        </m:r>
                      </m:e>
                    </m:d>
                  </m:oMath>
                </a14:m>
                <a:endParaRPr lang="en-US"/>
              </a:p>
            </p:txBody>
          </p:sp>
        </mc:Choice>
        <mc:Fallback xmlns="">
          <p:sp>
            <p:nvSpPr>
              <p:cNvPr id="3" name="Content Placeholder 2">
                <a:extLst>
                  <a:ext uri="{FF2B5EF4-FFF2-40B4-BE49-F238E27FC236}">
                    <a16:creationId xmlns:a16="http://schemas.microsoft.com/office/drawing/2014/main" id="{46DC5E45-FD2F-2DF1-846F-6C47584612B5}"/>
                  </a:ext>
                </a:extLst>
              </p:cNvPr>
              <p:cNvSpPr>
                <a:spLocks noGrp="1" noRot="1" noChangeAspect="1" noMove="1" noResize="1" noEditPoints="1" noAdjustHandles="1" noChangeArrowheads="1" noChangeShapeType="1" noTextEdit="1"/>
              </p:cNvSpPr>
              <p:nvPr>
                <p:ph idx="1"/>
              </p:nvPr>
            </p:nvSpPr>
            <p:spPr>
              <a:blipFill>
                <a:blip r:embed="rId2"/>
                <a:stretch>
                  <a:fillRect l="-737" t="-72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29F2955-4BBB-4A21-4CB2-1CA405F96DC4}"/>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8DD30F6F-ED37-F9C8-53B1-F3A1E0BB85BE}"/>
              </a:ext>
            </a:extLst>
          </p:cNvPr>
          <p:cNvSpPr>
            <a:spLocks noGrp="1"/>
          </p:cNvSpPr>
          <p:nvPr>
            <p:ph type="sldNum" sz="quarter" idx="12"/>
          </p:nvPr>
        </p:nvSpPr>
        <p:spPr/>
        <p:txBody>
          <a:bodyPr/>
          <a:lstStyle/>
          <a:p>
            <a:fld id="{8E90A93A-CBEB-40B0-B638-E400989BEC3F}" type="slidenum">
              <a:rPr lang="zh-CN" altLang="en-US" smtClean="0"/>
              <a:pPr/>
              <a:t>14</a:t>
            </a:fld>
            <a:endParaRPr lang="zh-CN" altLang="en-US"/>
          </a:p>
        </p:txBody>
      </p:sp>
    </p:spTree>
    <p:extLst>
      <p:ext uri="{BB962C8B-B14F-4D97-AF65-F5344CB8AC3E}">
        <p14:creationId xmlns:p14="http://schemas.microsoft.com/office/powerpoint/2010/main" val="2909985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4942-0C38-05A5-2437-EBBE4BC04209}"/>
              </a:ext>
            </a:extLst>
          </p:cNvPr>
          <p:cNvSpPr>
            <a:spLocks noGrp="1"/>
          </p:cNvSpPr>
          <p:nvPr>
            <p:ph type="title"/>
          </p:nvPr>
        </p:nvSpPr>
        <p:spPr/>
        <p:txBody>
          <a:bodyPr/>
          <a:lstStyle/>
          <a:p>
            <a:r>
              <a:rPr lang="en-US"/>
              <a:t>The Modern Weaponry for Causal Inference</a:t>
            </a:r>
          </a:p>
        </p:txBody>
      </p:sp>
      <p:sp>
        <p:nvSpPr>
          <p:cNvPr id="4" name="Footer Placeholder 3">
            <a:extLst>
              <a:ext uri="{FF2B5EF4-FFF2-40B4-BE49-F238E27FC236}">
                <a16:creationId xmlns:a16="http://schemas.microsoft.com/office/drawing/2014/main" id="{EEF10BE2-20BF-1E02-463B-5658005AE61B}"/>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DBE7C7C-7DEA-617A-25D8-44322343289B}"/>
              </a:ext>
            </a:extLst>
          </p:cNvPr>
          <p:cNvSpPr>
            <a:spLocks noGrp="1"/>
          </p:cNvSpPr>
          <p:nvPr>
            <p:ph type="sldNum" sz="quarter" idx="12"/>
          </p:nvPr>
        </p:nvSpPr>
        <p:spPr/>
        <p:txBody>
          <a:bodyPr/>
          <a:lstStyle/>
          <a:p>
            <a:fld id="{8E90A93A-CBEB-40B0-B638-E400989BEC3F}" type="slidenum">
              <a:rPr lang="zh-CN" altLang="en-US" smtClean="0"/>
              <a:pPr/>
              <a:t>15</a:t>
            </a:fld>
            <a:endParaRPr lang="zh-CN" altLang="en-US"/>
          </a:p>
        </p:txBody>
      </p:sp>
      <p:cxnSp>
        <p:nvCxnSpPr>
          <p:cNvPr id="7" name="Straight Arrow Connector 6">
            <a:extLst>
              <a:ext uri="{FF2B5EF4-FFF2-40B4-BE49-F238E27FC236}">
                <a16:creationId xmlns:a16="http://schemas.microsoft.com/office/drawing/2014/main" id="{AB1F078E-2DDD-A807-FDF8-C30A9869F26A}"/>
              </a:ext>
            </a:extLst>
          </p:cNvPr>
          <p:cNvCxnSpPr/>
          <p:nvPr/>
        </p:nvCxnSpPr>
        <p:spPr>
          <a:xfrm>
            <a:off x="527807" y="5251509"/>
            <a:ext cx="11136385" cy="7130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3A137CE2-3C12-906C-7F24-88016AA4A38E}"/>
              </a:ext>
            </a:extLst>
          </p:cNvPr>
          <p:cNvSpPr txBox="1"/>
          <p:nvPr/>
        </p:nvSpPr>
        <p:spPr>
          <a:xfrm>
            <a:off x="438666"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Internal Validity</a:t>
            </a:r>
            <a:endParaRPr lang="en-US"/>
          </a:p>
        </p:txBody>
      </p:sp>
      <p:sp>
        <p:nvSpPr>
          <p:cNvPr id="9" name="TextBox 8">
            <a:extLst>
              <a:ext uri="{FF2B5EF4-FFF2-40B4-BE49-F238E27FC236}">
                <a16:creationId xmlns:a16="http://schemas.microsoft.com/office/drawing/2014/main" id="{A2200A14-8713-4655-3B7D-90EDC2D13C7C}"/>
              </a:ext>
            </a:extLst>
          </p:cNvPr>
          <p:cNvSpPr txBox="1"/>
          <p:nvPr/>
        </p:nvSpPr>
        <p:spPr>
          <a:xfrm>
            <a:off x="8668621" y="5393419"/>
            <a:ext cx="3523379" cy="461665"/>
          </a:xfrm>
          <a:prstGeom prst="rect">
            <a:avLst/>
          </a:prstGeom>
          <a:noFill/>
        </p:spPr>
        <p:txBody>
          <a:bodyPr wrap="square">
            <a:spAutoFit/>
          </a:bodyPr>
          <a:lstStyle/>
          <a:p>
            <a:r>
              <a:rPr kumimoji="0" lang="en-US" sz="2400" b="0" i="0" u="none" strike="noStrike" kern="1200" cap="none" spc="0" normalizeH="0" baseline="0" noProof="0">
                <a:ln>
                  <a:noFill/>
                </a:ln>
                <a:solidFill>
                  <a:prstClr val="black"/>
                </a:solidFill>
                <a:effectLst/>
                <a:uLnTx/>
                <a:uFillTx/>
                <a:latin typeface="Gadugi" panose="020B0502040204020203" pitchFamily="34" charset="0"/>
                <a:ea typeface="Gadugi" panose="020B0502040204020203" pitchFamily="34" charset="0"/>
                <a:cs typeface="+mn-cs"/>
              </a:rPr>
              <a:t>High External Validity</a:t>
            </a:r>
            <a:endParaRPr lang="en-US"/>
          </a:p>
        </p:txBody>
      </p:sp>
      <p:sp>
        <p:nvSpPr>
          <p:cNvPr id="10" name="TextBox 9">
            <a:extLst>
              <a:ext uri="{FF2B5EF4-FFF2-40B4-BE49-F238E27FC236}">
                <a16:creationId xmlns:a16="http://schemas.microsoft.com/office/drawing/2014/main" id="{744297A5-AE80-A946-35A7-C60391CE5575}"/>
              </a:ext>
            </a:extLst>
          </p:cNvPr>
          <p:cNvSpPr txBox="1"/>
          <p:nvPr/>
        </p:nvSpPr>
        <p:spPr>
          <a:xfrm>
            <a:off x="2088501" y="4182233"/>
            <a:ext cx="261772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Natural Experiments</a:t>
            </a:r>
            <a:endParaRPr lang="en-US"/>
          </a:p>
        </p:txBody>
      </p:sp>
      <p:sp>
        <p:nvSpPr>
          <p:cNvPr id="12" name="TextBox 11">
            <a:extLst>
              <a:ext uri="{FF2B5EF4-FFF2-40B4-BE49-F238E27FC236}">
                <a16:creationId xmlns:a16="http://schemas.microsoft.com/office/drawing/2014/main" id="{947A284B-82C1-ABD9-9CEE-3A43B4828DD7}"/>
              </a:ext>
            </a:extLst>
          </p:cNvPr>
          <p:cNvSpPr txBox="1"/>
          <p:nvPr/>
        </p:nvSpPr>
        <p:spPr>
          <a:xfrm>
            <a:off x="6791928" y="2135853"/>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Matching</a:t>
            </a:r>
            <a:endParaRPr lang="en-US"/>
          </a:p>
        </p:txBody>
      </p:sp>
      <p:sp>
        <p:nvSpPr>
          <p:cNvPr id="13" name="TextBox 12">
            <a:extLst>
              <a:ext uri="{FF2B5EF4-FFF2-40B4-BE49-F238E27FC236}">
                <a16:creationId xmlns:a16="http://schemas.microsoft.com/office/drawing/2014/main" id="{CBEA178A-21DB-E282-F3EC-9321FAFD63D0}"/>
              </a:ext>
            </a:extLst>
          </p:cNvPr>
          <p:cNvSpPr txBox="1"/>
          <p:nvPr/>
        </p:nvSpPr>
        <p:spPr>
          <a:xfrm>
            <a:off x="3099733" y="1378734"/>
            <a:ext cx="2827090" cy="1200329"/>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Regression Discontinuity Design</a:t>
            </a:r>
            <a:endParaRPr lang="en-US"/>
          </a:p>
        </p:txBody>
      </p:sp>
      <p:sp>
        <p:nvSpPr>
          <p:cNvPr id="14" name="TextBox 13">
            <a:extLst>
              <a:ext uri="{FF2B5EF4-FFF2-40B4-BE49-F238E27FC236}">
                <a16:creationId xmlns:a16="http://schemas.microsoft.com/office/drawing/2014/main" id="{7F16B857-BA63-D015-D10E-6C35576ED125}"/>
              </a:ext>
            </a:extLst>
          </p:cNvPr>
          <p:cNvSpPr txBox="1"/>
          <p:nvPr/>
        </p:nvSpPr>
        <p:spPr>
          <a:xfrm>
            <a:off x="3750919" y="2982094"/>
            <a:ext cx="3041009"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Difference in Differences</a:t>
            </a:r>
            <a:endParaRPr lang="en-US"/>
          </a:p>
        </p:txBody>
      </p:sp>
      <p:sp>
        <p:nvSpPr>
          <p:cNvPr id="15" name="TextBox 14">
            <a:extLst>
              <a:ext uri="{FF2B5EF4-FFF2-40B4-BE49-F238E27FC236}">
                <a16:creationId xmlns:a16="http://schemas.microsoft.com/office/drawing/2014/main" id="{BE2A54DB-115A-777D-462E-F36D0D16B725}"/>
              </a:ext>
            </a:extLst>
          </p:cNvPr>
          <p:cNvSpPr txBox="1"/>
          <p:nvPr/>
        </p:nvSpPr>
        <p:spPr>
          <a:xfrm>
            <a:off x="5696895" y="4182232"/>
            <a:ext cx="245955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Instrumental Variables</a:t>
            </a:r>
            <a:endParaRPr lang="en-US"/>
          </a:p>
        </p:txBody>
      </p:sp>
      <p:sp>
        <p:nvSpPr>
          <p:cNvPr id="16" name="TextBox 15">
            <a:extLst>
              <a:ext uri="{FF2B5EF4-FFF2-40B4-BE49-F238E27FC236}">
                <a16:creationId xmlns:a16="http://schemas.microsoft.com/office/drawing/2014/main" id="{0CE8BC3C-A44B-4C4C-A2A5-4987ADF9E31C}"/>
              </a:ext>
            </a:extLst>
          </p:cNvPr>
          <p:cNvSpPr txBox="1"/>
          <p:nvPr/>
        </p:nvSpPr>
        <p:spPr>
          <a:xfrm>
            <a:off x="8734945" y="2879879"/>
            <a:ext cx="245955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Fixed Effects and Panel Regression</a:t>
            </a:r>
            <a:endParaRPr lang="en-US"/>
          </a:p>
        </p:txBody>
      </p:sp>
      <p:sp>
        <p:nvSpPr>
          <p:cNvPr id="17" name="TextBox 16">
            <a:extLst>
              <a:ext uri="{FF2B5EF4-FFF2-40B4-BE49-F238E27FC236}">
                <a16:creationId xmlns:a16="http://schemas.microsoft.com/office/drawing/2014/main" id="{1B459FEA-735D-C4BD-9409-0679C025CE6C}"/>
              </a:ext>
            </a:extLst>
          </p:cNvPr>
          <p:cNvSpPr txBox="1"/>
          <p:nvPr/>
        </p:nvSpPr>
        <p:spPr>
          <a:xfrm>
            <a:off x="122680" y="3112958"/>
            <a:ext cx="2617723" cy="830997"/>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Randomized </a:t>
            </a:r>
            <a:r>
              <a:rPr lang="en-US" altLang="zh-CN" sz="2400">
                <a:solidFill>
                  <a:prstClr val="black"/>
                </a:solidFill>
                <a:latin typeface="Gadugi" panose="020B0502040204020203" pitchFamily="34" charset="0"/>
                <a:ea typeface="Gadugi" panose="020B0502040204020203" pitchFamily="34" charset="0"/>
              </a:rPr>
              <a:t>Experiments</a:t>
            </a:r>
            <a:endParaRPr lang="en-US"/>
          </a:p>
        </p:txBody>
      </p:sp>
    </p:spTree>
    <p:extLst>
      <p:ext uri="{BB962C8B-B14F-4D97-AF65-F5344CB8AC3E}">
        <p14:creationId xmlns:p14="http://schemas.microsoft.com/office/powerpoint/2010/main" val="813303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3EFB-4882-041B-F850-561B453B9327}"/>
              </a:ext>
            </a:extLst>
          </p:cNvPr>
          <p:cNvSpPr>
            <a:spLocks noGrp="1"/>
          </p:cNvSpPr>
          <p:nvPr>
            <p:ph type="title"/>
          </p:nvPr>
        </p:nvSpPr>
        <p:spPr/>
        <p:txBody>
          <a:bodyPr/>
          <a:lstStyle/>
          <a:p>
            <a:r>
              <a:rPr lang="en-US" altLang="zh-CN"/>
              <a:t>It</a:t>
            </a:r>
            <a:r>
              <a:rPr lang="zh-CN" altLang="en-US"/>
              <a:t> </a:t>
            </a:r>
            <a:r>
              <a:rPr lang="en-US" altLang="zh-CN"/>
              <a:t>has</a:t>
            </a:r>
            <a:r>
              <a:rPr lang="zh-CN" altLang="en-US"/>
              <a:t> </a:t>
            </a:r>
            <a:r>
              <a:rPr lang="en-US" altLang="zh-CN"/>
              <a:t>been</a:t>
            </a:r>
            <a:r>
              <a:rPr lang="zh-CN" altLang="en-US"/>
              <a:t> </a:t>
            </a:r>
            <a:r>
              <a:rPr lang="en-US" altLang="zh-CN"/>
              <a:t>used</a:t>
            </a:r>
            <a:r>
              <a:rPr lang="zh-CN" altLang="en-US"/>
              <a:t> </a:t>
            </a:r>
            <a:r>
              <a:rPr lang="en-US" altLang="zh-CN"/>
              <a:t>in</a:t>
            </a:r>
            <a:r>
              <a:rPr lang="zh-CN" altLang="en-US"/>
              <a:t> </a:t>
            </a:r>
            <a:r>
              <a:rPr lang="en-US" altLang="zh-CN"/>
              <a:t>software engineering,</a:t>
            </a:r>
            <a:r>
              <a:rPr lang="zh-CN" altLang="en-US"/>
              <a:t> </a:t>
            </a:r>
            <a:r>
              <a:rPr lang="en-US" altLang="zh-CN"/>
              <a:t>but</a:t>
            </a:r>
            <a:r>
              <a:rPr lang="zh-CN" altLang="en-US"/>
              <a:t> </a:t>
            </a:r>
            <a:r>
              <a:rPr lang="en-US" altLang="zh-CN"/>
              <a:t>not</a:t>
            </a:r>
            <a:r>
              <a:rPr lang="zh-CN" altLang="en-US"/>
              <a:t> </a:t>
            </a:r>
            <a:r>
              <a:rPr lang="en-US" altLang="zh-CN"/>
              <a:t>that</a:t>
            </a:r>
            <a:r>
              <a:rPr lang="zh-CN" altLang="en-US"/>
              <a:t> </a:t>
            </a:r>
            <a:r>
              <a:rPr lang="en-US" altLang="zh-CN"/>
              <a:t>much</a:t>
            </a:r>
            <a:endParaRPr lang="en-US"/>
          </a:p>
        </p:txBody>
      </p:sp>
      <p:sp>
        <p:nvSpPr>
          <p:cNvPr id="4" name="Footer Placeholder 3">
            <a:extLst>
              <a:ext uri="{FF2B5EF4-FFF2-40B4-BE49-F238E27FC236}">
                <a16:creationId xmlns:a16="http://schemas.microsoft.com/office/drawing/2014/main" id="{108939A6-FE2C-D977-E040-BDA20948B158}"/>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6BABB24-3947-FA79-7A8F-34B19B9AF327}"/>
              </a:ext>
            </a:extLst>
          </p:cNvPr>
          <p:cNvSpPr>
            <a:spLocks noGrp="1"/>
          </p:cNvSpPr>
          <p:nvPr>
            <p:ph type="sldNum" sz="quarter" idx="12"/>
          </p:nvPr>
        </p:nvSpPr>
        <p:spPr/>
        <p:txBody>
          <a:bodyPr/>
          <a:lstStyle/>
          <a:p>
            <a:fld id="{8E90A93A-CBEB-40B0-B638-E400989BEC3F}" type="slidenum">
              <a:rPr lang="zh-CN" altLang="en-US" smtClean="0"/>
              <a:pPr/>
              <a:t>16</a:t>
            </a:fld>
            <a:endParaRPr lang="zh-CN" altLang="en-US"/>
          </a:p>
        </p:txBody>
      </p:sp>
      <p:pic>
        <p:nvPicPr>
          <p:cNvPr id="8" name="Picture 7">
            <a:extLst>
              <a:ext uri="{FF2B5EF4-FFF2-40B4-BE49-F238E27FC236}">
                <a16:creationId xmlns:a16="http://schemas.microsoft.com/office/drawing/2014/main" id="{44F3E5FF-AC9D-C437-A938-BCCD97A924FE}"/>
              </a:ext>
            </a:extLst>
          </p:cNvPr>
          <p:cNvPicPr>
            <a:picLocks noChangeAspect="1"/>
          </p:cNvPicPr>
          <p:nvPr/>
        </p:nvPicPr>
        <p:blipFill>
          <a:blip r:embed="rId2"/>
          <a:stretch>
            <a:fillRect/>
          </a:stretch>
        </p:blipFill>
        <p:spPr>
          <a:xfrm>
            <a:off x="367265" y="1515463"/>
            <a:ext cx="10441950" cy="4111808"/>
          </a:xfrm>
          <a:prstGeom prst="rect">
            <a:avLst/>
          </a:prstGeom>
        </p:spPr>
      </p:pic>
      <p:sp>
        <p:nvSpPr>
          <p:cNvPr id="11" name="TextBox 10">
            <a:extLst>
              <a:ext uri="{FF2B5EF4-FFF2-40B4-BE49-F238E27FC236}">
                <a16:creationId xmlns:a16="http://schemas.microsoft.com/office/drawing/2014/main" id="{14D9E5AC-E6DD-6F28-7DEF-A2778D510C4B}"/>
              </a:ext>
            </a:extLst>
          </p:cNvPr>
          <p:cNvSpPr txBox="1"/>
          <p:nvPr/>
        </p:nvSpPr>
        <p:spPr>
          <a:xfrm>
            <a:off x="2192322" y="5659343"/>
            <a:ext cx="9144000" cy="400110"/>
          </a:xfrm>
          <a:prstGeom prst="rect">
            <a:avLst/>
          </a:prstGeom>
          <a:noFill/>
        </p:spPr>
        <p:txBody>
          <a:bodyPr wrap="square">
            <a:spAutoFit/>
          </a:bodyPr>
          <a:lstStyle/>
          <a:p>
            <a:r>
              <a:rPr lang="en-US" sz="2000" b="1" dirty="0">
                <a:latin typeface="Gadugi" panose="020B0502040204020203" pitchFamily="34" charset="0"/>
                <a:ea typeface="Gadugi" panose="020B0502040204020203" pitchFamily="34" charset="0"/>
              </a:rPr>
              <a:t>Figure: </a:t>
            </a:r>
            <a:r>
              <a:rPr lang="en-US" sz="2000" dirty="0">
                <a:latin typeface="Gadugi" panose="020B0502040204020203" pitchFamily="34" charset="0"/>
                <a:ea typeface="Gadugi" panose="020B0502040204020203" pitchFamily="34" charset="0"/>
              </a:rPr>
              <a:t>Publication trends at ICSE, FSE, and ASE (2015–2025)</a:t>
            </a:r>
          </a:p>
        </p:txBody>
      </p:sp>
    </p:spTree>
    <p:extLst>
      <p:ext uri="{BB962C8B-B14F-4D97-AF65-F5344CB8AC3E}">
        <p14:creationId xmlns:p14="http://schemas.microsoft.com/office/powerpoint/2010/main" val="2897126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7DA6DF5-3506-2280-5ED1-212D2ECF496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A18D10A7-EE8D-B04C-C0A9-EB1D06D5078F}"/>
              </a:ext>
            </a:extLst>
          </p:cNvPr>
          <p:cNvSpPr>
            <a:spLocks noGrp="1"/>
          </p:cNvSpPr>
          <p:nvPr>
            <p:ph type="sldNum" sz="quarter" idx="12"/>
          </p:nvPr>
        </p:nvSpPr>
        <p:spPr/>
        <p:txBody>
          <a:bodyPr/>
          <a:lstStyle/>
          <a:p>
            <a:fld id="{8E90A93A-CBEB-40B0-B638-E400989BEC3F}" type="slidenum">
              <a:rPr lang="zh-CN" altLang="en-US" smtClean="0"/>
              <a:pPr/>
              <a:t>17</a:t>
            </a:fld>
            <a:endParaRPr lang="zh-CN" altLang="en-US"/>
          </a:p>
        </p:txBody>
      </p:sp>
      <p:pic>
        <p:nvPicPr>
          <p:cNvPr id="7" name="Picture 6">
            <a:extLst>
              <a:ext uri="{FF2B5EF4-FFF2-40B4-BE49-F238E27FC236}">
                <a16:creationId xmlns:a16="http://schemas.microsoft.com/office/drawing/2014/main" id="{A651527C-3AA1-DC89-2A9E-B57013E96AAD}"/>
              </a:ext>
            </a:extLst>
          </p:cNvPr>
          <p:cNvPicPr>
            <a:picLocks noChangeAspect="1"/>
          </p:cNvPicPr>
          <p:nvPr/>
        </p:nvPicPr>
        <p:blipFill>
          <a:blip r:embed="rId2"/>
          <a:stretch>
            <a:fillRect/>
          </a:stretch>
        </p:blipFill>
        <p:spPr>
          <a:xfrm>
            <a:off x="1791164" y="16564"/>
            <a:ext cx="8701109" cy="6414379"/>
          </a:xfrm>
          <a:prstGeom prst="rect">
            <a:avLst/>
          </a:prstGeom>
        </p:spPr>
      </p:pic>
    </p:spTree>
    <p:extLst>
      <p:ext uri="{BB962C8B-B14F-4D97-AF65-F5344CB8AC3E}">
        <p14:creationId xmlns:p14="http://schemas.microsoft.com/office/powerpoint/2010/main" val="2332201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3108-8607-A5FA-D593-9FD6D6A905D1}"/>
              </a:ext>
            </a:extLst>
          </p:cNvPr>
          <p:cNvSpPr>
            <a:spLocks noGrp="1"/>
          </p:cNvSpPr>
          <p:nvPr>
            <p:ph type="title"/>
          </p:nvPr>
        </p:nvSpPr>
        <p:spPr/>
        <p:txBody>
          <a:bodyPr/>
          <a:lstStyle/>
          <a:p>
            <a:r>
              <a:rPr lang="en-US"/>
              <a:t>Thesis Statement</a:t>
            </a:r>
          </a:p>
        </p:txBody>
      </p:sp>
      <p:sp>
        <p:nvSpPr>
          <p:cNvPr id="4" name="Footer Placeholder 3">
            <a:extLst>
              <a:ext uri="{FF2B5EF4-FFF2-40B4-BE49-F238E27FC236}">
                <a16:creationId xmlns:a16="http://schemas.microsoft.com/office/drawing/2014/main" id="{F6A7A75E-1D99-ED63-F13C-F219FCA04F67}"/>
              </a:ext>
            </a:extLst>
          </p:cNvPr>
          <p:cNvSpPr>
            <a:spLocks noGrp="1"/>
          </p:cNvSpPr>
          <p:nvPr>
            <p:ph type="ftr" sz="quarter" idx="11"/>
          </p:nvPr>
        </p:nvSpPr>
        <p:spPr/>
        <p:txBody>
          <a:bodyPr/>
          <a:lstStyle/>
          <a:p>
            <a:r>
              <a:rPr lang="en-US" dirty="0">
                <a:latin typeface="Gadugi" panose="020B0502040204020203" pitchFamily="34" charset="0"/>
                <a:ea typeface="Gadugi" panose="020B0502040204020203" pitchFamily="34" charset="0"/>
              </a:rPr>
              <a:t>Dispelling Software Engineering Myths: A Pragmatic Causal Inference Approach</a:t>
            </a:r>
            <a:endParaRPr lang="en-US" dirty="0"/>
          </a:p>
        </p:txBody>
      </p:sp>
      <p:sp>
        <p:nvSpPr>
          <p:cNvPr id="5" name="Slide Number Placeholder 4">
            <a:extLst>
              <a:ext uri="{FF2B5EF4-FFF2-40B4-BE49-F238E27FC236}">
                <a16:creationId xmlns:a16="http://schemas.microsoft.com/office/drawing/2014/main" id="{20C91786-2361-9A48-3785-382A438A8A44}"/>
              </a:ext>
            </a:extLst>
          </p:cNvPr>
          <p:cNvSpPr>
            <a:spLocks noGrp="1"/>
          </p:cNvSpPr>
          <p:nvPr>
            <p:ph type="sldNum" sz="quarter" idx="12"/>
          </p:nvPr>
        </p:nvSpPr>
        <p:spPr/>
        <p:txBody>
          <a:bodyPr/>
          <a:lstStyle/>
          <a:p>
            <a:fld id="{8E90A93A-CBEB-40B0-B638-E400989BEC3F}" type="slidenum">
              <a:rPr lang="zh-CN" altLang="en-US" smtClean="0"/>
              <a:pPr/>
              <a:t>18</a:t>
            </a:fld>
            <a:endParaRPr lang="zh-CN" altLang="en-US"/>
          </a:p>
        </p:txBody>
      </p:sp>
      <p:sp>
        <p:nvSpPr>
          <p:cNvPr id="6" name="Content Placeholder 2">
            <a:extLst>
              <a:ext uri="{FF2B5EF4-FFF2-40B4-BE49-F238E27FC236}">
                <a16:creationId xmlns:a16="http://schemas.microsoft.com/office/drawing/2014/main" id="{558C73C7-2131-808B-5B88-F50B3EFFF2D2}"/>
              </a:ext>
            </a:extLst>
          </p:cNvPr>
          <p:cNvSpPr txBox="1">
            <a:spLocks/>
          </p:cNvSpPr>
          <p:nvPr/>
        </p:nvSpPr>
        <p:spPr>
          <a:xfrm>
            <a:off x="320948" y="1258351"/>
            <a:ext cx="11584419" cy="994094"/>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dk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I argue that </a:t>
            </a:r>
            <a:r>
              <a:rPr lang="en-US" dirty="0">
                <a:solidFill>
                  <a:srgbClr val="EE0000"/>
                </a:solidFill>
              </a:rPr>
              <a:t>causal credibility assessments</a:t>
            </a:r>
            <a:r>
              <a:rPr lang="en-US" dirty="0"/>
              <a:t> are feasible in empirical software engineering through an explicit articulation of causal theory and assumptions.</a:t>
            </a:r>
            <a:endParaRPr lang="en-US" b="1" dirty="0"/>
          </a:p>
        </p:txBody>
      </p:sp>
      <p:sp>
        <p:nvSpPr>
          <p:cNvPr id="7" name="Content Placeholder 2">
            <a:extLst>
              <a:ext uri="{FF2B5EF4-FFF2-40B4-BE49-F238E27FC236}">
                <a16:creationId xmlns:a16="http://schemas.microsoft.com/office/drawing/2014/main" id="{FB227BF8-964B-2FF2-335F-C80992ADFEC9}"/>
              </a:ext>
            </a:extLst>
          </p:cNvPr>
          <p:cNvSpPr>
            <a:spLocks noGrp="1"/>
          </p:cNvSpPr>
          <p:nvPr>
            <p:ph idx="1"/>
          </p:nvPr>
        </p:nvSpPr>
        <p:spPr>
          <a:xfrm>
            <a:off x="320948" y="2652567"/>
            <a:ext cx="11584419" cy="3363445"/>
          </a:xfrm>
        </p:spPr>
        <p:txBody>
          <a:bodyPr>
            <a:normAutofit fontScale="92500"/>
          </a:bodyPr>
          <a:lstStyle/>
          <a:p>
            <a:r>
              <a:rPr lang="en-US" dirty="0"/>
              <a:t>One feasible causal credibility </a:t>
            </a:r>
            <a:r>
              <a:rPr lang="en-US" altLang="zh-CN" dirty="0"/>
              <a:t>assessment</a:t>
            </a:r>
            <a:r>
              <a:rPr lang="en-US" dirty="0"/>
              <a:t> </a:t>
            </a:r>
            <a:r>
              <a:rPr lang="en-US" altLang="zh-CN" dirty="0"/>
              <a:t>operationalization in SE settings is as follows:</a:t>
            </a:r>
            <a:endParaRPr lang="en-US" dirty="0"/>
          </a:p>
          <a:p>
            <a:pPr marL="914400" lvl="1" indent="-457200">
              <a:buFont typeface="+mj-lt"/>
              <a:buAutoNum type="arabicPeriod"/>
            </a:pPr>
            <a:r>
              <a:rPr lang="en-US" dirty="0"/>
              <a:t>Derive a </a:t>
            </a:r>
            <a:r>
              <a:rPr lang="en-US" b="1" dirty="0"/>
              <a:t>causal theory </a:t>
            </a:r>
            <a:r>
              <a:rPr lang="en-US" dirty="0"/>
              <a:t>from existing SE domain knowledge </a:t>
            </a:r>
          </a:p>
          <a:p>
            <a:pPr marL="914400" lvl="1" indent="-457200">
              <a:buFont typeface="+mj-lt"/>
              <a:buAutoNum type="arabicPeriod"/>
            </a:pPr>
            <a:r>
              <a:rPr lang="en-US" dirty="0"/>
              <a:t>Define a causal estimate of interest and the </a:t>
            </a:r>
            <a:r>
              <a:rPr lang="en-US" b="1" dirty="0"/>
              <a:t>assumption</a:t>
            </a:r>
            <a:r>
              <a:rPr lang="en-US" dirty="0"/>
              <a:t> under which the estimate would carry a causal interpretation through the potential outcome framework</a:t>
            </a:r>
          </a:p>
          <a:p>
            <a:pPr marL="914400" lvl="1" indent="-457200">
              <a:buFont typeface="+mj-lt"/>
              <a:buAutoNum type="arabicPeriod"/>
            </a:pPr>
            <a:r>
              <a:rPr lang="en-US" dirty="0"/>
              <a:t>Honestly </a:t>
            </a:r>
            <a:r>
              <a:rPr lang="en-US" b="1" dirty="0"/>
              <a:t>acknowledge</a:t>
            </a:r>
            <a:r>
              <a:rPr lang="en-US" dirty="0"/>
              <a:t> and </a:t>
            </a:r>
            <a:r>
              <a:rPr lang="en-US" b="1" dirty="0"/>
              <a:t>mitigate</a:t>
            </a:r>
            <a:r>
              <a:rPr lang="en-US" dirty="0"/>
              <a:t> limitations in data collection, metric design, measurement infrastructure, and model specifications</a:t>
            </a:r>
          </a:p>
          <a:p>
            <a:pPr marL="914400" lvl="1" indent="-457200">
              <a:buFont typeface="+mj-lt"/>
              <a:buAutoNum type="arabicPeriod"/>
            </a:pPr>
            <a:r>
              <a:rPr lang="en-US" dirty="0"/>
              <a:t>Thoughtfully navigate </a:t>
            </a:r>
            <a:r>
              <a:rPr lang="en-US" b="1" dirty="0"/>
              <a:t>alternative explanations</a:t>
            </a:r>
            <a:r>
              <a:rPr lang="en-US" dirty="0"/>
              <a:t> (i.e., alternative DAGs)</a:t>
            </a:r>
          </a:p>
        </p:txBody>
      </p:sp>
    </p:spTree>
    <p:extLst>
      <p:ext uri="{BB962C8B-B14F-4D97-AF65-F5344CB8AC3E}">
        <p14:creationId xmlns:p14="http://schemas.microsoft.com/office/powerpoint/2010/main" val="1633958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FA238-B127-665D-378C-E4A5C1929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4F900-038A-DEBF-A14E-0DBD0C44D1A3}"/>
              </a:ext>
            </a:extLst>
          </p:cNvPr>
          <p:cNvSpPr>
            <a:spLocks noGrp="1"/>
          </p:cNvSpPr>
          <p:nvPr>
            <p:ph type="ctrTitle"/>
          </p:nvPr>
        </p:nvSpPr>
        <p:spPr>
          <a:xfrm>
            <a:off x="2534919" y="1434920"/>
            <a:ext cx="8555328" cy="2244194"/>
          </a:xfrm>
        </p:spPr>
        <p:txBody>
          <a:bodyPr>
            <a:noAutofit/>
          </a:bodyPr>
          <a:lstStyle/>
          <a:p>
            <a:pPr algn="l">
              <a:lnSpc>
                <a:spcPct val="120000"/>
              </a:lnSpc>
            </a:pPr>
            <a:r>
              <a:rPr lang="en-US" altLang="zh-CN" sz="3600" dirty="0">
                <a:latin typeface="Gadugi" panose="020B0502040204020203" pitchFamily="34" charset="0"/>
                <a:ea typeface="Gadugi" panose="020B0502040204020203" pitchFamily="34" charset="0"/>
              </a:rPr>
              <a:t>The Impact of Dependency Pinning on Supply Chain Security</a:t>
            </a:r>
            <a:endParaRPr lang="en-US" sz="2400" dirty="0"/>
          </a:p>
        </p:txBody>
      </p:sp>
      <p:sp>
        <p:nvSpPr>
          <p:cNvPr id="3" name="Subtitle 2">
            <a:extLst>
              <a:ext uri="{FF2B5EF4-FFF2-40B4-BE49-F238E27FC236}">
                <a16:creationId xmlns:a16="http://schemas.microsoft.com/office/drawing/2014/main" id="{CAE3AFF9-D0C8-13EF-3A97-9D0D7FF7C79A}"/>
              </a:ext>
            </a:extLst>
          </p:cNvPr>
          <p:cNvSpPr>
            <a:spLocks noGrp="1"/>
          </p:cNvSpPr>
          <p:nvPr>
            <p:ph type="subTitle" idx="1"/>
          </p:nvPr>
        </p:nvSpPr>
        <p:spPr>
          <a:xfrm>
            <a:off x="2595421" y="4420161"/>
            <a:ext cx="9144000" cy="1381577"/>
          </a:xfrm>
        </p:spPr>
        <p:txBody>
          <a:bodyPr>
            <a:normAutofit/>
          </a:bodyPr>
          <a:lstStyle/>
          <a:p>
            <a:pPr algn="l"/>
            <a:r>
              <a:rPr lang="en-US" sz="2000" b="1" dirty="0">
                <a:latin typeface="Gadugi" panose="020B0502040204020203" pitchFamily="34" charset="0"/>
                <a:ea typeface="Gadugi" panose="020B0502040204020203" pitchFamily="34" charset="0"/>
              </a:rPr>
              <a:t>Hao He</a:t>
            </a:r>
            <a:r>
              <a:rPr lang="en-US" sz="2000" dirty="0">
                <a:latin typeface="Gadugi" panose="020B0502040204020203" pitchFamily="34" charset="0"/>
                <a:ea typeface="Gadugi" panose="020B0502040204020203" pitchFamily="34" charset="0"/>
              </a:rPr>
              <a:t>, Bogdan Vasilescu, and Christian Kästner. “Pinning Is Futile: You Need More Than Local Dependency Versioning to Defend against Supply Chain Attacks.” Proceedings of the ACM on Software Engineering 2.FSE (2025), Article FSE013, pp. 266–289. Preprint: arXiv:2502.06662.</a:t>
            </a:r>
            <a:endParaRPr lang="en-US" sz="2000" dirty="0">
              <a:latin typeface="Gadugi" panose="020B0502040204020203" pitchFamily="34" charset="0"/>
              <a:ea typeface="Gadugi" panose="020B0502040204020203" pitchFamily="34" charset="0"/>
              <a:cs typeface="Roboto Slab" pitchFamily="2" charset="0"/>
            </a:endParaRPr>
          </a:p>
        </p:txBody>
      </p:sp>
      <p:pic>
        <p:nvPicPr>
          <p:cNvPr id="4" name="Picture 11">
            <a:extLst>
              <a:ext uri="{FF2B5EF4-FFF2-40B4-BE49-F238E27FC236}">
                <a16:creationId xmlns:a16="http://schemas.microsoft.com/office/drawing/2014/main" id="{80BD0E39-B079-9602-06B7-A1AE1B796A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895350"/>
            <a:ext cx="3429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9293BB5-6731-86D1-6410-2AF3A3925FBD}"/>
              </a:ext>
            </a:extLst>
          </p:cNvPr>
          <p:cNvSpPr/>
          <p:nvPr/>
        </p:nvSpPr>
        <p:spPr>
          <a:xfrm>
            <a:off x="0" y="0"/>
            <a:ext cx="22098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A902A0-53F9-2F4E-8586-D484E0697FE7}"/>
              </a:ext>
            </a:extLst>
          </p:cNvPr>
          <p:cNvCxnSpPr/>
          <p:nvPr/>
        </p:nvCxnSpPr>
        <p:spPr>
          <a:xfrm>
            <a:off x="2595421" y="812800"/>
            <a:ext cx="0" cy="5648036"/>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326419B-8CA5-8DC5-D823-53B524401C6C}"/>
              </a:ext>
            </a:extLst>
          </p:cNvPr>
          <p:cNvCxnSpPr>
            <a:cxnSpLocks/>
          </p:cNvCxnSpPr>
          <p:nvPr/>
        </p:nvCxnSpPr>
        <p:spPr>
          <a:xfrm>
            <a:off x="2648063" y="3831695"/>
            <a:ext cx="5687223" cy="0"/>
          </a:xfrm>
          <a:prstGeom prst="line">
            <a:avLst/>
          </a:prstGeom>
          <a:noFill/>
          <a:ln w="127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749DC973-6C09-C900-1EA3-1B5974817C7E}"/>
              </a:ext>
            </a:extLst>
          </p:cNvPr>
          <p:cNvSpPr txBox="1"/>
          <p:nvPr/>
        </p:nvSpPr>
        <p:spPr>
          <a:xfrm>
            <a:off x="2534919" y="1056262"/>
            <a:ext cx="2257990" cy="461665"/>
          </a:xfrm>
          <a:prstGeom prst="rect">
            <a:avLst/>
          </a:prstGeom>
          <a:noFill/>
        </p:spPr>
        <p:txBody>
          <a:bodyPr wrap="none" rtlCol="0">
            <a:spAutoFit/>
          </a:bodyPr>
          <a:lstStyle/>
          <a:p>
            <a:r>
              <a:rPr lang="en-US" altLang="zh-CN" sz="2400" dirty="0">
                <a:latin typeface="Calibri" panose="020F0502020204030204" pitchFamily="34" charset="0"/>
                <a:ea typeface="Calibri" panose="020F0502020204030204" pitchFamily="34" charset="0"/>
                <a:cs typeface="Calibri" panose="020F0502020204030204" pitchFamily="34" charset="0"/>
              </a:rPr>
              <a:t>Empirical Study I</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5461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844B5-8F17-28E2-74F7-F4EF8D447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1B4CB-E55B-31D2-AC7C-C533BD3FC895}"/>
              </a:ext>
            </a:extLst>
          </p:cNvPr>
          <p:cNvSpPr>
            <a:spLocks noGrp="1"/>
          </p:cNvSpPr>
          <p:nvPr>
            <p:ph type="title"/>
          </p:nvPr>
        </p:nvSpPr>
        <p:spPr/>
        <p:txBody>
          <a:bodyPr/>
          <a:lstStyle/>
          <a:p>
            <a:r>
              <a:rPr lang="en-US" altLang="zh-CN" sz="3200" dirty="0">
                <a:ea typeface="Gadugi" panose="020B0502040204020203" pitchFamily="34" charset="0"/>
              </a:rPr>
              <a:t>The Impact of Dependency Pinning on Supply Chain Security</a:t>
            </a:r>
            <a:endParaRPr lang="en-US" dirty="0"/>
          </a:p>
        </p:txBody>
      </p:sp>
      <p:sp>
        <p:nvSpPr>
          <p:cNvPr id="3" name="Content Placeholder 2">
            <a:extLst>
              <a:ext uri="{FF2B5EF4-FFF2-40B4-BE49-F238E27FC236}">
                <a16:creationId xmlns:a16="http://schemas.microsoft.com/office/drawing/2014/main" id="{B89BA133-FEC7-D22C-FDB5-9E9FAE6FCA1F}"/>
              </a:ext>
            </a:extLst>
          </p:cNvPr>
          <p:cNvSpPr>
            <a:spLocks noGrp="1"/>
          </p:cNvSpPr>
          <p:nvPr>
            <p:ph idx="1"/>
          </p:nvPr>
        </p:nvSpPr>
        <p:spPr>
          <a:xfrm>
            <a:off x="320948" y="1205069"/>
            <a:ext cx="11584419" cy="1218535"/>
          </a:xfrm>
        </p:spPr>
        <p:txBody>
          <a:bodyPr/>
          <a:lstStyle/>
          <a:p>
            <a:r>
              <a:rPr lang="en-US" altLang="zh-CN" b="1"/>
              <a:t>Research Question: </a:t>
            </a:r>
            <a:r>
              <a:rPr lang="en-US" altLang="zh-CN"/>
              <a:t>Does pinning dependency versions affect software projects’ vulnerability to software supply chain attacks? </a:t>
            </a:r>
            <a:endParaRPr lang="en-US"/>
          </a:p>
          <a:p>
            <a:endParaRPr lang="en-US" dirty="0"/>
          </a:p>
        </p:txBody>
      </p:sp>
      <p:sp>
        <p:nvSpPr>
          <p:cNvPr id="4" name="Footer Placeholder 3">
            <a:extLst>
              <a:ext uri="{FF2B5EF4-FFF2-40B4-BE49-F238E27FC236}">
                <a16:creationId xmlns:a16="http://schemas.microsoft.com/office/drawing/2014/main" id="{B32D10B9-E8A4-1778-68A3-17622F43EA2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178DA781-8257-3A2B-8A1D-73F966F6C773}"/>
              </a:ext>
            </a:extLst>
          </p:cNvPr>
          <p:cNvSpPr>
            <a:spLocks noGrp="1"/>
          </p:cNvSpPr>
          <p:nvPr>
            <p:ph type="sldNum" sz="quarter" idx="12"/>
          </p:nvPr>
        </p:nvSpPr>
        <p:spPr/>
        <p:txBody>
          <a:bodyPr/>
          <a:lstStyle/>
          <a:p>
            <a:fld id="{8E90A93A-CBEB-40B0-B638-E400989BEC3F}" type="slidenum">
              <a:rPr lang="zh-CN" altLang="en-US" smtClean="0"/>
              <a:pPr/>
              <a:t>20</a:t>
            </a:fld>
            <a:endParaRPr lang="zh-CN" altLang="en-US"/>
          </a:p>
        </p:txBody>
      </p:sp>
      <p:sp>
        <p:nvSpPr>
          <p:cNvPr id="7" name="TextBox 6">
            <a:extLst>
              <a:ext uri="{FF2B5EF4-FFF2-40B4-BE49-F238E27FC236}">
                <a16:creationId xmlns:a16="http://schemas.microsoft.com/office/drawing/2014/main" id="{9CD66FAA-2037-5DB3-0359-2CCB2FDF2E08}"/>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b="0" i="0">
                <a:solidFill>
                  <a:srgbClr val="222222"/>
                </a:solidFill>
                <a:effectLst/>
                <a:latin typeface="Arial" panose="020B0604020202020204" pitchFamily="34" charset="0"/>
              </a:rPr>
              <a:t>, Bogdan Vasilescu, and Christian Kästner. "Pinning is Futile: You Need </a:t>
            </a:r>
            <a:r>
              <a:rPr lang="en-US" sz="1400">
                <a:solidFill>
                  <a:srgbClr val="222222"/>
                </a:solidFill>
                <a:latin typeface="Arial" panose="020B0604020202020204" pitchFamily="34" charset="0"/>
              </a:rPr>
              <a:t>M</a:t>
            </a:r>
            <a:r>
              <a:rPr lang="en-US" sz="1400" b="0" i="0">
                <a:solidFill>
                  <a:srgbClr val="222222"/>
                </a:solidFill>
                <a:effectLst/>
                <a:latin typeface="Arial" panose="020B0604020202020204" pitchFamily="34" charset="0"/>
              </a:rPr>
              <a:t>ore </a:t>
            </a:r>
            <a:r>
              <a:rPr lang="en-US" sz="1400">
                <a:solidFill>
                  <a:srgbClr val="222222"/>
                </a:solidFill>
                <a:latin typeface="Arial" panose="020B0604020202020204" pitchFamily="34" charset="0"/>
              </a:rPr>
              <a:t>T</a:t>
            </a:r>
            <a:r>
              <a:rPr lang="en-US" sz="1400" b="0" i="0">
                <a:solidFill>
                  <a:srgbClr val="222222"/>
                </a:solidFill>
                <a:effectLst/>
                <a:latin typeface="Arial" panose="020B0604020202020204" pitchFamily="34" charset="0"/>
              </a:rPr>
              <a:t>han Local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ependency </a:t>
            </a:r>
            <a:r>
              <a:rPr lang="en-US" sz="1400">
                <a:solidFill>
                  <a:srgbClr val="222222"/>
                </a:solidFill>
                <a:latin typeface="Arial" panose="020B0604020202020204" pitchFamily="34" charset="0"/>
              </a:rPr>
              <a:t>V</a:t>
            </a:r>
            <a:r>
              <a:rPr lang="en-US" sz="1400" b="0" i="0">
                <a:solidFill>
                  <a:srgbClr val="222222"/>
                </a:solidFill>
                <a:effectLst/>
                <a:latin typeface="Arial" panose="020B0604020202020204" pitchFamily="34" charset="0"/>
              </a:rPr>
              <a:t>ersioning to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efend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gainst </a:t>
            </a:r>
            <a:r>
              <a:rPr lang="en-US" sz="1400">
                <a:solidFill>
                  <a:srgbClr val="222222"/>
                </a:solidFill>
                <a:latin typeface="Arial" panose="020B0604020202020204" pitchFamily="34" charset="0"/>
              </a:rPr>
              <a:t>S</a:t>
            </a:r>
            <a:r>
              <a:rPr lang="en-US" sz="1400" b="0" i="0">
                <a:solidFill>
                  <a:srgbClr val="222222"/>
                </a:solidFill>
                <a:effectLst/>
                <a:latin typeface="Arial" panose="020B0604020202020204" pitchFamily="34" charset="0"/>
              </a:rPr>
              <a:t>upply </a:t>
            </a:r>
            <a:r>
              <a:rPr lang="en-US" sz="1400">
                <a:solidFill>
                  <a:srgbClr val="222222"/>
                </a:solidFill>
                <a:latin typeface="Arial" panose="020B0604020202020204" pitchFamily="34" charset="0"/>
              </a:rPr>
              <a:t>C</a:t>
            </a:r>
            <a:r>
              <a:rPr lang="en-US" sz="1400" b="0" i="0">
                <a:solidFill>
                  <a:srgbClr val="222222"/>
                </a:solidFill>
                <a:effectLst/>
                <a:latin typeface="Arial" panose="020B0604020202020204" pitchFamily="34" charset="0"/>
              </a:rPr>
              <a:t>hain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ttacks." </a:t>
            </a:r>
            <a:r>
              <a:rPr lang="en-US" sz="1400" b="0" i="1">
                <a:solidFill>
                  <a:srgbClr val="222222"/>
                </a:solidFill>
                <a:effectLst/>
                <a:latin typeface="Arial" panose="020B0604020202020204" pitchFamily="34" charset="0"/>
              </a:rPr>
              <a:t>Proceedings of the ACM on Software Engineering</a:t>
            </a:r>
            <a:r>
              <a:rPr lang="en-US" sz="1400" b="0" i="0">
                <a:solidFill>
                  <a:srgbClr val="222222"/>
                </a:solidFill>
                <a:effectLst/>
                <a:latin typeface="Arial" panose="020B0604020202020204" pitchFamily="34" charset="0"/>
              </a:rPr>
              <a:t> 2.FSE (2025): 266-289.</a:t>
            </a:r>
            <a:r>
              <a:rPr lang="en-US" sz="1400" b="1">
                <a:solidFill>
                  <a:srgbClr val="222222"/>
                </a:solidFill>
                <a:latin typeface="Arial" panose="020B0604020202020204" pitchFamily="34" charset="0"/>
              </a:rPr>
              <a:t> 🏆Distinguished Paper Award</a:t>
            </a:r>
            <a:endParaRPr lang="en-US" sz="1400"/>
          </a:p>
        </p:txBody>
      </p:sp>
      <p:grpSp>
        <p:nvGrpSpPr>
          <p:cNvPr id="17" name="Group 16">
            <a:extLst>
              <a:ext uri="{FF2B5EF4-FFF2-40B4-BE49-F238E27FC236}">
                <a16:creationId xmlns:a16="http://schemas.microsoft.com/office/drawing/2014/main" id="{C511E969-D8C9-813F-1590-0F7E933823F0}"/>
              </a:ext>
            </a:extLst>
          </p:cNvPr>
          <p:cNvGrpSpPr/>
          <p:nvPr/>
        </p:nvGrpSpPr>
        <p:grpSpPr>
          <a:xfrm>
            <a:off x="843379" y="3414880"/>
            <a:ext cx="10142738" cy="864154"/>
            <a:chOff x="843379" y="3414880"/>
            <a:chExt cx="10142738" cy="864154"/>
          </a:xfrm>
        </p:grpSpPr>
        <p:sp>
          <p:nvSpPr>
            <p:cNvPr id="8" name="Rectangle 7">
              <a:extLst>
                <a:ext uri="{FF2B5EF4-FFF2-40B4-BE49-F238E27FC236}">
                  <a16:creationId xmlns:a16="http://schemas.microsoft.com/office/drawing/2014/main" id="{9653FF0E-7EB6-CE8D-5AB2-3CC8C7F97284}"/>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Pinning Dependencies</a:t>
              </a:r>
            </a:p>
          </p:txBody>
        </p:sp>
        <p:sp>
          <p:nvSpPr>
            <p:cNvPr id="9" name="Rectangle 8">
              <a:extLst>
                <a:ext uri="{FF2B5EF4-FFF2-40B4-BE49-F238E27FC236}">
                  <a16:creationId xmlns:a16="http://schemas.microsoft.com/office/drawing/2014/main" id="{4D5F6C19-28AA-C41D-4BFD-9394A05A823B}"/>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Attack Surface</a:t>
              </a:r>
            </a:p>
          </p:txBody>
        </p:sp>
        <p:cxnSp>
          <p:nvCxnSpPr>
            <p:cNvPr id="10" name="Straight Arrow Connector 9">
              <a:extLst>
                <a:ext uri="{FF2B5EF4-FFF2-40B4-BE49-F238E27FC236}">
                  <a16:creationId xmlns:a16="http://schemas.microsoft.com/office/drawing/2014/main" id="{5BF26AF5-B374-4354-B9E4-AD76FF0424EF}"/>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8FF5D00-10D6-8D15-BF47-87497CC988AB}"/>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reduces</a:t>
              </a:r>
              <a:endParaRPr lang="en-US"/>
            </a:p>
          </p:txBody>
        </p:sp>
      </p:grpSp>
      <p:sp>
        <p:nvSpPr>
          <p:cNvPr id="12" name="TextBox 11">
            <a:extLst>
              <a:ext uri="{FF2B5EF4-FFF2-40B4-BE49-F238E27FC236}">
                <a16:creationId xmlns:a16="http://schemas.microsoft.com/office/drawing/2014/main" id="{D3D97AF0-1A4F-F531-9E12-83B818888933}"/>
              </a:ext>
            </a:extLst>
          </p:cNvPr>
          <p:cNvSpPr txBox="1"/>
          <p:nvPr/>
        </p:nvSpPr>
        <p:spPr>
          <a:xfrm>
            <a:off x="5810435" y="5046955"/>
            <a:ext cx="184731" cy="369332"/>
          </a:xfrm>
          <a:prstGeom prst="rect">
            <a:avLst/>
          </a:prstGeom>
          <a:noFill/>
        </p:spPr>
        <p:txBody>
          <a:bodyPr wrap="none" rtlCol="0">
            <a:spAutoFit/>
          </a:bodyPr>
          <a:lstStyle/>
          <a:p>
            <a:endParaRPr lang="en-US"/>
          </a:p>
        </p:txBody>
      </p:sp>
      <p:sp>
        <p:nvSpPr>
          <p:cNvPr id="15" name="TextBox 14">
            <a:extLst>
              <a:ext uri="{FF2B5EF4-FFF2-40B4-BE49-F238E27FC236}">
                <a16:creationId xmlns:a16="http://schemas.microsoft.com/office/drawing/2014/main" id="{8D29EDDC-A5DD-AB6D-4AF3-B9D6BFFFFDDA}"/>
              </a:ext>
            </a:extLst>
          </p:cNvPr>
          <p:cNvSpPr txBox="1"/>
          <p:nvPr/>
        </p:nvSpPr>
        <p:spPr>
          <a:xfrm>
            <a:off x="3742265" y="4761929"/>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a:t>
            </a:r>
            <a:r>
              <a:rPr lang="en-US" sz="2400" b="1">
                <a:solidFill>
                  <a:prstClr val="black"/>
                </a:solidFill>
                <a:latin typeface="Gadugi" panose="020B0502040204020203" pitchFamily="34" charset="0"/>
                <a:ea typeface="Gadugi" panose="020B0502040204020203" pitchFamily="34" charset="0"/>
              </a:rPr>
              <a:t>Myth</a:t>
            </a:r>
            <a:r>
              <a:rPr lang="en-US" sz="2400">
                <a:solidFill>
                  <a:prstClr val="black"/>
                </a:solidFill>
                <a:latin typeface="Gadugi" panose="020B0502040204020203" pitchFamily="34" charset="0"/>
                <a:ea typeface="Gadugi" panose="020B0502040204020203" pitchFamily="34" charset="0"/>
              </a:rPr>
              <a:t>)</a:t>
            </a:r>
            <a:endParaRPr lang="en-US"/>
          </a:p>
        </p:txBody>
      </p:sp>
    </p:spTree>
    <p:extLst>
      <p:ext uri="{BB962C8B-B14F-4D97-AF65-F5344CB8AC3E}">
        <p14:creationId xmlns:p14="http://schemas.microsoft.com/office/powerpoint/2010/main" val="11278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726B4-0965-83C8-B199-1167C40F5687}"/>
              </a:ext>
            </a:extLst>
          </p:cNvPr>
          <p:cNvSpPr>
            <a:spLocks noGrp="1"/>
          </p:cNvSpPr>
          <p:nvPr>
            <p:ph type="title"/>
          </p:nvPr>
        </p:nvSpPr>
        <p:spPr/>
        <p:txBody>
          <a:bodyPr/>
          <a:lstStyle/>
          <a:p>
            <a:r>
              <a:rPr lang="en-US"/>
              <a:t>Completed Work : Pinning vs. Floating</a:t>
            </a:r>
          </a:p>
        </p:txBody>
      </p:sp>
      <p:sp>
        <p:nvSpPr>
          <p:cNvPr id="3" name="Content Placeholder 2">
            <a:extLst>
              <a:ext uri="{FF2B5EF4-FFF2-40B4-BE49-F238E27FC236}">
                <a16:creationId xmlns:a16="http://schemas.microsoft.com/office/drawing/2014/main" id="{90594C18-D3CA-3635-E0D9-1E1CDAD79F38}"/>
              </a:ext>
            </a:extLst>
          </p:cNvPr>
          <p:cNvSpPr>
            <a:spLocks noGrp="1"/>
          </p:cNvSpPr>
          <p:nvPr>
            <p:ph idx="1"/>
          </p:nvPr>
        </p:nvSpPr>
        <p:spPr>
          <a:xfrm>
            <a:off x="320948" y="1205069"/>
            <a:ext cx="11584419" cy="1218535"/>
          </a:xfrm>
        </p:spPr>
        <p:txBody>
          <a:bodyPr/>
          <a:lstStyle/>
          <a:p>
            <a:r>
              <a:rPr lang="en-US" altLang="zh-CN" b="1"/>
              <a:t>Research Question: </a:t>
            </a:r>
            <a:r>
              <a:rPr lang="en-US" altLang="zh-CN"/>
              <a:t>Does pinning dependency versions affect software projects’ vulnerability to software supply chain attacks? </a:t>
            </a:r>
            <a:endParaRPr lang="en-US"/>
          </a:p>
          <a:p>
            <a:endParaRPr lang="en-US"/>
          </a:p>
        </p:txBody>
      </p:sp>
      <p:sp>
        <p:nvSpPr>
          <p:cNvPr id="4" name="Footer Placeholder 3">
            <a:extLst>
              <a:ext uri="{FF2B5EF4-FFF2-40B4-BE49-F238E27FC236}">
                <a16:creationId xmlns:a16="http://schemas.microsoft.com/office/drawing/2014/main" id="{B91CABD5-0E7F-E3A5-962C-8891D4095F21}"/>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0518484-9E52-FFAC-EC2A-9C4B464C9177}"/>
              </a:ext>
            </a:extLst>
          </p:cNvPr>
          <p:cNvSpPr>
            <a:spLocks noGrp="1"/>
          </p:cNvSpPr>
          <p:nvPr>
            <p:ph type="sldNum" sz="quarter" idx="12"/>
          </p:nvPr>
        </p:nvSpPr>
        <p:spPr/>
        <p:txBody>
          <a:bodyPr/>
          <a:lstStyle/>
          <a:p>
            <a:fld id="{8E90A93A-CBEB-40B0-B638-E400989BEC3F}" type="slidenum">
              <a:rPr lang="zh-CN" altLang="en-US" smtClean="0"/>
              <a:pPr/>
              <a:t>21</a:t>
            </a:fld>
            <a:endParaRPr lang="zh-CN" altLang="en-US"/>
          </a:p>
        </p:txBody>
      </p:sp>
      <p:sp>
        <p:nvSpPr>
          <p:cNvPr id="7" name="TextBox 6">
            <a:extLst>
              <a:ext uri="{FF2B5EF4-FFF2-40B4-BE49-F238E27FC236}">
                <a16:creationId xmlns:a16="http://schemas.microsoft.com/office/drawing/2014/main" id="{C46FB279-5FC1-6DE7-2248-ACD1734C05C9}"/>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b="0" i="0">
                <a:solidFill>
                  <a:srgbClr val="222222"/>
                </a:solidFill>
                <a:effectLst/>
                <a:latin typeface="Arial" panose="020B0604020202020204" pitchFamily="34" charset="0"/>
              </a:rPr>
              <a:t>, Bogdan Vasilescu, and Christian Kästner. "Pinning is Futile: You Need </a:t>
            </a:r>
            <a:r>
              <a:rPr lang="en-US" sz="1400">
                <a:solidFill>
                  <a:srgbClr val="222222"/>
                </a:solidFill>
                <a:latin typeface="Arial" panose="020B0604020202020204" pitchFamily="34" charset="0"/>
              </a:rPr>
              <a:t>M</a:t>
            </a:r>
            <a:r>
              <a:rPr lang="en-US" sz="1400" b="0" i="0">
                <a:solidFill>
                  <a:srgbClr val="222222"/>
                </a:solidFill>
                <a:effectLst/>
                <a:latin typeface="Arial" panose="020B0604020202020204" pitchFamily="34" charset="0"/>
              </a:rPr>
              <a:t>ore </a:t>
            </a:r>
            <a:r>
              <a:rPr lang="en-US" sz="1400">
                <a:solidFill>
                  <a:srgbClr val="222222"/>
                </a:solidFill>
                <a:latin typeface="Arial" panose="020B0604020202020204" pitchFamily="34" charset="0"/>
              </a:rPr>
              <a:t>T</a:t>
            </a:r>
            <a:r>
              <a:rPr lang="en-US" sz="1400" b="0" i="0">
                <a:solidFill>
                  <a:srgbClr val="222222"/>
                </a:solidFill>
                <a:effectLst/>
                <a:latin typeface="Arial" panose="020B0604020202020204" pitchFamily="34" charset="0"/>
              </a:rPr>
              <a:t>han Local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ependency </a:t>
            </a:r>
            <a:r>
              <a:rPr lang="en-US" sz="1400">
                <a:solidFill>
                  <a:srgbClr val="222222"/>
                </a:solidFill>
                <a:latin typeface="Arial" panose="020B0604020202020204" pitchFamily="34" charset="0"/>
              </a:rPr>
              <a:t>V</a:t>
            </a:r>
            <a:r>
              <a:rPr lang="en-US" sz="1400" b="0" i="0">
                <a:solidFill>
                  <a:srgbClr val="222222"/>
                </a:solidFill>
                <a:effectLst/>
                <a:latin typeface="Arial" panose="020B0604020202020204" pitchFamily="34" charset="0"/>
              </a:rPr>
              <a:t>ersioning to </a:t>
            </a:r>
            <a:r>
              <a:rPr lang="en-US" sz="1400">
                <a:solidFill>
                  <a:srgbClr val="222222"/>
                </a:solidFill>
                <a:latin typeface="Arial" panose="020B0604020202020204" pitchFamily="34" charset="0"/>
              </a:rPr>
              <a:t>D</a:t>
            </a:r>
            <a:r>
              <a:rPr lang="en-US" sz="1400" b="0" i="0">
                <a:solidFill>
                  <a:srgbClr val="222222"/>
                </a:solidFill>
                <a:effectLst/>
                <a:latin typeface="Arial" panose="020B0604020202020204" pitchFamily="34" charset="0"/>
              </a:rPr>
              <a:t>efend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gainst </a:t>
            </a:r>
            <a:r>
              <a:rPr lang="en-US" sz="1400">
                <a:solidFill>
                  <a:srgbClr val="222222"/>
                </a:solidFill>
                <a:latin typeface="Arial" panose="020B0604020202020204" pitchFamily="34" charset="0"/>
              </a:rPr>
              <a:t>S</a:t>
            </a:r>
            <a:r>
              <a:rPr lang="en-US" sz="1400" b="0" i="0">
                <a:solidFill>
                  <a:srgbClr val="222222"/>
                </a:solidFill>
                <a:effectLst/>
                <a:latin typeface="Arial" panose="020B0604020202020204" pitchFamily="34" charset="0"/>
              </a:rPr>
              <a:t>upply </a:t>
            </a:r>
            <a:r>
              <a:rPr lang="en-US" sz="1400">
                <a:solidFill>
                  <a:srgbClr val="222222"/>
                </a:solidFill>
                <a:latin typeface="Arial" panose="020B0604020202020204" pitchFamily="34" charset="0"/>
              </a:rPr>
              <a:t>C</a:t>
            </a:r>
            <a:r>
              <a:rPr lang="en-US" sz="1400" b="0" i="0">
                <a:solidFill>
                  <a:srgbClr val="222222"/>
                </a:solidFill>
                <a:effectLst/>
                <a:latin typeface="Arial" panose="020B0604020202020204" pitchFamily="34" charset="0"/>
              </a:rPr>
              <a:t>hain </a:t>
            </a:r>
            <a:r>
              <a:rPr lang="en-US" sz="1400">
                <a:solidFill>
                  <a:srgbClr val="222222"/>
                </a:solidFill>
                <a:latin typeface="Arial" panose="020B0604020202020204" pitchFamily="34" charset="0"/>
              </a:rPr>
              <a:t>A</a:t>
            </a:r>
            <a:r>
              <a:rPr lang="en-US" sz="1400" b="0" i="0">
                <a:solidFill>
                  <a:srgbClr val="222222"/>
                </a:solidFill>
                <a:effectLst/>
                <a:latin typeface="Arial" panose="020B0604020202020204" pitchFamily="34" charset="0"/>
              </a:rPr>
              <a:t>ttacks." </a:t>
            </a:r>
            <a:r>
              <a:rPr lang="en-US" sz="1400" b="0" i="1">
                <a:solidFill>
                  <a:srgbClr val="222222"/>
                </a:solidFill>
                <a:effectLst/>
                <a:latin typeface="Arial" panose="020B0604020202020204" pitchFamily="34" charset="0"/>
              </a:rPr>
              <a:t>Proceedings of the ACM on Software Engineering</a:t>
            </a:r>
            <a:r>
              <a:rPr lang="en-US" sz="1400" b="0" i="0">
                <a:solidFill>
                  <a:srgbClr val="222222"/>
                </a:solidFill>
                <a:effectLst/>
                <a:latin typeface="Arial" panose="020B0604020202020204" pitchFamily="34" charset="0"/>
              </a:rPr>
              <a:t> 2.FSE (2025): 266-289. </a:t>
            </a:r>
            <a:r>
              <a:rPr lang="en-US" sz="1400" b="1" i="0">
                <a:solidFill>
                  <a:srgbClr val="222222"/>
                </a:solidFill>
                <a:effectLst/>
                <a:latin typeface="Arial" panose="020B0604020202020204" pitchFamily="34" charset="0"/>
              </a:rPr>
              <a:t>🏆Distinguished Paper Award</a:t>
            </a:r>
            <a:endParaRPr lang="en-US" sz="1400" b="1"/>
          </a:p>
        </p:txBody>
      </p:sp>
      <p:sp>
        <p:nvSpPr>
          <p:cNvPr id="15" name="TextBox 14">
            <a:extLst>
              <a:ext uri="{FF2B5EF4-FFF2-40B4-BE49-F238E27FC236}">
                <a16:creationId xmlns:a16="http://schemas.microsoft.com/office/drawing/2014/main" id="{A445E3C9-8FF0-2EDD-2340-05ED7E1F8B76}"/>
              </a:ext>
            </a:extLst>
          </p:cNvPr>
          <p:cNvSpPr txBox="1"/>
          <p:nvPr/>
        </p:nvSpPr>
        <p:spPr>
          <a:xfrm>
            <a:off x="7484203" y="5099463"/>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Alternative Theory</a:t>
            </a:r>
            <a:endParaRPr lang="en-US"/>
          </a:p>
        </p:txBody>
      </p:sp>
      <p:grpSp>
        <p:nvGrpSpPr>
          <p:cNvPr id="26" name="Group 25">
            <a:extLst>
              <a:ext uri="{FF2B5EF4-FFF2-40B4-BE49-F238E27FC236}">
                <a16:creationId xmlns:a16="http://schemas.microsoft.com/office/drawing/2014/main" id="{6A3B87A8-5E13-C000-4EC9-E4374CC789E8}"/>
              </a:ext>
            </a:extLst>
          </p:cNvPr>
          <p:cNvGrpSpPr/>
          <p:nvPr/>
        </p:nvGrpSpPr>
        <p:grpSpPr>
          <a:xfrm>
            <a:off x="843379" y="2363412"/>
            <a:ext cx="10142738" cy="3289519"/>
            <a:chOff x="843379" y="2363412"/>
            <a:chExt cx="10142738" cy="3289519"/>
          </a:xfrm>
        </p:grpSpPr>
        <p:cxnSp>
          <p:nvCxnSpPr>
            <p:cNvPr id="16" name="Straight Arrow Connector 15">
              <a:extLst>
                <a:ext uri="{FF2B5EF4-FFF2-40B4-BE49-F238E27FC236}">
                  <a16:creationId xmlns:a16="http://schemas.microsoft.com/office/drawing/2014/main" id="{FFD4E257-E126-1C1B-0815-884EC173BD3D}"/>
                </a:ext>
              </a:extLst>
            </p:cNvPr>
            <p:cNvCxnSpPr>
              <a:cxnSpLocks/>
              <a:stCxn id="13" idx="2"/>
            </p:cNvCxnSpPr>
            <p:nvPr/>
          </p:nvCxnSpPr>
          <p:spPr>
            <a:xfrm>
              <a:off x="6093965" y="3060002"/>
              <a:ext cx="2035" cy="8827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7530CD9-5B5D-F061-A1DB-B05C8748E048}"/>
                </a:ext>
              </a:extLst>
            </p:cNvPr>
            <p:cNvCxnSpPr>
              <a:cxnSpLocks/>
              <a:stCxn id="14" idx="0"/>
            </p:cNvCxnSpPr>
            <p:nvPr/>
          </p:nvCxnSpPr>
          <p:spPr>
            <a:xfrm flipH="1" flipV="1">
              <a:off x="6093965" y="3981635"/>
              <a:ext cx="2035" cy="77198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C3317386-E1C2-1CD0-A5A3-A62FAC3FE0F3}"/>
                </a:ext>
              </a:extLst>
            </p:cNvPr>
            <p:cNvGrpSpPr/>
            <p:nvPr/>
          </p:nvGrpSpPr>
          <p:grpSpPr>
            <a:xfrm>
              <a:off x="843379" y="2363412"/>
              <a:ext cx="10142738" cy="3289519"/>
              <a:chOff x="843379" y="2363412"/>
              <a:chExt cx="10142738" cy="3289519"/>
            </a:xfrm>
          </p:grpSpPr>
          <p:sp>
            <p:nvSpPr>
              <p:cNvPr id="8" name="Rectangle 7">
                <a:extLst>
                  <a:ext uri="{FF2B5EF4-FFF2-40B4-BE49-F238E27FC236}">
                    <a16:creationId xmlns:a16="http://schemas.microsoft.com/office/drawing/2014/main" id="{A94E51D2-DF1E-40C7-3C9D-4B99FE35D449}"/>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Pinning Dependencies</a:t>
                </a:r>
              </a:p>
            </p:txBody>
          </p:sp>
          <p:sp>
            <p:nvSpPr>
              <p:cNvPr id="9" name="Rectangle 8">
                <a:extLst>
                  <a:ext uri="{FF2B5EF4-FFF2-40B4-BE49-F238E27FC236}">
                    <a16:creationId xmlns:a16="http://schemas.microsoft.com/office/drawing/2014/main" id="{38C5BA4C-A20C-B30B-ADF0-F484533206A4}"/>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Attack Surface</a:t>
                </a:r>
              </a:p>
            </p:txBody>
          </p:sp>
          <p:cxnSp>
            <p:nvCxnSpPr>
              <p:cNvPr id="10" name="Straight Arrow Connector 9">
                <a:extLst>
                  <a:ext uri="{FF2B5EF4-FFF2-40B4-BE49-F238E27FC236}">
                    <a16:creationId xmlns:a16="http://schemas.microsoft.com/office/drawing/2014/main" id="{BE9B24E5-D6BF-3F5A-CDC1-07C647EEDFEF}"/>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C12C40C9-F07C-E900-CDAE-21194AD11460}"/>
                  </a:ext>
                </a:extLst>
              </p:cNvPr>
              <p:cNvSpPr/>
              <p:nvPr/>
            </p:nvSpPr>
            <p:spPr>
              <a:xfrm>
                <a:off x="4196178" y="2363412"/>
                <a:ext cx="3795573"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Dependency Graph Size</a:t>
                </a:r>
              </a:p>
            </p:txBody>
          </p:sp>
          <p:sp>
            <p:nvSpPr>
              <p:cNvPr id="14" name="Rectangle 13">
                <a:extLst>
                  <a:ext uri="{FF2B5EF4-FFF2-40B4-BE49-F238E27FC236}">
                    <a16:creationId xmlns:a16="http://schemas.microsoft.com/office/drawing/2014/main" id="{3C02B213-4CF9-CCB5-D39F-B78C56876554}"/>
                  </a:ext>
                </a:extLst>
              </p:cNvPr>
              <p:cNvSpPr/>
              <p:nvPr/>
            </p:nvSpPr>
            <p:spPr>
              <a:xfrm>
                <a:off x="4200247" y="4753624"/>
                <a:ext cx="3791505" cy="8993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Dependency Resolution Algorithm</a:t>
                </a:r>
              </a:p>
            </p:txBody>
          </p:sp>
          <p:sp>
            <p:nvSpPr>
              <p:cNvPr id="22" name="TextBox 21">
                <a:extLst>
                  <a:ext uri="{FF2B5EF4-FFF2-40B4-BE49-F238E27FC236}">
                    <a16:creationId xmlns:a16="http://schemas.microsoft.com/office/drawing/2014/main" id="{7382F52B-51F8-B90A-5332-41D30954D082}"/>
                  </a:ext>
                </a:extLst>
              </p:cNvPr>
              <p:cNvSpPr txBox="1"/>
              <p:nvPr/>
            </p:nvSpPr>
            <p:spPr>
              <a:xfrm>
                <a:off x="5933790" y="3202799"/>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mediates</a:t>
                </a:r>
                <a:endParaRPr lang="en-US"/>
              </a:p>
            </p:txBody>
          </p:sp>
          <p:sp>
            <p:nvSpPr>
              <p:cNvPr id="24" name="TextBox 23">
                <a:extLst>
                  <a:ext uri="{FF2B5EF4-FFF2-40B4-BE49-F238E27FC236}">
                    <a16:creationId xmlns:a16="http://schemas.microsoft.com/office/drawing/2014/main" id="{89FFC25D-D017-40AD-FACD-DFF46FE9D167}"/>
                  </a:ext>
                </a:extLst>
              </p:cNvPr>
              <p:cNvSpPr txBox="1"/>
              <p:nvPr/>
            </p:nvSpPr>
            <p:spPr>
              <a:xfrm>
                <a:off x="5957463" y="4209068"/>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mediates</a:t>
                </a:r>
                <a:endParaRPr lang="en-US"/>
              </a:p>
            </p:txBody>
          </p:sp>
        </p:grpSp>
      </p:grpSp>
    </p:spTree>
    <p:extLst>
      <p:ext uri="{BB962C8B-B14F-4D97-AF65-F5344CB8AC3E}">
        <p14:creationId xmlns:p14="http://schemas.microsoft.com/office/powerpoint/2010/main" val="3623607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E146-A981-4829-2B9A-4A435682430D}"/>
              </a:ext>
            </a:extLst>
          </p:cNvPr>
          <p:cNvSpPr>
            <a:spLocks noGrp="1"/>
          </p:cNvSpPr>
          <p:nvPr>
            <p:ph type="title"/>
          </p:nvPr>
        </p:nvSpPr>
        <p:spPr/>
        <p:txBody>
          <a:bodyPr/>
          <a:lstStyle/>
          <a:p>
            <a:r>
              <a:rPr lang="en-US"/>
              <a:t>Completed Work: Pinning vs. Floating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122AB8-1A21-F7C3-D512-936140698C03}"/>
                  </a:ext>
                </a:extLst>
              </p:cNvPr>
              <p:cNvSpPr>
                <a:spLocks noGrp="1"/>
              </p:cNvSpPr>
              <p:nvPr>
                <p:ph idx="1"/>
              </p:nvPr>
            </p:nvSpPr>
            <p:spPr/>
            <p:txBody>
              <a:bodyPr>
                <a:normAutofit/>
              </a:bodyPr>
              <a:lstStyle/>
              <a:p>
                <a:r>
                  <a:rPr lang="en-US" b="1"/>
                  <a:t>Method: </a:t>
                </a:r>
                <a:r>
                  <a:rPr lang="en-US">
                    <a:solidFill>
                      <a:srgbClr val="FF0000"/>
                    </a:solidFill>
                  </a:rPr>
                  <a:t>Counterfactual Simulation</a:t>
                </a:r>
              </a:p>
              <a:p>
                <a:pPr lvl="1"/>
                <a:r>
                  <a:rPr lang="en-US"/>
                  <a:t>For each project, simulate the dependency graph with pinning in different times</a:t>
                </a:r>
              </a:p>
              <a:p>
                <a:pPr lvl="1"/>
                <a:r>
                  <a:rPr lang="en-US"/>
                  <a:t>Panel regression to estimate the effect interacting with dep graph size</a:t>
                </a:r>
              </a:p>
              <a:p>
                <a:pPr marL="457200" lvl="1" indent="0">
                  <a:buNone/>
                </a:pPr>
                <a14:m>
                  <m:oMathPara xmlns:m="http://schemas.openxmlformats.org/officeDocument/2006/math">
                    <m:oMath>
                      <m:r>
                        <m:rPr>
                          <m:sty m:val="p"/>
                        </m:rPr>
                        <a:rPr lang="en-US" i="0">
                          <a:latin typeface="Cambria Math" panose="02040503050406030204" pitchFamily="18" charset="0"/>
                        </a:rPr>
                        <m:t>ln</m:t>
                      </m:r>
                      <m:sSub>
                        <m:sSubPr>
                          <m:ctrlPr>
                            <a:rPr lang="en-US" i="1">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𝑟𝑖𝑠𝑘</m:t>
                              </m:r>
                            </m:e>
                          </m:d>
                        </m:e>
                        <m:sub>
                          <m:r>
                            <a:rPr lang="en-US" b="0" i="1" smtClean="0">
                              <a:latin typeface="Cambria Math" panose="02040503050406030204" pitchFamily="18" charset="0"/>
                            </a:rPr>
                            <m:t>𝑖𝑡</m:t>
                          </m:r>
                        </m:sub>
                      </m:sSub>
                      <m:r>
                        <a:rPr lang="en-US" i="1">
                          <a:latin typeface="Cambria Math" panose="02040503050406030204" pitchFamily="18" charset="0"/>
                        </a:rPr>
                        <m:t> ∼ </m:t>
                      </m:r>
                      <m:r>
                        <a:rPr lang="en-US" i="1">
                          <a:latin typeface="Cambria Math" panose="02040503050406030204" pitchFamily="18" charset="0"/>
                        </a:rPr>
                        <m:t>𝑝𝑖𝑛𝑛𝑖𝑛</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𝑖𝑡</m:t>
                          </m:r>
                        </m:sub>
                      </m:sSub>
                      <m:r>
                        <a:rPr lang="en-US" i="1">
                          <a:latin typeface="Cambria Math" panose="02040503050406030204" pitchFamily="18" charset="0"/>
                        </a:rPr>
                        <m:t> + </m:t>
                      </m:r>
                      <m:r>
                        <m:rPr>
                          <m:sty m:val="p"/>
                        </m:rPr>
                        <a:rPr lang="en-US" i="0">
                          <a:latin typeface="Cambria Math" panose="02040503050406030204" pitchFamily="18" charset="0"/>
                        </a:rPr>
                        <m:t>ln</m:t>
                      </m:r>
                      <m:r>
                        <a:rPr lang="en-US" i="1">
                          <a:latin typeface="Cambria Math" panose="02040503050406030204" pitchFamily="18" charset="0"/>
                        </a:rPr>
                        <m:t>(</m:t>
                      </m:r>
                      <m:r>
                        <a:rPr lang="en-US" i="1">
                          <a:latin typeface="Cambria Math" panose="02040503050406030204" pitchFamily="18" charset="0"/>
                        </a:rPr>
                        <m:t>𝑠𝑖𝑧𝑒</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𝑖𝑡</m:t>
                          </m:r>
                        </m:sub>
                      </m:sSub>
                      <m:r>
                        <a:rPr lang="en-US" i="1">
                          <a:latin typeface="Cambria Math" panose="02040503050406030204" pitchFamily="18" charset="0"/>
                        </a:rPr>
                        <m:t>)) + </m:t>
                      </m:r>
                      <m:r>
                        <a:rPr lang="en-US" i="1">
                          <a:latin typeface="Cambria Math" panose="02040503050406030204" pitchFamily="18" charset="0"/>
                        </a:rPr>
                        <m:t>𝑝𝑖𝑛𝑛𝑖𝑛</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𝑖𝑡</m:t>
                          </m:r>
                        </m:sub>
                      </m:sSub>
                      <m:r>
                        <a:rPr lang="en-US" i="1">
                          <a:latin typeface="Cambria Math" panose="02040503050406030204" pitchFamily="18" charset="0"/>
                        </a:rPr>
                        <m:t> × </m:t>
                      </m:r>
                      <m:r>
                        <m:rPr>
                          <m:sty m:val="p"/>
                        </m:rPr>
                        <a:rPr lang="en-US" i="0">
                          <a:latin typeface="Cambria Math" panose="02040503050406030204" pitchFamily="18" charset="0"/>
                        </a:rPr>
                        <m:t>ln</m:t>
                      </m:r>
                      <m:r>
                        <a:rPr lang="en-US" i="1">
                          <a:latin typeface="Cambria Math" panose="02040503050406030204" pitchFamily="18" charset="0"/>
                        </a:rPr>
                        <m:t>(</m:t>
                      </m:r>
                      <m:r>
                        <a:rPr lang="en-US" i="1">
                          <a:latin typeface="Cambria Math" panose="02040503050406030204" pitchFamily="18" charset="0"/>
                        </a:rPr>
                        <m:t>𝑠𝑖𝑧𝑒</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b="0" i="1" smtClean="0">
                              <a:latin typeface="Cambria Math" panose="02040503050406030204" pitchFamily="18" charset="0"/>
                            </a:rPr>
                            <m:t>𝑖𝑡</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𝑖</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𝑡</m:t>
                          </m:r>
                        </m:sub>
                      </m:sSub>
                    </m:oMath>
                  </m:oMathPara>
                </a14:m>
                <a:endParaRPr lang="en-US"/>
              </a:p>
              <a:p>
                <a:r>
                  <a:rPr lang="en-US" altLang="zh-CN" b="1"/>
                  <a:t>Assumption for Causal Interpretation</a:t>
                </a:r>
                <a:r>
                  <a:rPr lang="en-US" b="1"/>
                  <a:t>:</a:t>
                </a:r>
              </a:p>
              <a:p>
                <a:pPr lvl="1"/>
                <a:r>
                  <a:rPr lang="en-US"/>
                  <a:t>The simulation framework can accurately simulate the alternative dependency graph with pinning to compute counterfactual outcome in historical timepoints</a:t>
                </a:r>
              </a:p>
              <a:p>
                <a:r>
                  <a:rPr lang="en-US" b="1"/>
                  <a:t>Alternative Explanations:</a:t>
                </a:r>
              </a:p>
              <a:p>
                <a:pPr lvl="1"/>
                <a:r>
                  <a:rPr lang="en-US"/>
                  <a:t>Systematic artifacts out of simulation errors? =&gt; large-scale experiment using the existing </a:t>
                </a:r>
                <a:r>
                  <a:rPr lang="en-US" err="1"/>
                  <a:t>npm</a:t>
                </a:r>
                <a:r>
                  <a:rPr lang="en-US"/>
                  <a:t> infrastructure, multiple observations per project</a:t>
                </a:r>
              </a:p>
            </p:txBody>
          </p:sp>
        </mc:Choice>
        <mc:Fallback xmlns="">
          <p:sp>
            <p:nvSpPr>
              <p:cNvPr id="3" name="Content Placeholder 2">
                <a:extLst>
                  <a:ext uri="{FF2B5EF4-FFF2-40B4-BE49-F238E27FC236}">
                    <a16:creationId xmlns:a16="http://schemas.microsoft.com/office/drawing/2014/main" id="{1D122AB8-1A21-F7C3-D512-936140698C03}"/>
                  </a:ext>
                </a:extLst>
              </p:cNvPr>
              <p:cNvSpPr>
                <a:spLocks noGrp="1" noRot="1" noChangeAspect="1" noMove="1" noResize="1" noEditPoints="1" noAdjustHandles="1" noChangeArrowheads="1" noChangeShapeType="1" noTextEdit="1"/>
              </p:cNvSpPr>
              <p:nvPr>
                <p:ph idx="1"/>
              </p:nvPr>
            </p:nvSpPr>
            <p:spPr>
              <a:blipFill>
                <a:blip r:embed="rId2"/>
                <a:stretch>
                  <a:fillRect l="-737" t="-240" r="-789" b="-24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678D871-6EDD-4BB9-822E-0833B6232AA6}"/>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9D1786CD-A3E5-D5EE-3505-CF8A8490F85E}"/>
              </a:ext>
            </a:extLst>
          </p:cNvPr>
          <p:cNvSpPr>
            <a:spLocks noGrp="1"/>
          </p:cNvSpPr>
          <p:nvPr>
            <p:ph type="sldNum" sz="quarter" idx="12"/>
          </p:nvPr>
        </p:nvSpPr>
        <p:spPr/>
        <p:txBody>
          <a:bodyPr/>
          <a:lstStyle/>
          <a:p>
            <a:fld id="{8E90A93A-CBEB-40B0-B638-E400989BEC3F}" type="slidenum">
              <a:rPr lang="zh-CN" altLang="en-US" smtClean="0"/>
              <a:pPr/>
              <a:t>22</a:t>
            </a:fld>
            <a:endParaRPr lang="zh-CN" altLang="en-US"/>
          </a:p>
        </p:txBody>
      </p:sp>
    </p:spTree>
    <p:extLst>
      <p:ext uri="{BB962C8B-B14F-4D97-AF65-F5344CB8AC3E}">
        <p14:creationId xmlns:p14="http://schemas.microsoft.com/office/powerpoint/2010/main" val="266168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6191-CAC6-161B-E62D-498F0D20C0C5}"/>
              </a:ext>
            </a:extLst>
          </p:cNvPr>
          <p:cNvSpPr>
            <a:spLocks noGrp="1"/>
          </p:cNvSpPr>
          <p:nvPr>
            <p:ph type="title"/>
          </p:nvPr>
        </p:nvSpPr>
        <p:spPr/>
        <p:txBody>
          <a:bodyPr/>
          <a:lstStyle/>
          <a:p>
            <a:r>
              <a:rPr lang="en-US"/>
              <a:t>Completed Work: Pinning vs. Floating</a:t>
            </a:r>
          </a:p>
        </p:txBody>
      </p:sp>
      <p:sp>
        <p:nvSpPr>
          <p:cNvPr id="4" name="Footer Placeholder 3">
            <a:extLst>
              <a:ext uri="{FF2B5EF4-FFF2-40B4-BE49-F238E27FC236}">
                <a16:creationId xmlns:a16="http://schemas.microsoft.com/office/drawing/2014/main" id="{A7D91400-D5B3-4CA5-0814-B79BCAB1320F}"/>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38ECD70A-1B21-F337-F3FD-7506BFFB10F4}"/>
              </a:ext>
            </a:extLst>
          </p:cNvPr>
          <p:cNvSpPr>
            <a:spLocks noGrp="1"/>
          </p:cNvSpPr>
          <p:nvPr>
            <p:ph type="sldNum" sz="quarter" idx="12"/>
          </p:nvPr>
        </p:nvSpPr>
        <p:spPr/>
        <p:txBody>
          <a:bodyPr/>
          <a:lstStyle/>
          <a:p>
            <a:fld id="{8E90A93A-CBEB-40B0-B638-E400989BEC3F}" type="slidenum">
              <a:rPr lang="zh-CN" altLang="en-US" smtClean="0"/>
              <a:pPr/>
              <a:t>23</a:t>
            </a:fld>
            <a:endParaRPr lang="zh-CN" altLang="en-US"/>
          </a:p>
        </p:txBody>
      </p:sp>
      <p:pic>
        <p:nvPicPr>
          <p:cNvPr id="7" name="Picture 6">
            <a:extLst>
              <a:ext uri="{FF2B5EF4-FFF2-40B4-BE49-F238E27FC236}">
                <a16:creationId xmlns:a16="http://schemas.microsoft.com/office/drawing/2014/main" id="{28923FD8-414C-6552-E185-4EDFEFD0EC74}"/>
              </a:ext>
            </a:extLst>
          </p:cNvPr>
          <p:cNvPicPr>
            <a:picLocks noChangeAspect="1"/>
          </p:cNvPicPr>
          <p:nvPr/>
        </p:nvPicPr>
        <p:blipFill>
          <a:blip r:embed="rId2"/>
          <a:srcRect l="3537" r="23637"/>
          <a:stretch>
            <a:fillRect/>
          </a:stretch>
        </p:blipFill>
        <p:spPr>
          <a:xfrm>
            <a:off x="210297" y="1962817"/>
            <a:ext cx="5666888" cy="3770583"/>
          </a:xfrm>
          <a:prstGeom prst="rect">
            <a:avLst/>
          </a:prstGeom>
        </p:spPr>
      </p:pic>
      <p:pic>
        <p:nvPicPr>
          <p:cNvPr id="18" name="Picture 17">
            <a:extLst>
              <a:ext uri="{FF2B5EF4-FFF2-40B4-BE49-F238E27FC236}">
                <a16:creationId xmlns:a16="http://schemas.microsoft.com/office/drawing/2014/main" id="{29832A1F-DBB8-1D98-9819-BE4D95B6618B}"/>
              </a:ext>
            </a:extLst>
          </p:cNvPr>
          <p:cNvPicPr>
            <a:picLocks noChangeAspect="1"/>
          </p:cNvPicPr>
          <p:nvPr/>
        </p:nvPicPr>
        <p:blipFill>
          <a:blip r:embed="rId3"/>
          <a:stretch>
            <a:fillRect/>
          </a:stretch>
        </p:blipFill>
        <p:spPr>
          <a:xfrm>
            <a:off x="5811915" y="3551920"/>
            <a:ext cx="6236370" cy="2086281"/>
          </a:xfrm>
          <a:prstGeom prst="rect">
            <a:avLst/>
          </a:prstGeom>
        </p:spPr>
      </p:pic>
      <p:pic>
        <p:nvPicPr>
          <p:cNvPr id="19" name="Picture 18">
            <a:extLst>
              <a:ext uri="{FF2B5EF4-FFF2-40B4-BE49-F238E27FC236}">
                <a16:creationId xmlns:a16="http://schemas.microsoft.com/office/drawing/2014/main" id="{964CDFB9-FC0D-D167-B354-740AE9E09B6E}"/>
              </a:ext>
            </a:extLst>
          </p:cNvPr>
          <p:cNvPicPr>
            <a:picLocks noChangeAspect="1"/>
          </p:cNvPicPr>
          <p:nvPr/>
        </p:nvPicPr>
        <p:blipFill>
          <a:blip r:embed="rId4"/>
          <a:stretch>
            <a:fillRect/>
          </a:stretch>
        </p:blipFill>
        <p:spPr>
          <a:xfrm>
            <a:off x="5997861" y="1450096"/>
            <a:ext cx="6050424" cy="570520"/>
          </a:xfrm>
          <a:prstGeom prst="rect">
            <a:avLst/>
          </a:prstGeom>
        </p:spPr>
      </p:pic>
      <p:sp>
        <p:nvSpPr>
          <p:cNvPr id="21" name="TextBox 20">
            <a:extLst>
              <a:ext uri="{FF2B5EF4-FFF2-40B4-BE49-F238E27FC236}">
                <a16:creationId xmlns:a16="http://schemas.microsoft.com/office/drawing/2014/main" id="{BFD2B289-5776-55F0-4446-B2B90A634A6C}"/>
              </a:ext>
            </a:extLst>
          </p:cNvPr>
          <p:cNvSpPr txBox="1"/>
          <p:nvPr/>
        </p:nvSpPr>
        <p:spPr>
          <a:xfrm>
            <a:off x="6096000" y="2174777"/>
            <a:ext cx="6096740" cy="400110"/>
          </a:xfrm>
          <a:prstGeom prst="rect">
            <a:avLst/>
          </a:prstGeom>
          <a:noFill/>
        </p:spPr>
        <p:txBody>
          <a:bodyPr wrap="square">
            <a:spAutoFit/>
          </a:bodyPr>
          <a:lstStyle/>
          <a:p>
            <a:pPr algn="ctr"/>
            <a:r>
              <a:rPr lang="en-US" altLang="zh-CN" sz="2000" b="1">
                <a:solidFill>
                  <a:srgbClr val="FF0000"/>
                </a:solidFill>
                <a:latin typeface="Gadugi" panose="020B0502040204020203" pitchFamily="34" charset="0"/>
                <a:ea typeface="Gadugi" panose="020B0502040204020203" pitchFamily="34" charset="0"/>
              </a:rPr>
              <a:t>×(dispelled) </a:t>
            </a:r>
            <a:r>
              <a:rPr lang="en-US" sz="2000">
                <a:solidFill>
                  <a:prstClr val="black"/>
                </a:solidFill>
                <a:latin typeface="Gadugi" panose="020B0502040204020203" pitchFamily="34" charset="0"/>
                <a:ea typeface="Gadugi" panose="020B0502040204020203" pitchFamily="34" charset="0"/>
              </a:rPr>
              <a:t>Candidate Theory 1 (The Myth)</a:t>
            </a:r>
            <a:endParaRPr lang="en-US" sz="2000"/>
          </a:p>
        </p:txBody>
      </p:sp>
      <p:sp>
        <p:nvSpPr>
          <p:cNvPr id="22" name="TextBox 21">
            <a:extLst>
              <a:ext uri="{FF2B5EF4-FFF2-40B4-BE49-F238E27FC236}">
                <a16:creationId xmlns:a16="http://schemas.microsoft.com/office/drawing/2014/main" id="{2F7AD6CC-3EC5-0ECE-60F5-986E2652571A}"/>
              </a:ext>
            </a:extLst>
          </p:cNvPr>
          <p:cNvSpPr txBox="1"/>
          <p:nvPr/>
        </p:nvSpPr>
        <p:spPr>
          <a:xfrm>
            <a:off x="6035336" y="5695586"/>
            <a:ext cx="6096740" cy="400110"/>
          </a:xfrm>
          <a:prstGeom prst="rect">
            <a:avLst/>
          </a:prstGeom>
          <a:noFill/>
        </p:spPr>
        <p:txBody>
          <a:bodyPr wrap="square">
            <a:spAutoFit/>
          </a:bodyPr>
          <a:lstStyle/>
          <a:p>
            <a:pPr algn="ctr"/>
            <a:r>
              <a:rPr lang="zh-CN" altLang="en-US" sz="2000" b="1">
                <a:solidFill>
                  <a:schemeClr val="accent6">
                    <a:lumMod val="75000"/>
                  </a:schemeClr>
                </a:solidFill>
                <a:latin typeface="Gadugi" panose="020B0502040204020203" pitchFamily="34" charset="0"/>
                <a:ea typeface="Gadugi" panose="020B0502040204020203" pitchFamily="34" charset="0"/>
              </a:rPr>
              <a:t>√</a:t>
            </a:r>
            <a:r>
              <a:rPr lang="en-US" altLang="zh-CN" sz="2000" b="1">
                <a:solidFill>
                  <a:schemeClr val="accent6">
                    <a:lumMod val="75000"/>
                  </a:schemeClr>
                </a:solidFill>
                <a:latin typeface="Gadugi" panose="020B0502040204020203" pitchFamily="34" charset="0"/>
                <a:ea typeface="Gadugi" panose="020B0502040204020203" pitchFamily="34" charset="0"/>
              </a:rPr>
              <a:t>(supported) </a:t>
            </a:r>
            <a:r>
              <a:rPr lang="en-US" sz="2000">
                <a:solidFill>
                  <a:prstClr val="black"/>
                </a:solidFill>
                <a:latin typeface="Gadugi" panose="020B0502040204020203" pitchFamily="34" charset="0"/>
                <a:ea typeface="Gadugi" panose="020B0502040204020203" pitchFamily="34" charset="0"/>
              </a:rPr>
              <a:t>Candidate Theory 2</a:t>
            </a:r>
            <a:endParaRPr lang="en-US" sz="2000"/>
          </a:p>
        </p:txBody>
      </p:sp>
      <p:pic>
        <p:nvPicPr>
          <p:cNvPr id="24" name="Picture 23">
            <a:extLst>
              <a:ext uri="{FF2B5EF4-FFF2-40B4-BE49-F238E27FC236}">
                <a16:creationId xmlns:a16="http://schemas.microsoft.com/office/drawing/2014/main" id="{3D208646-FDF6-9CBE-3E18-68575F620B42}"/>
              </a:ext>
            </a:extLst>
          </p:cNvPr>
          <p:cNvPicPr>
            <a:picLocks noChangeAspect="1"/>
          </p:cNvPicPr>
          <p:nvPr/>
        </p:nvPicPr>
        <p:blipFill>
          <a:blip r:embed="rId5"/>
          <a:stretch>
            <a:fillRect/>
          </a:stretch>
        </p:blipFill>
        <p:spPr>
          <a:xfrm>
            <a:off x="994011" y="2127413"/>
            <a:ext cx="1824649" cy="1042656"/>
          </a:xfrm>
          <a:prstGeom prst="rect">
            <a:avLst/>
          </a:prstGeom>
        </p:spPr>
      </p:pic>
    </p:spTree>
    <p:extLst>
      <p:ext uri="{BB962C8B-B14F-4D97-AF65-F5344CB8AC3E}">
        <p14:creationId xmlns:p14="http://schemas.microsoft.com/office/powerpoint/2010/main" val="1027683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114D2-14C6-3563-7CA2-85509F567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C9098-B630-7A59-7EC2-8096C1552531}"/>
              </a:ext>
            </a:extLst>
          </p:cNvPr>
          <p:cNvSpPr>
            <a:spLocks noGrp="1"/>
          </p:cNvSpPr>
          <p:nvPr>
            <p:ph type="ctrTitle"/>
          </p:nvPr>
        </p:nvSpPr>
        <p:spPr>
          <a:xfrm>
            <a:off x="2534919" y="1434920"/>
            <a:ext cx="8555328" cy="2244194"/>
          </a:xfrm>
        </p:spPr>
        <p:txBody>
          <a:bodyPr>
            <a:noAutofit/>
          </a:bodyPr>
          <a:lstStyle/>
          <a:p>
            <a:pPr algn="l">
              <a:lnSpc>
                <a:spcPct val="120000"/>
              </a:lnSpc>
            </a:pPr>
            <a:r>
              <a:rPr lang="en-US" altLang="zh-CN" sz="3600" dirty="0">
                <a:latin typeface="Gadugi" panose="020B0502040204020203" pitchFamily="34" charset="0"/>
                <a:ea typeface="Gadugi" panose="020B0502040204020203" pitchFamily="34" charset="0"/>
              </a:rPr>
              <a:t>The Impact of Fake GitHub Stars on Repository Promotion</a:t>
            </a:r>
            <a:endParaRPr lang="en-US" sz="2400" dirty="0"/>
          </a:p>
        </p:txBody>
      </p:sp>
      <p:sp>
        <p:nvSpPr>
          <p:cNvPr id="3" name="Subtitle 2">
            <a:extLst>
              <a:ext uri="{FF2B5EF4-FFF2-40B4-BE49-F238E27FC236}">
                <a16:creationId xmlns:a16="http://schemas.microsoft.com/office/drawing/2014/main" id="{3E6C50F4-DB61-FD2E-F43D-BC7FBFB5892E}"/>
              </a:ext>
            </a:extLst>
          </p:cNvPr>
          <p:cNvSpPr>
            <a:spLocks noGrp="1"/>
          </p:cNvSpPr>
          <p:nvPr>
            <p:ph type="subTitle" idx="1"/>
          </p:nvPr>
        </p:nvSpPr>
        <p:spPr>
          <a:xfrm>
            <a:off x="2595420" y="4420161"/>
            <a:ext cx="9220473" cy="1934500"/>
          </a:xfrm>
        </p:spPr>
        <p:txBody>
          <a:bodyPr>
            <a:normAutofit/>
          </a:bodyPr>
          <a:lstStyle/>
          <a:p>
            <a:pPr algn="l"/>
            <a:r>
              <a:rPr lang="en-US" sz="2000" b="1" dirty="0">
                <a:latin typeface="Gadugi" panose="020B0502040204020203" pitchFamily="34" charset="0"/>
                <a:ea typeface="Gadugi" panose="020B0502040204020203" pitchFamily="34" charset="0"/>
              </a:rPr>
              <a:t>Hao He</a:t>
            </a:r>
            <a:r>
              <a:rPr lang="en-US" sz="2000" dirty="0">
                <a:latin typeface="Gadugi" panose="020B0502040204020203" pitchFamily="34" charset="0"/>
                <a:ea typeface="Gadugi" panose="020B0502040204020203" pitchFamily="34" charset="0"/>
              </a:rPr>
              <a:t>, </a:t>
            </a:r>
            <a:r>
              <a:rPr lang="en-US" sz="2000" dirty="0" err="1">
                <a:latin typeface="Gadugi" panose="020B0502040204020203" pitchFamily="34" charset="0"/>
                <a:ea typeface="Gadugi" panose="020B0502040204020203" pitchFamily="34" charset="0"/>
              </a:rPr>
              <a:t>Haoqin</a:t>
            </a:r>
            <a:r>
              <a:rPr lang="en-US" sz="2000" dirty="0">
                <a:latin typeface="Gadugi" panose="020B0502040204020203" pitchFamily="34" charset="0"/>
                <a:ea typeface="Gadugi" panose="020B0502040204020203" pitchFamily="34" charset="0"/>
              </a:rPr>
              <a:t> Yang, Philipp Burckhardt, Alexandros </a:t>
            </a:r>
            <a:r>
              <a:rPr lang="en-US" sz="2000" dirty="0" err="1">
                <a:latin typeface="Gadugi" panose="020B0502040204020203" pitchFamily="34" charset="0"/>
                <a:ea typeface="Gadugi" panose="020B0502040204020203" pitchFamily="34" charset="0"/>
              </a:rPr>
              <a:t>Kapravelos</a:t>
            </a:r>
            <a:r>
              <a:rPr lang="en-US" sz="2000" dirty="0">
                <a:latin typeface="Gadugi" panose="020B0502040204020203" pitchFamily="34" charset="0"/>
                <a:ea typeface="Gadugi" panose="020B0502040204020203" pitchFamily="34" charset="0"/>
              </a:rPr>
              <a:t>, Bogdan Vasilescu, and Christian Kästner. “Six Million (Suspected) Fake Stars on GitHub: A Growing Spiral of Popularity Contests, Spam, and Malware.” In Proceedings of the 48</a:t>
            </a:r>
            <a:r>
              <a:rPr lang="en-US" sz="2000" baseline="30000" dirty="0">
                <a:latin typeface="Gadugi" panose="020B0502040204020203" pitchFamily="34" charset="0"/>
                <a:ea typeface="Gadugi" panose="020B0502040204020203" pitchFamily="34" charset="0"/>
              </a:rPr>
              <a:t>th</a:t>
            </a:r>
            <a:r>
              <a:rPr lang="en-US" sz="2000" dirty="0">
                <a:latin typeface="Gadugi" panose="020B0502040204020203" pitchFamily="34" charset="0"/>
                <a:ea typeface="Gadugi" panose="020B0502040204020203" pitchFamily="34" charset="0"/>
              </a:rPr>
              <a:t> International Conference on Software Engineering (ICSE’26), Rio de Janeiro, Brazil, 2026. Preprint: arXiv:2412.13459.</a:t>
            </a:r>
            <a:endParaRPr lang="en-US" sz="2000" dirty="0">
              <a:latin typeface="Gadugi" panose="020B0502040204020203" pitchFamily="34" charset="0"/>
              <a:ea typeface="Gadugi" panose="020B0502040204020203" pitchFamily="34" charset="0"/>
              <a:cs typeface="Roboto Slab" pitchFamily="2" charset="0"/>
            </a:endParaRPr>
          </a:p>
        </p:txBody>
      </p:sp>
      <p:pic>
        <p:nvPicPr>
          <p:cNvPr id="4" name="Picture 11">
            <a:extLst>
              <a:ext uri="{FF2B5EF4-FFF2-40B4-BE49-F238E27FC236}">
                <a16:creationId xmlns:a16="http://schemas.microsoft.com/office/drawing/2014/main" id="{182FC5B1-C131-91B8-3FE2-4BBC418788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895350"/>
            <a:ext cx="3429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35CCE935-A69B-89BE-40CF-2DE220CDFD1B}"/>
              </a:ext>
            </a:extLst>
          </p:cNvPr>
          <p:cNvSpPr/>
          <p:nvPr/>
        </p:nvSpPr>
        <p:spPr>
          <a:xfrm>
            <a:off x="0" y="0"/>
            <a:ext cx="22098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424C85F-19FA-7106-9C47-3EC46B2B29B5}"/>
              </a:ext>
            </a:extLst>
          </p:cNvPr>
          <p:cNvCxnSpPr/>
          <p:nvPr/>
        </p:nvCxnSpPr>
        <p:spPr>
          <a:xfrm>
            <a:off x="2595421" y="812800"/>
            <a:ext cx="0" cy="5648036"/>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71045CE-295E-2E7B-5DB3-71C6F5D4678F}"/>
              </a:ext>
            </a:extLst>
          </p:cNvPr>
          <p:cNvCxnSpPr>
            <a:cxnSpLocks/>
          </p:cNvCxnSpPr>
          <p:nvPr/>
        </p:nvCxnSpPr>
        <p:spPr>
          <a:xfrm>
            <a:off x="2648063" y="3831695"/>
            <a:ext cx="5687223" cy="0"/>
          </a:xfrm>
          <a:prstGeom prst="line">
            <a:avLst/>
          </a:prstGeom>
          <a:noFill/>
          <a:ln w="127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771D21A0-B948-1FCA-E0FB-27CC5757EA46}"/>
              </a:ext>
            </a:extLst>
          </p:cNvPr>
          <p:cNvSpPr txBox="1"/>
          <p:nvPr/>
        </p:nvSpPr>
        <p:spPr>
          <a:xfrm>
            <a:off x="2534919" y="1056262"/>
            <a:ext cx="2334935" cy="461665"/>
          </a:xfrm>
          <a:prstGeom prst="rect">
            <a:avLst/>
          </a:prstGeom>
          <a:noFill/>
        </p:spPr>
        <p:txBody>
          <a:bodyPr wrap="none" rtlCol="0">
            <a:spAutoFit/>
          </a:bodyPr>
          <a:lstStyle/>
          <a:p>
            <a:r>
              <a:rPr lang="en-US" altLang="zh-CN" sz="2400" dirty="0">
                <a:latin typeface="Calibri" panose="020F0502020204030204" pitchFamily="34" charset="0"/>
                <a:ea typeface="Calibri" panose="020F0502020204030204" pitchFamily="34" charset="0"/>
                <a:cs typeface="Calibri" panose="020F0502020204030204" pitchFamily="34" charset="0"/>
              </a:rPr>
              <a:t>Empirical Study II</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6057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F3DB-E361-A5C5-1D9A-659424F92F4D}"/>
              </a:ext>
            </a:extLst>
          </p:cNvPr>
          <p:cNvSpPr>
            <a:spLocks noGrp="1"/>
          </p:cNvSpPr>
          <p:nvPr>
            <p:ph type="title"/>
          </p:nvPr>
        </p:nvSpPr>
        <p:spPr/>
        <p:txBody>
          <a:bodyPr/>
          <a:lstStyle/>
          <a:p>
            <a:r>
              <a:rPr lang="en-US"/>
              <a:t>Completed Work: The Effect of Fake GitHub Stars</a:t>
            </a:r>
          </a:p>
        </p:txBody>
      </p:sp>
      <p:sp>
        <p:nvSpPr>
          <p:cNvPr id="3" name="Content Placeholder 2">
            <a:extLst>
              <a:ext uri="{FF2B5EF4-FFF2-40B4-BE49-F238E27FC236}">
                <a16:creationId xmlns:a16="http://schemas.microsoft.com/office/drawing/2014/main" id="{53833553-4B05-BEF0-DDA5-399AEB6B9EE1}"/>
              </a:ext>
            </a:extLst>
          </p:cNvPr>
          <p:cNvSpPr>
            <a:spLocks noGrp="1"/>
          </p:cNvSpPr>
          <p:nvPr>
            <p:ph idx="1"/>
          </p:nvPr>
        </p:nvSpPr>
        <p:spPr/>
        <p:txBody>
          <a:bodyPr/>
          <a:lstStyle/>
          <a:p>
            <a:r>
              <a:rPr lang="en-US" b="1"/>
              <a:t>Research Question: </a:t>
            </a:r>
            <a:r>
              <a:rPr lang="en-US"/>
              <a:t>Does artificially inflating GitHub stars create a promotional effect, making people more likely to star the target repositories?</a:t>
            </a:r>
            <a:endParaRPr lang="en-US" b="1"/>
          </a:p>
        </p:txBody>
      </p:sp>
      <p:sp>
        <p:nvSpPr>
          <p:cNvPr id="4" name="Footer Placeholder 3">
            <a:extLst>
              <a:ext uri="{FF2B5EF4-FFF2-40B4-BE49-F238E27FC236}">
                <a16:creationId xmlns:a16="http://schemas.microsoft.com/office/drawing/2014/main" id="{9E0802A1-9DCC-CE44-A4E1-981AB5F74601}"/>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38BCE63-FDB8-37AE-4218-D6CAAA149C66}"/>
              </a:ext>
            </a:extLst>
          </p:cNvPr>
          <p:cNvSpPr>
            <a:spLocks noGrp="1"/>
          </p:cNvSpPr>
          <p:nvPr>
            <p:ph type="sldNum" sz="quarter" idx="12"/>
          </p:nvPr>
        </p:nvSpPr>
        <p:spPr/>
        <p:txBody>
          <a:bodyPr/>
          <a:lstStyle/>
          <a:p>
            <a:fld id="{8E90A93A-CBEB-40B0-B638-E400989BEC3F}" type="slidenum">
              <a:rPr lang="zh-CN" altLang="en-US" smtClean="0"/>
              <a:pPr/>
              <a:t>25</a:t>
            </a:fld>
            <a:endParaRPr lang="zh-CN" altLang="en-US"/>
          </a:p>
        </p:txBody>
      </p:sp>
      <p:sp>
        <p:nvSpPr>
          <p:cNvPr id="6" name="TextBox 5">
            <a:extLst>
              <a:ext uri="{FF2B5EF4-FFF2-40B4-BE49-F238E27FC236}">
                <a16:creationId xmlns:a16="http://schemas.microsoft.com/office/drawing/2014/main" id="{AFA37327-6E9C-AD6D-EE43-D2FA68133E4C}"/>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i="0">
                <a:solidFill>
                  <a:srgbClr val="222222"/>
                </a:solidFill>
                <a:effectLst/>
                <a:latin typeface="Arial" panose="020B0604020202020204" pitchFamily="34" charset="0"/>
              </a:rPr>
              <a:t>, et al. "Six Million (Suspected) Fake Stars on GitHub: A Growing Spiral of Popularity Contests, Spam, and Malware." Proceedings of the 48th International Conference on Software Engineering (ICSE’26). 2026.</a:t>
            </a:r>
            <a:endParaRPr lang="en-US" sz="1400"/>
          </a:p>
        </p:txBody>
      </p:sp>
      <p:sp>
        <p:nvSpPr>
          <p:cNvPr id="7" name="TextBox 6">
            <a:extLst>
              <a:ext uri="{FF2B5EF4-FFF2-40B4-BE49-F238E27FC236}">
                <a16:creationId xmlns:a16="http://schemas.microsoft.com/office/drawing/2014/main" id="{E7EF0F74-FE50-B81C-2AB9-A8301E254707}"/>
              </a:ext>
            </a:extLst>
          </p:cNvPr>
          <p:cNvSpPr txBox="1"/>
          <p:nvPr/>
        </p:nvSpPr>
        <p:spPr>
          <a:xfrm>
            <a:off x="3742265" y="4671818"/>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a:t>
            </a:r>
            <a:r>
              <a:rPr lang="en-US" sz="2400" b="1">
                <a:solidFill>
                  <a:prstClr val="black"/>
                </a:solidFill>
                <a:latin typeface="Gadugi" panose="020B0502040204020203" pitchFamily="34" charset="0"/>
                <a:ea typeface="Gadugi" panose="020B0502040204020203" pitchFamily="34" charset="0"/>
              </a:rPr>
              <a:t>Myth</a:t>
            </a:r>
            <a:r>
              <a:rPr lang="en-US" sz="2400">
                <a:solidFill>
                  <a:prstClr val="black"/>
                </a:solidFill>
                <a:latin typeface="Gadugi" panose="020B0502040204020203" pitchFamily="34" charset="0"/>
                <a:ea typeface="Gadugi" panose="020B0502040204020203" pitchFamily="34" charset="0"/>
              </a:rPr>
              <a:t>)</a:t>
            </a:r>
            <a:endParaRPr lang="en-US"/>
          </a:p>
        </p:txBody>
      </p:sp>
      <p:grpSp>
        <p:nvGrpSpPr>
          <p:cNvPr id="8" name="Group 7">
            <a:extLst>
              <a:ext uri="{FF2B5EF4-FFF2-40B4-BE49-F238E27FC236}">
                <a16:creationId xmlns:a16="http://schemas.microsoft.com/office/drawing/2014/main" id="{680458BD-E086-D909-8786-B66A14E20F1D}"/>
              </a:ext>
            </a:extLst>
          </p:cNvPr>
          <p:cNvGrpSpPr/>
          <p:nvPr/>
        </p:nvGrpSpPr>
        <p:grpSpPr>
          <a:xfrm>
            <a:off x="843379" y="3414880"/>
            <a:ext cx="10142738" cy="864154"/>
            <a:chOff x="843379" y="3414880"/>
            <a:chExt cx="10142738" cy="864154"/>
          </a:xfrm>
        </p:grpSpPr>
        <p:sp>
          <p:nvSpPr>
            <p:cNvPr id="9" name="Rectangle 8">
              <a:extLst>
                <a:ext uri="{FF2B5EF4-FFF2-40B4-BE49-F238E27FC236}">
                  <a16:creationId xmlns:a16="http://schemas.microsoft.com/office/drawing/2014/main" id="{0D1EF3BF-CE91-8DBE-AD3C-96D9D91423D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Fake GitHub Stars</a:t>
              </a:r>
            </a:p>
          </p:txBody>
        </p:sp>
        <p:sp>
          <p:nvSpPr>
            <p:cNvPr id="10" name="Rectangle 9">
              <a:extLst>
                <a:ext uri="{FF2B5EF4-FFF2-40B4-BE49-F238E27FC236}">
                  <a16:creationId xmlns:a16="http://schemas.microsoft.com/office/drawing/2014/main" id="{8912CCA3-099B-C492-ACB4-09D43BF7C600}"/>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Real GitHub Stars</a:t>
              </a:r>
            </a:p>
          </p:txBody>
        </p:sp>
        <p:cxnSp>
          <p:nvCxnSpPr>
            <p:cNvPr id="11" name="Straight Arrow Connector 10">
              <a:extLst>
                <a:ext uri="{FF2B5EF4-FFF2-40B4-BE49-F238E27FC236}">
                  <a16:creationId xmlns:a16="http://schemas.microsoft.com/office/drawing/2014/main" id="{E97E8C93-57CA-0057-1253-679B0A385DD9}"/>
                </a:ext>
              </a:extLst>
            </p:cNvPr>
            <p:cNvCxnSpPr>
              <a:cxnSpLocks/>
              <a:stCxn id="9" idx="3"/>
              <a:endCxn id="10"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EBE27F0-F923-F2CC-55C4-DA6A32CA8B29}"/>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spTree>
    <p:extLst>
      <p:ext uri="{BB962C8B-B14F-4D97-AF65-F5344CB8AC3E}">
        <p14:creationId xmlns:p14="http://schemas.microsoft.com/office/powerpoint/2010/main" val="3431044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FA79A-799B-9E5D-9DDA-9243B37ED92C}"/>
              </a:ext>
            </a:extLst>
          </p:cNvPr>
          <p:cNvSpPr>
            <a:spLocks noGrp="1"/>
          </p:cNvSpPr>
          <p:nvPr>
            <p:ph type="title"/>
          </p:nvPr>
        </p:nvSpPr>
        <p:spPr/>
        <p:txBody>
          <a:bodyPr/>
          <a:lstStyle/>
          <a:p>
            <a:r>
              <a:rPr lang="en-US"/>
              <a:t>Completed Work: The Effect of Fake GitHub Stars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E9242B-9BCF-3511-683A-C3044BF9ED27}"/>
                  </a:ext>
                </a:extLst>
              </p:cNvPr>
              <p:cNvSpPr>
                <a:spLocks noGrp="1"/>
              </p:cNvSpPr>
              <p:nvPr>
                <p:ph idx="1"/>
              </p:nvPr>
            </p:nvSpPr>
            <p:spPr>
              <a:xfrm>
                <a:off x="326739" y="1205069"/>
                <a:ext cx="11584419" cy="5081939"/>
              </a:xfrm>
            </p:spPr>
            <p:txBody>
              <a:bodyPr>
                <a:normAutofit/>
              </a:bodyPr>
              <a:lstStyle/>
              <a:p>
                <a:r>
                  <a:rPr lang="en-US" b="1"/>
                  <a:t>Method: </a:t>
                </a:r>
                <a:r>
                  <a:rPr lang="en-US">
                    <a:solidFill>
                      <a:srgbClr val="FF0000"/>
                    </a:solidFill>
                  </a:rPr>
                  <a:t>Panel Autoregression</a:t>
                </a:r>
              </a:p>
              <a:p>
                <a:pPr marL="0" indent="0">
                  <a:buNone/>
                </a:pPr>
                <a14:m>
                  <m:oMathPara xmlns:m="http://schemas.openxmlformats.org/officeDocument/2006/math">
                    <m:oMath>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𝑎𝑙𝑙</m:t>
                          </m:r>
                          <m:r>
                            <a:rPr lang="en-US" b="0" i="1" smtClean="0">
                              <a:latin typeface="Cambria Math" panose="02040503050406030204" pitchFamily="18" charset="0"/>
                            </a:rPr>
                            <m:t>_</m:t>
                          </m:r>
                          <m:r>
                            <a:rPr lang="en-US" b="0" i="1" smtClean="0">
                              <a:latin typeface="Cambria Math" panose="02040503050406030204" pitchFamily="18" charset="0"/>
                            </a:rPr>
                            <m:t>𝑟𝑒𝑎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r>
                            <a:rPr lang="en-US" b="0" i="1" smtClean="0">
                              <a:latin typeface="Cambria Math" panose="02040503050406030204" pitchFamily="18" charset="0"/>
                            </a:rPr>
                            <m:t>𝑓𝑎𝑘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e>
                      </m:nary>
                      <m:r>
                        <a:rPr lang="en-US" b="0" i="1" smtClean="0">
                          <a:latin typeface="Cambria Math" panose="02040503050406030204" pitchFamily="18" charset="0"/>
                        </a:rPr>
                        <m:t>+</m:t>
                      </m:r>
                      <m:r>
                        <a:rPr lang="en-US" b="0" i="1" smtClean="0">
                          <a:latin typeface="Cambria Math" panose="02040503050406030204" pitchFamily="18" charset="0"/>
                        </a:rPr>
                        <m:t>𝑎𝑙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𝑓𝑎𝑘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sub>
                      </m:sSub>
                    </m:oMath>
                  </m:oMathPara>
                </a14:m>
                <a:endParaRPr lang="en-US" b="0" i="1">
                  <a:latin typeface="Cambria Math" panose="02040503050406030204" pitchFamily="18" charset="0"/>
                </a:endParaRPr>
              </a:p>
              <a:p>
                <a:pPr marL="0" indent="0">
                  <a:buNone/>
                </a:pPr>
                <a:r>
                  <a:rPr lang="en-US" b="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𝑟𝑒𝑙𝑒𝑎𝑠𝑒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𝑎𝑐𝑡𝑖𝑣𝑖𝑡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oMath>
                </a14:m>
                <a:endParaRPr lang="en-US"/>
              </a:p>
              <a:p>
                <a:pPr marL="0" indent="0" algn="ctr">
                  <a:buNone/>
                </a:pPr>
                <a:r>
                  <a:rPr lang="en-US"/>
                  <a:t>(Time/Repo Fixed Effects or Random Effects)</a:t>
                </a:r>
              </a:p>
              <a:p>
                <a:r>
                  <a:rPr lang="en-US" b="1"/>
                  <a:t>Assumption (Fixed Effect): </a:t>
                </a:r>
                <a:r>
                  <a:rPr lang="en-US"/>
                  <a:t>No remaining unobserved time-varying confounders, conditional on repo fixed effects, time fixed effects, and autoregressive history</a:t>
                </a:r>
              </a:p>
              <a:p>
                <a:r>
                  <a:rPr lang="en-US" b="1"/>
                  <a:t>Alternative Explanations:</a:t>
                </a:r>
              </a:p>
              <a:p>
                <a:pPr lvl="1"/>
                <a:r>
                  <a:rPr lang="en-US"/>
                  <a:t>Fake star campaign confounds with other market blitz / launch timing</a:t>
                </a:r>
              </a:p>
            </p:txBody>
          </p:sp>
        </mc:Choice>
        <mc:Fallback xmlns="">
          <p:sp>
            <p:nvSpPr>
              <p:cNvPr id="3" name="Content Placeholder 2">
                <a:extLst>
                  <a:ext uri="{FF2B5EF4-FFF2-40B4-BE49-F238E27FC236}">
                    <a16:creationId xmlns:a16="http://schemas.microsoft.com/office/drawing/2014/main" id="{5BE9242B-9BCF-3511-683A-C3044BF9ED27}"/>
                  </a:ext>
                </a:extLst>
              </p:cNvPr>
              <p:cNvSpPr>
                <a:spLocks noGrp="1" noRot="1" noChangeAspect="1" noMove="1" noResize="1" noEditPoints="1" noAdjustHandles="1" noChangeArrowheads="1" noChangeShapeType="1" noTextEdit="1"/>
              </p:cNvSpPr>
              <p:nvPr>
                <p:ph idx="1"/>
              </p:nvPr>
            </p:nvSpPr>
            <p:spPr>
              <a:xfrm>
                <a:off x="326739" y="1205069"/>
                <a:ext cx="11584419" cy="5081939"/>
              </a:xfrm>
              <a:blipFill>
                <a:blip r:embed="rId2"/>
                <a:stretch>
                  <a:fillRect l="-737" t="-240" r="-211" b="-144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F6C921B-79BA-5FBE-CF56-5F22037765DA}"/>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2346D471-5C00-6E91-EA6F-700F491D2B43}"/>
              </a:ext>
            </a:extLst>
          </p:cNvPr>
          <p:cNvSpPr>
            <a:spLocks noGrp="1"/>
          </p:cNvSpPr>
          <p:nvPr>
            <p:ph type="sldNum" sz="quarter" idx="12"/>
          </p:nvPr>
        </p:nvSpPr>
        <p:spPr/>
        <p:txBody>
          <a:bodyPr/>
          <a:lstStyle/>
          <a:p>
            <a:fld id="{8E90A93A-CBEB-40B0-B638-E400989BEC3F}" type="slidenum">
              <a:rPr lang="zh-CN" altLang="en-US" smtClean="0"/>
              <a:pPr/>
              <a:t>26</a:t>
            </a:fld>
            <a:endParaRPr lang="zh-CN" altLang="en-US"/>
          </a:p>
        </p:txBody>
      </p:sp>
    </p:spTree>
    <p:extLst>
      <p:ext uri="{BB962C8B-B14F-4D97-AF65-F5344CB8AC3E}">
        <p14:creationId xmlns:p14="http://schemas.microsoft.com/office/powerpoint/2010/main" val="2595405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4BC57-4947-D22A-2238-898DEC35CB00}"/>
              </a:ext>
            </a:extLst>
          </p:cNvPr>
          <p:cNvSpPr>
            <a:spLocks noGrp="1"/>
          </p:cNvSpPr>
          <p:nvPr>
            <p:ph type="title"/>
          </p:nvPr>
        </p:nvSpPr>
        <p:spPr/>
        <p:txBody>
          <a:bodyPr/>
          <a:lstStyle/>
          <a:p>
            <a:r>
              <a:rPr lang="en-US"/>
              <a:t>Completed Work: The Effect of Fake GitHub Stars</a:t>
            </a:r>
          </a:p>
        </p:txBody>
      </p:sp>
      <p:sp>
        <p:nvSpPr>
          <p:cNvPr id="4" name="Footer Placeholder 3">
            <a:extLst>
              <a:ext uri="{FF2B5EF4-FFF2-40B4-BE49-F238E27FC236}">
                <a16:creationId xmlns:a16="http://schemas.microsoft.com/office/drawing/2014/main" id="{1AACE9C2-7D3A-A4B3-3EA7-8441A5E28FB7}"/>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8FAAFDC-BBBD-A376-2618-696A534BBA37}"/>
              </a:ext>
            </a:extLst>
          </p:cNvPr>
          <p:cNvSpPr>
            <a:spLocks noGrp="1"/>
          </p:cNvSpPr>
          <p:nvPr>
            <p:ph type="sldNum" sz="quarter" idx="12"/>
          </p:nvPr>
        </p:nvSpPr>
        <p:spPr/>
        <p:txBody>
          <a:bodyPr/>
          <a:lstStyle/>
          <a:p>
            <a:fld id="{8E90A93A-CBEB-40B0-B638-E400989BEC3F}" type="slidenum">
              <a:rPr lang="zh-CN" altLang="en-US" smtClean="0"/>
              <a:pPr/>
              <a:t>27</a:t>
            </a:fld>
            <a:endParaRPr lang="zh-CN" altLang="en-US"/>
          </a:p>
        </p:txBody>
      </p:sp>
      <p:grpSp>
        <p:nvGrpSpPr>
          <p:cNvPr id="28" name="Group 27">
            <a:extLst>
              <a:ext uri="{FF2B5EF4-FFF2-40B4-BE49-F238E27FC236}">
                <a16:creationId xmlns:a16="http://schemas.microsoft.com/office/drawing/2014/main" id="{58A15F16-8B94-A94E-5B86-F365FFB2E35B}"/>
              </a:ext>
            </a:extLst>
          </p:cNvPr>
          <p:cNvGrpSpPr/>
          <p:nvPr/>
        </p:nvGrpSpPr>
        <p:grpSpPr>
          <a:xfrm>
            <a:off x="233139" y="1356063"/>
            <a:ext cx="11090903" cy="4577818"/>
            <a:chOff x="233139" y="1356063"/>
            <a:chExt cx="11090903" cy="4577818"/>
          </a:xfrm>
        </p:grpSpPr>
        <p:sp>
          <p:nvSpPr>
            <p:cNvPr id="6" name="TextBox 5">
              <a:extLst>
                <a:ext uri="{FF2B5EF4-FFF2-40B4-BE49-F238E27FC236}">
                  <a16:creationId xmlns:a16="http://schemas.microsoft.com/office/drawing/2014/main" id="{47AA572C-9F98-9B8F-ED85-638548932409}"/>
                </a:ext>
              </a:extLst>
            </p:cNvPr>
            <p:cNvSpPr txBox="1"/>
            <p:nvPr/>
          </p:nvSpPr>
          <p:spPr>
            <a:xfrm>
              <a:off x="6348435" y="5472216"/>
              <a:ext cx="4975607" cy="461665"/>
            </a:xfrm>
            <a:prstGeom prst="rect">
              <a:avLst/>
            </a:prstGeom>
            <a:noFill/>
          </p:spPr>
          <p:txBody>
            <a:bodyPr wrap="square">
              <a:spAutoFit/>
            </a:bodyPr>
            <a:lstStyle/>
            <a:p>
              <a:pPr algn="ctr"/>
              <a:r>
                <a:rPr lang="zh-CN" altLang="en-US" sz="2400" b="1">
                  <a:solidFill>
                    <a:schemeClr val="accent6">
                      <a:lumMod val="75000"/>
                    </a:schemeClr>
                  </a:solidFill>
                  <a:latin typeface="Gadugi" panose="020B0502040204020203" pitchFamily="34" charset="0"/>
                  <a:ea typeface="Gadugi" panose="020B0502040204020203" pitchFamily="34" charset="0"/>
                </a:rPr>
                <a:t>√</a:t>
              </a:r>
              <a:r>
                <a:rPr lang="en-US" altLang="zh-CN" sz="2400" b="1">
                  <a:solidFill>
                    <a:schemeClr val="accent6">
                      <a:lumMod val="75000"/>
                    </a:schemeClr>
                  </a:solidFill>
                  <a:latin typeface="Gadugi" panose="020B0502040204020203" pitchFamily="34" charset="0"/>
                  <a:ea typeface="Gadugi" panose="020B0502040204020203" pitchFamily="34" charset="0"/>
                </a:rPr>
                <a:t>(supported) </a:t>
              </a:r>
              <a:r>
                <a:rPr lang="en-US" sz="2400">
                  <a:solidFill>
                    <a:prstClr val="black"/>
                  </a:solidFill>
                  <a:latin typeface="Gadugi" panose="020B0502040204020203" pitchFamily="34" charset="0"/>
                  <a:ea typeface="Gadugi" panose="020B0502040204020203" pitchFamily="34" charset="0"/>
                </a:rPr>
                <a:t>Alternative Theory</a:t>
              </a:r>
              <a:endParaRPr lang="en-US" sz="2400"/>
            </a:p>
          </p:txBody>
        </p:sp>
        <p:grpSp>
          <p:nvGrpSpPr>
            <p:cNvPr id="7" name="Group 6">
              <a:extLst>
                <a:ext uri="{FF2B5EF4-FFF2-40B4-BE49-F238E27FC236}">
                  <a16:creationId xmlns:a16="http://schemas.microsoft.com/office/drawing/2014/main" id="{857E936A-55C2-91F3-67C5-DED2483AD054}"/>
                </a:ext>
              </a:extLst>
            </p:cNvPr>
            <p:cNvGrpSpPr/>
            <p:nvPr/>
          </p:nvGrpSpPr>
          <p:grpSpPr>
            <a:xfrm>
              <a:off x="6828407" y="1581697"/>
              <a:ext cx="4015667" cy="2119747"/>
              <a:chOff x="7365506" y="1808078"/>
              <a:chExt cx="4015667" cy="2119747"/>
            </a:xfrm>
          </p:grpSpPr>
          <p:sp>
            <p:nvSpPr>
              <p:cNvPr id="8" name="Rectangle 7">
                <a:extLst>
                  <a:ext uri="{FF2B5EF4-FFF2-40B4-BE49-F238E27FC236}">
                    <a16:creationId xmlns:a16="http://schemas.microsoft.com/office/drawing/2014/main" id="{5E943D51-1D44-5702-B15D-1510E027942D}"/>
                  </a:ext>
                </a:extLst>
              </p:cNvPr>
              <p:cNvSpPr/>
              <p:nvPr/>
            </p:nvSpPr>
            <p:spPr>
              <a:xfrm>
                <a:off x="7365506" y="1808078"/>
                <a:ext cx="4015665"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Fake GitHub Stars</a:t>
                </a:r>
              </a:p>
            </p:txBody>
          </p:sp>
          <p:sp>
            <p:nvSpPr>
              <p:cNvPr id="9" name="Rectangle 8">
                <a:extLst>
                  <a:ext uri="{FF2B5EF4-FFF2-40B4-BE49-F238E27FC236}">
                    <a16:creationId xmlns:a16="http://schemas.microsoft.com/office/drawing/2014/main" id="{E1594C11-1F4C-F526-98DB-1045F939C047}"/>
                  </a:ext>
                </a:extLst>
              </p:cNvPr>
              <p:cNvSpPr/>
              <p:nvPr/>
            </p:nvSpPr>
            <p:spPr>
              <a:xfrm>
                <a:off x="7365507" y="3231235"/>
                <a:ext cx="4015666"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Short Term Real Stars</a:t>
                </a:r>
              </a:p>
            </p:txBody>
          </p:sp>
          <p:cxnSp>
            <p:nvCxnSpPr>
              <p:cNvPr id="10" name="Straight Arrow Connector 9">
                <a:extLst>
                  <a:ext uri="{FF2B5EF4-FFF2-40B4-BE49-F238E27FC236}">
                    <a16:creationId xmlns:a16="http://schemas.microsoft.com/office/drawing/2014/main" id="{CD2587D0-3EFC-CC70-09B4-11E4CFCE1768}"/>
                  </a:ext>
                </a:extLst>
              </p:cNvPr>
              <p:cNvCxnSpPr>
                <a:cxnSpLocks/>
                <a:stCxn id="8" idx="2"/>
                <a:endCxn id="9" idx="0"/>
              </p:cNvCxnSpPr>
              <p:nvPr/>
            </p:nvCxnSpPr>
            <p:spPr>
              <a:xfrm>
                <a:off x="9373339" y="2504668"/>
                <a:ext cx="1" cy="7265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C18B849-3040-5718-21C5-138065722CD2}"/>
                  </a:ext>
                </a:extLst>
              </p:cNvPr>
              <p:cNvSpPr txBox="1"/>
              <p:nvPr/>
            </p:nvSpPr>
            <p:spPr>
              <a:xfrm>
                <a:off x="9373338" y="2637118"/>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sp>
          <p:nvSpPr>
            <p:cNvPr id="20" name="Rectangle 19">
              <a:extLst>
                <a:ext uri="{FF2B5EF4-FFF2-40B4-BE49-F238E27FC236}">
                  <a16:creationId xmlns:a16="http://schemas.microsoft.com/office/drawing/2014/main" id="{ABBD86B9-2F1E-91D4-5541-F05720CA0DE4}"/>
                </a:ext>
              </a:extLst>
            </p:cNvPr>
            <p:cNvSpPr/>
            <p:nvPr/>
          </p:nvSpPr>
          <p:spPr>
            <a:xfrm>
              <a:off x="6828407" y="4297636"/>
              <a:ext cx="4015666"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Long Term Real Stars</a:t>
              </a:r>
            </a:p>
          </p:txBody>
        </p:sp>
        <p:cxnSp>
          <p:nvCxnSpPr>
            <p:cNvPr id="22" name="Connector: Elbow 21">
              <a:extLst>
                <a:ext uri="{FF2B5EF4-FFF2-40B4-BE49-F238E27FC236}">
                  <a16:creationId xmlns:a16="http://schemas.microsoft.com/office/drawing/2014/main" id="{88506096-DF24-BD2D-E6DE-B71C4BDCF901}"/>
                </a:ext>
              </a:extLst>
            </p:cNvPr>
            <p:cNvCxnSpPr>
              <a:stCxn id="8" idx="1"/>
              <a:endCxn id="20" idx="1"/>
            </p:cNvCxnSpPr>
            <p:nvPr/>
          </p:nvCxnSpPr>
          <p:spPr>
            <a:xfrm rot="10800000" flipV="1">
              <a:off x="6828407" y="1929991"/>
              <a:ext cx="12700" cy="2715939"/>
            </a:xfrm>
            <a:prstGeom prst="bentConnector3">
              <a:avLst>
                <a:gd name="adj1" fmla="val 1800000"/>
              </a:avLst>
            </a:prstGeom>
            <a:ln w="28575">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F999836A-725B-81B6-48E1-70EBD6B15C29}"/>
                </a:ext>
              </a:extLst>
            </p:cNvPr>
            <p:cNvSpPr txBox="1"/>
            <p:nvPr/>
          </p:nvSpPr>
          <p:spPr>
            <a:xfrm rot="16200000">
              <a:off x="5463287" y="3110022"/>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decreases</a:t>
              </a:r>
              <a:endParaRPr lang="en-US"/>
            </a:p>
          </p:txBody>
        </p:sp>
        <p:pic>
          <p:nvPicPr>
            <p:cNvPr id="27" name="Picture 26">
              <a:extLst>
                <a:ext uri="{FF2B5EF4-FFF2-40B4-BE49-F238E27FC236}">
                  <a16:creationId xmlns:a16="http://schemas.microsoft.com/office/drawing/2014/main" id="{68CD167C-F93C-E2E1-0E9E-33878D39CD4A}"/>
                </a:ext>
              </a:extLst>
            </p:cNvPr>
            <p:cNvPicPr>
              <a:picLocks noChangeAspect="1"/>
            </p:cNvPicPr>
            <p:nvPr/>
          </p:nvPicPr>
          <p:blipFill>
            <a:blip r:embed="rId2"/>
            <a:stretch>
              <a:fillRect/>
            </a:stretch>
          </p:blipFill>
          <p:spPr>
            <a:xfrm>
              <a:off x="233139" y="1356063"/>
              <a:ext cx="5657810" cy="4497438"/>
            </a:xfrm>
            <a:prstGeom prst="rect">
              <a:avLst/>
            </a:prstGeom>
          </p:spPr>
        </p:pic>
      </p:grpSp>
    </p:spTree>
    <p:extLst>
      <p:ext uri="{BB962C8B-B14F-4D97-AF65-F5344CB8AC3E}">
        <p14:creationId xmlns:p14="http://schemas.microsoft.com/office/powerpoint/2010/main" val="568415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F8D5E-7229-5E2E-1A38-0D6273AA5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0B14-5EC4-393C-8B4B-A7123613B402}"/>
              </a:ext>
            </a:extLst>
          </p:cNvPr>
          <p:cNvSpPr>
            <a:spLocks noGrp="1"/>
          </p:cNvSpPr>
          <p:nvPr>
            <p:ph type="ctrTitle"/>
          </p:nvPr>
        </p:nvSpPr>
        <p:spPr>
          <a:xfrm>
            <a:off x="2534919" y="1434920"/>
            <a:ext cx="8555328" cy="2244194"/>
          </a:xfrm>
        </p:spPr>
        <p:txBody>
          <a:bodyPr>
            <a:noAutofit/>
          </a:bodyPr>
          <a:lstStyle/>
          <a:p>
            <a:pPr algn="l">
              <a:lnSpc>
                <a:spcPct val="120000"/>
              </a:lnSpc>
            </a:pPr>
            <a:r>
              <a:rPr lang="en-US" altLang="zh-CN" sz="3600" dirty="0">
                <a:latin typeface="Gadugi" panose="020B0502040204020203" pitchFamily="34" charset="0"/>
                <a:ea typeface="Gadugi" panose="020B0502040204020203" pitchFamily="34" charset="0"/>
              </a:rPr>
              <a:t>The Impact of Cursor AI on Open-Source Projects</a:t>
            </a:r>
            <a:endParaRPr lang="en-US" sz="2400" dirty="0"/>
          </a:p>
        </p:txBody>
      </p:sp>
      <p:sp>
        <p:nvSpPr>
          <p:cNvPr id="3" name="Subtitle 2">
            <a:extLst>
              <a:ext uri="{FF2B5EF4-FFF2-40B4-BE49-F238E27FC236}">
                <a16:creationId xmlns:a16="http://schemas.microsoft.com/office/drawing/2014/main" id="{2035DD2F-15E8-F370-7E11-E3B1AE6FA037}"/>
              </a:ext>
            </a:extLst>
          </p:cNvPr>
          <p:cNvSpPr>
            <a:spLocks noGrp="1"/>
          </p:cNvSpPr>
          <p:nvPr>
            <p:ph type="subTitle" idx="1"/>
          </p:nvPr>
        </p:nvSpPr>
        <p:spPr>
          <a:xfrm>
            <a:off x="2595420" y="4420161"/>
            <a:ext cx="9220473" cy="1934500"/>
          </a:xfrm>
        </p:spPr>
        <p:txBody>
          <a:bodyPr>
            <a:normAutofit/>
          </a:bodyPr>
          <a:lstStyle/>
          <a:p>
            <a:pPr algn="l"/>
            <a:r>
              <a:rPr lang="en-US" sz="2000" b="1" dirty="0">
                <a:latin typeface="Gadugi" panose="020B0502040204020203" pitchFamily="34" charset="0"/>
                <a:ea typeface="Gadugi" panose="020B0502040204020203" pitchFamily="34" charset="0"/>
              </a:rPr>
              <a:t>Hao He</a:t>
            </a:r>
            <a:r>
              <a:rPr lang="en-US" sz="2000" dirty="0">
                <a:latin typeface="Gadugi" panose="020B0502040204020203" pitchFamily="34" charset="0"/>
                <a:ea typeface="Gadugi" panose="020B0502040204020203" pitchFamily="34" charset="0"/>
              </a:rPr>
              <a:t>, Courtney Miller, Shyam Agarwal, Christian Kästner, and Bogdan Vasilescu. “Speed at the Cost of Quality: How Cursor AI Increases Short-Term Velocity and Long-Term Complexity in Open-Source Projects.” Accepted at the 23rd International Conference on Mining Software Repositories (MSR’26). Preprint: arXiv:2511.04427.</a:t>
            </a:r>
            <a:endParaRPr lang="en-US" sz="2000" dirty="0">
              <a:latin typeface="Gadugi" panose="020B0502040204020203" pitchFamily="34" charset="0"/>
              <a:ea typeface="Gadugi" panose="020B0502040204020203" pitchFamily="34" charset="0"/>
              <a:cs typeface="Roboto Slab" pitchFamily="2" charset="0"/>
            </a:endParaRPr>
          </a:p>
        </p:txBody>
      </p:sp>
      <p:pic>
        <p:nvPicPr>
          <p:cNvPr id="4" name="Picture 11">
            <a:extLst>
              <a:ext uri="{FF2B5EF4-FFF2-40B4-BE49-F238E27FC236}">
                <a16:creationId xmlns:a16="http://schemas.microsoft.com/office/drawing/2014/main" id="{3CC2DCB0-17D9-21D1-338D-3428777785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895350"/>
            <a:ext cx="3429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02D0BDC0-0E96-4314-1547-0740C4C4B7BE}"/>
              </a:ext>
            </a:extLst>
          </p:cNvPr>
          <p:cNvSpPr/>
          <p:nvPr/>
        </p:nvSpPr>
        <p:spPr>
          <a:xfrm>
            <a:off x="0" y="0"/>
            <a:ext cx="22098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7C60F12-65EA-FDDF-B86B-403EE36DC126}"/>
              </a:ext>
            </a:extLst>
          </p:cNvPr>
          <p:cNvCxnSpPr/>
          <p:nvPr/>
        </p:nvCxnSpPr>
        <p:spPr>
          <a:xfrm>
            <a:off x="2595421" y="812800"/>
            <a:ext cx="0" cy="5648036"/>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5863EB-D768-DD6B-3424-60C6421CA1B2}"/>
              </a:ext>
            </a:extLst>
          </p:cNvPr>
          <p:cNvCxnSpPr>
            <a:cxnSpLocks/>
          </p:cNvCxnSpPr>
          <p:nvPr/>
        </p:nvCxnSpPr>
        <p:spPr>
          <a:xfrm>
            <a:off x="2648063" y="3831695"/>
            <a:ext cx="5687223" cy="0"/>
          </a:xfrm>
          <a:prstGeom prst="line">
            <a:avLst/>
          </a:prstGeom>
          <a:noFill/>
          <a:ln w="127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722486D3-6A7F-61F2-4F5C-CFF84B7CC4B3}"/>
              </a:ext>
            </a:extLst>
          </p:cNvPr>
          <p:cNvSpPr txBox="1"/>
          <p:nvPr/>
        </p:nvSpPr>
        <p:spPr>
          <a:xfrm>
            <a:off x="2534919" y="1056262"/>
            <a:ext cx="2411879" cy="461665"/>
          </a:xfrm>
          <a:prstGeom prst="rect">
            <a:avLst/>
          </a:prstGeom>
          <a:noFill/>
        </p:spPr>
        <p:txBody>
          <a:bodyPr wrap="none" rtlCol="0">
            <a:spAutoFit/>
          </a:bodyPr>
          <a:lstStyle/>
          <a:p>
            <a:r>
              <a:rPr lang="en-US" altLang="zh-CN" sz="2400" dirty="0">
                <a:latin typeface="Calibri" panose="020F0502020204030204" pitchFamily="34" charset="0"/>
                <a:ea typeface="Calibri" panose="020F0502020204030204" pitchFamily="34" charset="0"/>
                <a:cs typeface="Calibri" panose="020F0502020204030204" pitchFamily="34" charset="0"/>
              </a:rPr>
              <a:t>Empirical Study III</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5935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7BDA-E862-61A3-A38F-E9F1BDCEE337}"/>
              </a:ext>
            </a:extLst>
          </p:cNvPr>
          <p:cNvSpPr>
            <a:spLocks noGrp="1"/>
          </p:cNvSpPr>
          <p:nvPr>
            <p:ph type="title"/>
          </p:nvPr>
        </p:nvSpPr>
        <p:spPr/>
        <p:txBody>
          <a:bodyPr/>
          <a:lstStyle/>
          <a:p>
            <a:r>
              <a:rPr lang="en-US"/>
              <a:t>Completed Work: The Impact of Cursor AI Adoption</a:t>
            </a:r>
          </a:p>
        </p:txBody>
      </p:sp>
      <p:sp>
        <p:nvSpPr>
          <p:cNvPr id="3" name="Content Placeholder 2">
            <a:extLst>
              <a:ext uri="{FF2B5EF4-FFF2-40B4-BE49-F238E27FC236}">
                <a16:creationId xmlns:a16="http://schemas.microsoft.com/office/drawing/2014/main" id="{13C9DF4F-88BC-489A-6847-53A9CBE9661D}"/>
              </a:ext>
            </a:extLst>
          </p:cNvPr>
          <p:cNvSpPr>
            <a:spLocks noGrp="1"/>
          </p:cNvSpPr>
          <p:nvPr>
            <p:ph idx="1"/>
          </p:nvPr>
        </p:nvSpPr>
        <p:spPr/>
        <p:txBody>
          <a:bodyPr/>
          <a:lstStyle/>
          <a:p>
            <a:r>
              <a:rPr lang="en-US" b="1"/>
              <a:t>Research Question: </a:t>
            </a:r>
            <a:r>
              <a:rPr lang="en-US"/>
              <a:t>Does Cursor bring sustained productivity benefits to software development (as measured by development velocity and software quality)?</a:t>
            </a:r>
          </a:p>
        </p:txBody>
      </p:sp>
      <p:sp>
        <p:nvSpPr>
          <p:cNvPr id="4" name="Footer Placeholder 3">
            <a:extLst>
              <a:ext uri="{FF2B5EF4-FFF2-40B4-BE49-F238E27FC236}">
                <a16:creationId xmlns:a16="http://schemas.microsoft.com/office/drawing/2014/main" id="{EC345BE9-9F1C-A123-4F1B-96C28AC2EB29}"/>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D20818DC-0441-EBE3-A163-4DDE6CFCE7E3}"/>
              </a:ext>
            </a:extLst>
          </p:cNvPr>
          <p:cNvSpPr>
            <a:spLocks noGrp="1"/>
          </p:cNvSpPr>
          <p:nvPr>
            <p:ph type="sldNum" sz="quarter" idx="12"/>
          </p:nvPr>
        </p:nvSpPr>
        <p:spPr/>
        <p:txBody>
          <a:bodyPr/>
          <a:lstStyle/>
          <a:p>
            <a:fld id="{8E90A93A-CBEB-40B0-B638-E400989BEC3F}" type="slidenum">
              <a:rPr lang="zh-CN" altLang="en-US" smtClean="0"/>
              <a:pPr/>
              <a:t>29</a:t>
            </a:fld>
            <a:endParaRPr lang="zh-CN" altLang="en-US"/>
          </a:p>
        </p:txBody>
      </p:sp>
      <p:sp>
        <p:nvSpPr>
          <p:cNvPr id="6" name="TextBox 5">
            <a:extLst>
              <a:ext uri="{FF2B5EF4-FFF2-40B4-BE49-F238E27FC236}">
                <a16:creationId xmlns:a16="http://schemas.microsoft.com/office/drawing/2014/main" id="{2745DED5-63F3-E87C-4F79-CB97434636B3}"/>
              </a:ext>
            </a:extLst>
          </p:cNvPr>
          <p:cNvSpPr txBox="1"/>
          <p:nvPr/>
        </p:nvSpPr>
        <p:spPr>
          <a:xfrm>
            <a:off x="362091" y="5862508"/>
            <a:ext cx="11502131" cy="523220"/>
          </a:xfrm>
          <a:prstGeom prst="rect">
            <a:avLst/>
          </a:prstGeom>
          <a:noFill/>
        </p:spPr>
        <p:txBody>
          <a:bodyPr wrap="square">
            <a:spAutoFit/>
          </a:bodyPr>
          <a:lstStyle/>
          <a:p>
            <a:r>
              <a:rPr lang="en-US" sz="1400" b="1" i="0">
                <a:solidFill>
                  <a:srgbClr val="222222"/>
                </a:solidFill>
                <a:effectLst/>
                <a:latin typeface="Arial" panose="020B0604020202020204" pitchFamily="34" charset="0"/>
              </a:rPr>
              <a:t>He, Hao</a:t>
            </a:r>
            <a:r>
              <a:rPr lang="en-US" sz="1400" i="0">
                <a:solidFill>
                  <a:srgbClr val="222222"/>
                </a:solidFill>
                <a:effectLst/>
                <a:latin typeface="Arial" panose="020B0604020202020204" pitchFamily="34" charset="0"/>
              </a:rPr>
              <a:t>, et al. "Speed at the Cost of Quality: How Cursor AI Increases Short-Term Velocity and Long-Term Complexity in Open-Source Projects." </a:t>
            </a:r>
            <a:r>
              <a:rPr lang="en-US" sz="1400" i="0" err="1">
                <a:solidFill>
                  <a:srgbClr val="222222"/>
                </a:solidFill>
                <a:effectLst/>
                <a:latin typeface="Arial" panose="020B0604020202020204" pitchFamily="34" charset="0"/>
              </a:rPr>
              <a:t>arXiv</a:t>
            </a:r>
            <a:r>
              <a:rPr lang="en-US" sz="1400" i="0">
                <a:solidFill>
                  <a:srgbClr val="222222"/>
                </a:solidFill>
                <a:effectLst/>
                <a:latin typeface="Arial" panose="020B0604020202020204" pitchFamily="34" charset="0"/>
              </a:rPr>
              <a:t> preprint arXiv:2511.04427 (2025). To appear in the 2026 23rd International Conference on Mining Software Repositories.</a:t>
            </a:r>
            <a:endParaRPr lang="en-US" sz="1400"/>
          </a:p>
        </p:txBody>
      </p:sp>
      <p:sp>
        <p:nvSpPr>
          <p:cNvPr id="12" name="TextBox 11">
            <a:extLst>
              <a:ext uri="{FF2B5EF4-FFF2-40B4-BE49-F238E27FC236}">
                <a16:creationId xmlns:a16="http://schemas.microsoft.com/office/drawing/2014/main" id="{4C74220F-CAB7-1D46-68D0-B0C9F8CDCD49}"/>
              </a:ext>
            </a:extLst>
          </p:cNvPr>
          <p:cNvSpPr txBox="1"/>
          <p:nvPr/>
        </p:nvSpPr>
        <p:spPr>
          <a:xfrm>
            <a:off x="3742265" y="4761929"/>
            <a:ext cx="4975607"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Candidate Theory (The Myth)</a:t>
            </a:r>
            <a:endParaRPr lang="en-US"/>
          </a:p>
        </p:txBody>
      </p:sp>
      <p:grpSp>
        <p:nvGrpSpPr>
          <p:cNvPr id="18" name="Group 17">
            <a:extLst>
              <a:ext uri="{FF2B5EF4-FFF2-40B4-BE49-F238E27FC236}">
                <a16:creationId xmlns:a16="http://schemas.microsoft.com/office/drawing/2014/main" id="{40F06DCE-0EE7-5B3E-7122-4FBAB57C573F}"/>
              </a:ext>
            </a:extLst>
          </p:cNvPr>
          <p:cNvGrpSpPr/>
          <p:nvPr/>
        </p:nvGrpSpPr>
        <p:grpSpPr>
          <a:xfrm>
            <a:off x="896645" y="2793443"/>
            <a:ext cx="10142738" cy="1761649"/>
            <a:chOff x="896645" y="2793443"/>
            <a:chExt cx="10142738" cy="1761649"/>
          </a:xfrm>
        </p:grpSpPr>
        <p:grpSp>
          <p:nvGrpSpPr>
            <p:cNvPr id="7" name="Group 6">
              <a:extLst>
                <a:ext uri="{FF2B5EF4-FFF2-40B4-BE49-F238E27FC236}">
                  <a16:creationId xmlns:a16="http://schemas.microsoft.com/office/drawing/2014/main" id="{3C0397CC-583E-DC86-8A98-28B1C15C86ED}"/>
                </a:ext>
              </a:extLst>
            </p:cNvPr>
            <p:cNvGrpSpPr/>
            <p:nvPr/>
          </p:nvGrpSpPr>
          <p:grpSpPr>
            <a:xfrm>
              <a:off x="896645" y="2793443"/>
              <a:ext cx="10142738" cy="864154"/>
              <a:chOff x="843379" y="3414880"/>
              <a:chExt cx="10142738" cy="864154"/>
            </a:xfrm>
          </p:grpSpPr>
          <p:sp>
            <p:nvSpPr>
              <p:cNvPr id="8" name="Rectangle 7">
                <a:extLst>
                  <a:ext uri="{FF2B5EF4-FFF2-40B4-BE49-F238E27FC236}">
                    <a16:creationId xmlns:a16="http://schemas.microsoft.com/office/drawing/2014/main" id="{46223A28-5122-62AE-3AE9-4F439555427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9" name="Rectangle 8">
                <a:extLst>
                  <a:ext uri="{FF2B5EF4-FFF2-40B4-BE49-F238E27FC236}">
                    <a16:creationId xmlns:a16="http://schemas.microsoft.com/office/drawing/2014/main" id="{1943A1EB-6F5C-470E-1AF9-4F5D2EDD7DC6}"/>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Development Velocity</a:t>
                </a:r>
              </a:p>
            </p:txBody>
          </p:sp>
          <p:cxnSp>
            <p:nvCxnSpPr>
              <p:cNvPr id="10" name="Straight Arrow Connector 9">
                <a:extLst>
                  <a:ext uri="{FF2B5EF4-FFF2-40B4-BE49-F238E27FC236}">
                    <a16:creationId xmlns:a16="http://schemas.microsoft.com/office/drawing/2014/main" id="{A8221961-9A50-271D-2B10-08E6A7274FD1}"/>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870D22E-25E5-B9B0-61DB-38EA1268EB8A}"/>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nvGrpSpPr>
            <p:cNvPr id="13" name="Group 12">
              <a:extLst>
                <a:ext uri="{FF2B5EF4-FFF2-40B4-BE49-F238E27FC236}">
                  <a16:creationId xmlns:a16="http://schemas.microsoft.com/office/drawing/2014/main" id="{D05649E5-8D0E-E2DE-9D20-89C26908E478}"/>
                </a:ext>
              </a:extLst>
            </p:cNvPr>
            <p:cNvGrpSpPr/>
            <p:nvPr/>
          </p:nvGrpSpPr>
          <p:grpSpPr>
            <a:xfrm>
              <a:off x="896645" y="3690938"/>
              <a:ext cx="10142738" cy="864154"/>
              <a:chOff x="843379" y="3414880"/>
              <a:chExt cx="10142738" cy="864154"/>
            </a:xfrm>
          </p:grpSpPr>
          <p:sp>
            <p:nvSpPr>
              <p:cNvPr id="14" name="Rectangle 13">
                <a:extLst>
                  <a:ext uri="{FF2B5EF4-FFF2-40B4-BE49-F238E27FC236}">
                    <a16:creationId xmlns:a16="http://schemas.microsoft.com/office/drawing/2014/main" id="{95513809-050B-FBA1-10A7-4CCD7C0F8133}"/>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15" name="Rectangle 14">
                <a:extLst>
                  <a:ext uri="{FF2B5EF4-FFF2-40B4-BE49-F238E27FC236}">
                    <a16:creationId xmlns:a16="http://schemas.microsoft.com/office/drawing/2014/main" id="{F32C2C40-75B2-5291-5CAA-2EA6E7387922}"/>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Software Quality</a:t>
                </a:r>
              </a:p>
            </p:txBody>
          </p:sp>
          <p:cxnSp>
            <p:nvCxnSpPr>
              <p:cNvPr id="16" name="Straight Arrow Connector 15">
                <a:extLst>
                  <a:ext uri="{FF2B5EF4-FFF2-40B4-BE49-F238E27FC236}">
                    <a16:creationId xmlns:a16="http://schemas.microsoft.com/office/drawing/2014/main" id="{BCF42AF8-BF07-AB62-D17B-B66BD017477F}"/>
                  </a:ext>
                </a:extLst>
              </p:cNvPr>
              <p:cNvCxnSpPr>
                <a:cxnSpLocks/>
                <a:stCxn id="14" idx="3"/>
                <a:endCxn id="15"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C88C751-6F62-FB0D-6C01-4B14713B7B02}"/>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spTree>
    <p:extLst>
      <p:ext uri="{BB962C8B-B14F-4D97-AF65-F5344CB8AC3E}">
        <p14:creationId xmlns:p14="http://schemas.microsoft.com/office/powerpoint/2010/main" val="664022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7B9E1-20A2-00B9-26ED-38DF3B9583E8}"/>
              </a:ext>
            </a:extLst>
          </p:cNvPr>
          <p:cNvSpPr>
            <a:spLocks noGrp="1"/>
          </p:cNvSpPr>
          <p:nvPr>
            <p:ph type="title"/>
          </p:nvPr>
        </p:nvSpPr>
        <p:spPr/>
        <p:txBody>
          <a:bodyPr/>
          <a:lstStyle/>
          <a:p>
            <a:r>
              <a:rPr lang="en-US"/>
              <a:t>Completed Work: The Impact of Cursor AI Adoption</a:t>
            </a:r>
          </a:p>
        </p:txBody>
      </p:sp>
      <p:sp>
        <p:nvSpPr>
          <p:cNvPr id="3" name="Content Placeholder 2">
            <a:extLst>
              <a:ext uri="{FF2B5EF4-FFF2-40B4-BE49-F238E27FC236}">
                <a16:creationId xmlns:a16="http://schemas.microsoft.com/office/drawing/2014/main" id="{2BB75F9C-C506-9E42-EEE4-F74A871A1841}"/>
              </a:ext>
            </a:extLst>
          </p:cNvPr>
          <p:cNvSpPr>
            <a:spLocks noGrp="1"/>
          </p:cNvSpPr>
          <p:nvPr>
            <p:ph idx="1"/>
          </p:nvPr>
        </p:nvSpPr>
        <p:spPr/>
        <p:txBody>
          <a:bodyPr/>
          <a:lstStyle/>
          <a:p>
            <a:r>
              <a:rPr lang="en-US" b="1"/>
              <a:t>Method: </a:t>
            </a:r>
            <a:r>
              <a:rPr lang="en-US"/>
              <a:t>Propensity Score Matching + Staggered Difference-in-Differences</a:t>
            </a:r>
          </a:p>
          <a:p>
            <a:r>
              <a:rPr lang="en-US" altLang="zh-CN" b="1"/>
              <a:t>Assumption for Causal Interpretation:</a:t>
            </a:r>
          </a:p>
          <a:p>
            <a:pPr lvl="1"/>
            <a:r>
              <a:rPr lang="en-US"/>
              <a:t>(</a:t>
            </a:r>
            <a:r>
              <a:rPr lang="en-US">
                <a:solidFill>
                  <a:srgbClr val="FF0000"/>
                </a:solidFill>
              </a:rPr>
              <a:t>Parallel Trend</a:t>
            </a:r>
            <a:r>
              <a:rPr lang="en-US"/>
              <a:t>) The treatment group and the control group would on average evolve similarly in outcome should the treatment (i.e., Cursor) never happened</a:t>
            </a:r>
          </a:p>
          <a:p>
            <a:r>
              <a:rPr lang="en-US" b="1"/>
              <a:t>Alternative Explanations:</a:t>
            </a:r>
          </a:p>
          <a:p>
            <a:pPr lvl="1"/>
            <a:r>
              <a:rPr lang="en-US"/>
              <a:t>(Selection Bias) The two groups are different =&gt; matching + pre-trend tests</a:t>
            </a:r>
          </a:p>
          <a:p>
            <a:pPr lvl="1"/>
            <a:r>
              <a:rPr lang="en-US"/>
              <a:t>(Sustainability Issues) Developers abandon the project =&gt; Robustness </a:t>
            </a:r>
            <a:r>
              <a:rPr lang="en-US" altLang="zh-CN"/>
              <a:t>checks</a:t>
            </a:r>
            <a:endParaRPr lang="en-US"/>
          </a:p>
          <a:p>
            <a:pPr lvl="1"/>
            <a:r>
              <a:rPr lang="en-US"/>
              <a:t>(Non-compliance) Developers stop using Cursor =&gt; </a:t>
            </a:r>
            <a:r>
              <a:rPr lang="en-US" altLang="zh-CN"/>
              <a:t>Robustness checks</a:t>
            </a:r>
          </a:p>
          <a:p>
            <a:pPr lvl="1"/>
            <a:r>
              <a:rPr lang="en-US"/>
              <a:t>(Dataset Pollution) Presence of other AI tools =&gt; Robustness checks</a:t>
            </a:r>
          </a:p>
        </p:txBody>
      </p:sp>
      <p:sp>
        <p:nvSpPr>
          <p:cNvPr id="4" name="Footer Placeholder 3">
            <a:extLst>
              <a:ext uri="{FF2B5EF4-FFF2-40B4-BE49-F238E27FC236}">
                <a16:creationId xmlns:a16="http://schemas.microsoft.com/office/drawing/2014/main" id="{23111AC0-EF34-7FD0-5C62-08ED1D08344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44D3D366-E4F1-11E6-3CEB-D8C8CDD3AFE5}"/>
              </a:ext>
            </a:extLst>
          </p:cNvPr>
          <p:cNvSpPr>
            <a:spLocks noGrp="1"/>
          </p:cNvSpPr>
          <p:nvPr>
            <p:ph type="sldNum" sz="quarter" idx="12"/>
          </p:nvPr>
        </p:nvSpPr>
        <p:spPr/>
        <p:txBody>
          <a:bodyPr/>
          <a:lstStyle/>
          <a:p>
            <a:fld id="{8E90A93A-CBEB-40B0-B638-E400989BEC3F}" type="slidenum">
              <a:rPr lang="zh-CN" altLang="en-US" smtClean="0"/>
              <a:pPr/>
              <a:t>30</a:t>
            </a:fld>
            <a:endParaRPr lang="zh-CN" altLang="en-US"/>
          </a:p>
        </p:txBody>
      </p:sp>
    </p:spTree>
    <p:extLst>
      <p:ext uri="{BB962C8B-B14F-4D97-AF65-F5344CB8AC3E}">
        <p14:creationId xmlns:p14="http://schemas.microsoft.com/office/powerpoint/2010/main" val="2172948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925FE-B866-2C64-A3F8-5336E59D1257}"/>
              </a:ext>
            </a:extLst>
          </p:cNvPr>
          <p:cNvSpPr>
            <a:spLocks noGrp="1"/>
          </p:cNvSpPr>
          <p:nvPr>
            <p:ph type="title"/>
          </p:nvPr>
        </p:nvSpPr>
        <p:spPr/>
        <p:txBody>
          <a:bodyPr/>
          <a:lstStyle/>
          <a:p>
            <a:r>
              <a:rPr lang="en-US"/>
              <a:t>Completed Work: The Impact of Cursor AI Adoption</a:t>
            </a:r>
          </a:p>
        </p:txBody>
      </p:sp>
      <p:sp>
        <p:nvSpPr>
          <p:cNvPr id="4" name="Footer Placeholder 3">
            <a:extLst>
              <a:ext uri="{FF2B5EF4-FFF2-40B4-BE49-F238E27FC236}">
                <a16:creationId xmlns:a16="http://schemas.microsoft.com/office/drawing/2014/main" id="{2696AF20-5B8C-0CBF-69D9-D39A8F428AA0}"/>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3D6AEA0C-0755-5992-8AEC-9202F05167A8}"/>
              </a:ext>
            </a:extLst>
          </p:cNvPr>
          <p:cNvSpPr>
            <a:spLocks noGrp="1"/>
          </p:cNvSpPr>
          <p:nvPr>
            <p:ph type="sldNum" sz="quarter" idx="12"/>
          </p:nvPr>
        </p:nvSpPr>
        <p:spPr/>
        <p:txBody>
          <a:bodyPr/>
          <a:lstStyle/>
          <a:p>
            <a:fld id="{8E90A93A-CBEB-40B0-B638-E400989BEC3F}" type="slidenum">
              <a:rPr lang="zh-CN" altLang="en-US" smtClean="0"/>
              <a:pPr/>
              <a:t>31</a:t>
            </a:fld>
            <a:endParaRPr lang="zh-CN" altLang="en-US"/>
          </a:p>
        </p:txBody>
      </p:sp>
      <p:sp>
        <p:nvSpPr>
          <p:cNvPr id="19" name="TextBox 18">
            <a:extLst>
              <a:ext uri="{FF2B5EF4-FFF2-40B4-BE49-F238E27FC236}">
                <a16:creationId xmlns:a16="http://schemas.microsoft.com/office/drawing/2014/main" id="{31285E87-9D65-102C-231F-305C9B67FACE}"/>
              </a:ext>
            </a:extLst>
          </p:cNvPr>
          <p:cNvSpPr txBox="1"/>
          <p:nvPr/>
        </p:nvSpPr>
        <p:spPr>
          <a:xfrm>
            <a:off x="3047630" y="5771651"/>
            <a:ext cx="6096740" cy="400110"/>
          </a:xfrm>
          <a:prstGeom prst="rect">
            <a:avLst/>
          </a:prstGeom>
          <a:noFill/>
        </p:spPr>
        <p:txBody>
          <a:bodyPr wrap="square">
            <a:spAutoFit/>
          </a:bodyPr>
          <a:lstStyle/>
          <a:p>
            <a:pPr algn="ctr"/>
            <a:r>
              <a:rPr lang="en-US" altLang="zh-CN" sz="2000" b="1">
                <a:solidFill>
                  <a:srgbClr val="FF0000"/>
                </a:solidFill>
                <a:latin typeface="Gadugi" panose="020B0502040204020203" pitchFamily="34" charset="0"/>
                <a:ea typeface="Gadugi" panose="020B0502040204020203" pitchFamily="34" charset="0"/>
              </a:rPr>
              <a:t>×(dispelled) </a:t>
            </a:r>
            <a:r>
              <a:rPr lang="en-US" sz="2000">
                <a:solidFill>
                  <a:prstClr val="black"/>
                </a:solidFill>
                <a:latin typeface="Gadugi" panose="020B0502040204020203" pitchFamily="34" charset="0"/>
                <a:ea typeface="Gadugi" panose="020B0502040204020203" pitchFamily="34" charset="0"/>
              </a:rPr>
              <a:t>Candidate Theory (The Myth)</a:t>
            </a:r>
            <a:endParaRPr lang="en-US" sz="2000"/>
          </a:p>
        </p:txBody>
      </p:sp>
      <p:pic>
        <p:nvPicPr>
          <p:cNvPr id="21" name="Picture 20">
            <a:extLst>
              <a:ext uri="{FF2B5EF4-FFF2-40B4-BE49-F238E27FC236}">
                <a16:creationId xmlns:a16="http://schemas.microsoft.com/office/drawing/2014/main" id="{FEFAD496-B28E-4553-A37C-73812255C448}"/>
              </a:ext>
            </a:extLst>
          </p:cNvPr>
          <p:cNvPicPr>
            <a:picLocks noChangeAspect="1"/>
          </p:cNvPicPr>
          <p:nvPr/>
        </p:nvPicPr>
        <p:blipFill>
          <a:blip r:embed="rId2"/>
          <a:stretch>
            <a:fillRect/>
          </a:stretch>
        </p:blipFill>
        <p:spPr>
          <a:xfrm>
            <a:off x="1529271" y="1404576"/>
            <a:ext cx="9312676" cy="2170148"/>
          </a:xfrm>
          <a:prstGeom prst="rect">
            <a:avLst/>
          </a:prstGeom>
        </p:spPr>
      </p:pic>
      <p:grpSp>
        <p:nvGrpSpPr>
          <p:cNvPr id="3" name="Group 2">
            <a:extLst>
              <a:ext uri="{FF2B5EF4-FFF2-40B4-BE49-F238E27FC236}">
                <a16:creationId xmlns:a16="http://schemas.microsoft.com/office/drawing/2014/main" id="{BF2D5B6F-CEA7-1F48-4B94-DF3150C41F4F}"/>
              </a:ext>
            </a:extLst>
          </p:cNvPr>
          <p:cNvGrpSpPr/>
          <p:nvPr/>
        </p:nvGrpSpPr>
        <p:grpSpPr>
          <a:xfrm>
            <a:off x="901084" y="3756671"/>
            <a:ext cx="10142738" cy="1761649"/>
            <a:chOff x="896645" y="2793443"/>
            <a:chExt cx="10142738" cy="1761649"/>
          </a:xfrm>
        </p:grpSpPr>
        <p:grpSp>
          <p:nvGrpSpPr>
            <p:cNvPr id="6" name="Group 5">
              <a:extLst>
                <a:ext uri="{FF2B5EF4-FFF2-40B4-BE49-F238E27FC236}">
                  <a16:creationId xmlns:a16="http://schemas.microsoft.com/office/drawing/2014/main" id="{FAC90D76-69CB-A85E-7509-F9F8DE7AA369}"/>
                </a:ext>
              </a:extLst>
            </p:cNvPr>
            <p:cNvGrpSpPr/>
            <p:nvPr/>
          </p:nvGrpSpPr>
          <p:grpSpPr>
            <a:xfrm>
              <a:off x="896645" y="2793443"/>
              <a:ext cx="10142738" cy="864154"/>
              <a:chOff x="843379" y="3414880"/>
              <a:chExt cx="10142738" cy="864154"/>
            </a:xfrm>
          </p:grpSpPr>
          <p:sp>
            <p:nvSpPr>
              <p:cNvPr id="12" name="Rectangle 11">
                <a:extLst>
                  <a:ext uri="{FF2B5EF4-FFF2-40B4-BE49-F238E27FC236}">
                    <a16:creationId xmlns:a16="http://schemas.microsoft.com/office/drawing/2014/main" id="{1D62BFA3-9C8D-B50B-FFEF-DDBC5BDDA7B5}"/>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13" name="Rectangle 12">
                <a:extLst>
                  <a:ext uri="{FF2B5EF4-FFF2-40B4-BE49-F238E27FC236}">
                    <a16:creationId xmlns:a16="http://schemas.microsoft.com/office/drawing/2014/main" id="{298C8A93-D73C-128E-DA3F-049D6BA1BD8A}"/>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Development Velocity</a:t>
                </a:r>
              </a:p>
            </p:txBody>
          </p:sp>
          <p:cxnSp>
            <p:nvCxnSpPr>
              <p:cNvPr id="14" name="Straight Arrow Connector 13">
                <a:extLst>
                  <a:ext uri="{FF2B5EF4-FFF2-40B4-BE49-F238E27FC236}">
                    <a16:creationId xmlns:a16="http://schemas.microsoft.com/office/drawing/2014/main" id="{9D0A1E5C-A60B-264F-62C5-95021742938E}"/>
                  </a:ext>
                </a:extLst>
              </p:cNvPr>
              <p:cNvCxnSpPr>
                <a:cxnSpLocks/>
                <a:stCxn id="12" idx="3"/>
                <a:endCxn id="13"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8A79B854-88CD-626D-1B83-C0D733966582}"/>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nvGrpSpPr>
            <p:cNvPr id="7" name="Group 6">
              <a:extLst>
                <a:ext uri="{FF2B5EF4-FFF2-40B4-BE49-F238E27FC236}">
                  <a16:creationId xmlns:a16="http://schemas.microsoft.com/office/drawing/2014/main" id="{406C8C36-2105-8088-60B2-F0732ACE07FE}"/>
                </a:ext>
              </a:extLst>
            </p:cNvPr>
            <p:cNvGrpSpPr/>
            <p:nvPr/>
          </p:nvGrpSpPr>
          <p:grpSpPr>
            <a:xfrm>
              <a:off x="896645" y="3690938"/>
              <a:ext cx="10142738" cy="864154"/>
              <a:chOff x="843379" y="3414880"/>
              <a:chExt cx="10142738" cy="864154"/>
            </a:xfrm>
          </p:grpSpPr>
          <p:sp>
            <p:nvSpPr>
              <p:cNvPr id="8" name="Rectangle 7">
                <a:extLst>
                  <a:ext uri="{FF2B5EF4-FFF2-40B4-BE49-F238E27FC236}">
                    <a16:creationId xmlns:a16="http://schemas.microsoft.com/office/drawing/2014/main" id="{F2E436C3-8511-08A3-0E8A-4431B22F7848}"/>
                  </a:ext>
                </a:extLst>
              </p:cNvPr>
              <p:cNvSpPr/>
              <p:nvPr/>
            </p:nvSpPr>
            <p:spPr>
              <a:xfrm>
                <a:off x="843379" y="3582444"/>
                <a:ext cx="3724182" cy="6965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a:latin typeface="Gadugi" panose="020B0502040204020203" pitchFamily="34" charset="0"/>
                    <a:ea typeface="Gadugi" panose="020B0502040204020203" pitchFamily="34" charset="0"/>
                  </a:rPr>
                  <a:t>Cursor AI</a:t>
                </a:r>
                <a:endParaRPr lang="en-US" sz="2400">
                  <a:latin typeface="Gadugi" panose="020B0502040204020203" pitchFamily="34" charset="0"/>
                  <a:ea typeface="Gadugi" panose="020B0502040204020203" pitchFamily="34" charset="0"/>
                </a:endParaRPr>
              </a:p>
            </p:txBody>
          </p:sp>
          <p:sp>
            <p:nvSpPr>
              <p:cNvPr id="9" name="Rectangle 8">
                <a:extLst>
                  <a:ext uri="{FF2B5EF4-FFF2-40B4-BE49-F238E27FC236}">
                    <a16:creationId xmlns:a16="http://schemas.microsoft.com/office/drawing/2014/main" id="{28AD4979-26B0-4C84-7769-B93217F7139C}"/>
                  </a:ext>
                </a:extLst>
              </p:cNvPr>
              <p:cNvSpPr/>
              <p:nvPr/>
            </p:nvSpPr>
            <p:spPr>
              <a:xfrm>
                <a:off x="7365507" y="3606551"/>
                <a:ext cx="3620610" cy="67248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a:latin typeface="Gadugi" panose="020B0502040204020203" pitchFamily="34" charset="0"/>
                    <a:ea typeface="Gadugi" panose="020B0502040204020203" pitchFamily="34" charset="0"/>
                  </a:rPr>
                  <a:t>Software Quality</a:t>
                </a:r>
              </a:p>
            </p:txBody>
          </p:sp>
          <p:cxnSp>
            <p:nvCxnSpPr>
              <p:cNvPr id="10" name="Straight Arrow Connector 9">
                <a:extLst>
                  <a:ext uri="{FF2B5EF4-FFF2-40B4-BE49-F238E27FC236}">
                    <a16:creationId xmlns:a16="http://schemas.microsoft.com/office/drawing/2014/main" id="{76338085-A360-A311-D2BD-5F74829F35AB}"/>
                  </a:ext>
                </a:extLst>
              </p:cNvPr>
              <p:cNvCxnSpPr>
                <a:cxnSpLocks/>
                <a:stCxn id="8" idx="3"/>
                <a:endCxn id="9" idx="1"/>
              </p:cNvCxnSpPr>
              <p:nvPr/>
            </p:nvCxnSpPr>
            <p:spPr>
              <a:xfrm>
                <a:off x="4567561" y="3930739"/>
                <a:ext cx="2797946" cy="120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FAB02DD-4775-3AA7-7A5F-5D276BBEEC26}"/>
                  </a:ext>
                </a:extLst>
              </p:cNvPr>
              <p:cNvSpPr txBox="1"/>
              <p:nvPr/>
            </p:nvSpPr>
            <p:spPr>
              <a:xfrm>
                <a:off x="5136243" y="3414880"/>
                <a:ext cx="1727091" cy="461665"/>
              </a:xfrm>
              <a:prstGeom prst="rect">
                <a:avLst/>
              </a:prstGeom>
              <a:noFill/>
            </p:spPr>
            <p:txBody>
              <a:bodyPr wrap="square">
                <a:spAutoFit/>
              </a:bodyPr>
              <a:lstStyle/>
              <a:p>
                <a:pPr algn="ctr"/>
                <a:r>
                  <a:rPr lang="en-US" sz="2400">
                    <a:solidFill>
                      <a:prstClr val="black"/>
                    </a:solidFill>
                    <a:latin typeface="Gadugi" panose="020B0502040204020203" pitchFamily="34" charset="0"/>
                    <a:ea typeface="Gadugi" panose="020B0502040204020203" pitchFamily="34" charset="0"/>
                  </a:rPr>
                  <a:t>increases</a:t>
                </a:r>
                <a:endParaRPr lang="en-US"/>
              </a:p>
            </p:txBody>
          </p:sp>
        </p:grpSp>
      </p:grpSp>
    </p:spTree>
    <p:extLst>
      <p:ext uri="{BB962C8B-B14F-4D97-AF65-F5344CB8AC3E}">
        <p14:creationId xmlns:p14="http://schemas.microsoft.com/office/powerpoint/2010/main" val="3243227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9F1E0E-D68A-E43C-A07B-9BDBA209DA95}"/>
              </a:ext>
            </a:extLst>
          </p:cNvPr>
          <p:cNvSpPr>
            <a:spLocks noGrp="1"/>
          </p:cNvSpPr>
          <p:nvPr>
            <p:ph type="ftr" sz="quarter" idx="11"/>
          </p:nvPr>
        </p:nvSpPr>
        <p:spPr/>
        <p:txBody>
          <a:bodyPr/>
          <a:lstStyle/>
          <a:p>
            <a:r>
              <a:rPr lang="en-US">
                <a:latin typeface="Gadugi" panose="020B0502040204020203" pitchFamily="34" charset="0"/>
                <a:ea typeface="Gadugi" panose="020B0502040204020203" pitchFamily="34" charset="0"/>
              </a:rPr>
              <a:t>Dispelling Software Engineering Myths: A Pragmatic Causal Inference Approach</a:t>
            </a:r>
            <a:endParaRPr lang="en-US"/>
          </a:p>
        </p:txBody>
      </p:sp>
      <p:sp>
        <p:nvSpPr>
          <p:cNvPr id="5" name="Slide Number Placeholder 4">
            <a:extLst>
              <a:ext uri="{FF2B5EF4-FFF2-40B4-BE49-F238E27FC236}">
                <a16:creationId xmlns:a16="http://schemas.microsoft.com/office/drawing/2014/main" id="{C6661FEF-F126-7577-C070-B3486BCB3047}"/>
              </a:ext>
            </a:extLst>
          </p:cNvPr>
          <p:cNvSpPr>
            <a:spLocks noGrp="1"/>
          </p:cNvSpPr>
          <p:nvPr>
            <p:ph type="sldNum" sz="quarter" idx="12"/>
          </p:nvPr>
        </p:nvSpPr>
        <p:spPr/>
        <p:txBody>
          <a:bodyPr/>
          <a:lstStyle/>
          <a:p>
            <a:fld id="{8E90A93A-CBEB-40B0-B638-E400989BEC3F}" type="slidenum">
              <a:rPr lang="zh-CN" altLang="en-US" smtClean="0"/>
              <a:pPr/>
              <a:t>32</a:t>
            </a:fld>
            <a:endParaRPr lang="zh-CN" altLang="en-US"/>
          </a:p>
        </p:txBody>
      </p:sp>
      <p:sp>
        <p:nvSpPr>
          <p:cNvPr id="7" name="Title 1">
            <a:extLst>
              <a:ext uri="{FF2B5EF4-FFF2-40B4-BE49-F238E27FC236}">
                <a16:creationId xmlns:a16="http://schemas.microsoft.com/office/drawing/2014/main" id="{C10D64E2-8F46-0758-3736-9D1A6DE5019A}"/>
              </a:ext>
            </a:extLst>
          </p:cNvPr>
          <p:cNvSpPr>
            <a:spLocks noGrp="1"/>
          </p:cNvSpPr>
          <p:nvPr>
            <p:ph type="title"/>
          </p:nvPr>
        </p:nvSpPr>
        <p:spPr>
          <a:xfrm>
            <a:off x="320675" y="293688"/>
            <a:ext cx="11583988" cy="719137"/>
          </a:xfrm>
        </p:spPr>
        <p:txBody>
          <a:bodyPr/>
          <a:lstStyle/>
          <a:p>
            <a:r>
              <a:rPr lang="en-US"/>
              <a:t>Completed Work: The Impact of Cursor AI Adoption</a:t>
            </a:r>
          </a:p>
        </p:txBody>
      </p:sp>
      <p:grpSp>
        <p:nvGrpSpPr>
          <p:cNvPr id="8" name="Group 7">
            <a:extLst>
              <a:ext uri="{FF2B5EF4-FFF2-40B4-BE49-F238E27FC236}">
                <a16:creationId xmlns:a16="http://schemas.microsoft.com/office/drawing/2014/main" id="{BF60EC17-EFB0-E992-5838-3B86D84A094A}"/>
              </a:ext>
            </a:extLst>
          </p:cNvPr>
          <p:cNvGrpSpPr/>
          <p:nvPr/>
        </p:nvGrpSpPr>
        <p:grpSpPr>
          <a:xfrm>
            <a:off x="1306634" y="1250912"/>
            <a:ext cx="9033291" cy="4522294"/>
            <a:chOff x="1336198" y="1745699"/>
            <a:chExt cx="9033291" cy="4522294"/>
          </a:xfrm>
        </p:grpSpPr>
        <p:grpSp>
          <p:nvGrpSpPr>
            <p:cNvPr id="9" name="Group 8">
              <a:extLst>
                <a:ext uri="{FF2B5EF4-FFF2-40B4-BE49-F238E27FC236}">
                  <a16:creationId xmlns:a16="http://schemas.microsoft.com/office/drawing/2014/main" id="{C5EEAC09-07A0-5084-8579-860B2F90873A}"/>
                </a:ext>
              </a:extLst>
            </p:cNvPr>
            <p:cNvGrpSpPr/>
            <p:nvPr/>
          </p:nvGrpSpPr>
          <p:grpSpPr>
            <a:xfrm>
              <a:off x="1929020" y="1745699"/>
              <a:ext cx="7322637" cy="3952643"/>
              <a:chOff x="5079086" y="1523391"/>
              <a:chExt cx="7322637" cy="3952643"/>
            </a:xfrm>
          </p:grpSpPr>
          <p:grpSp>
            <p:nvGrpSpPr>
              <p:cNvPr id="21" name="Group 20">
                <a:extLst>
                  <a:ext uri="{FF2B5EF4-FFF2-40B4-BE49-F238E27FC236}">
                    <a16:creationId xmlns:a16="http://schemas.microsoft.com/office/drawing/2014/main" id="{F12258D3-4938-BC34-ECFD-66DDB9110DD7}"/>
                  </a:ext>
                </a:extLst>
              </p:cNvPr>
              <p:cNvGrpSpPr/>
              <p:nvPr/>
            </p:nvGrpSpPr>
            <p:grpSpPr>
              <a:xfrm>
                <a:off x="5079086" y="2960923"/>
                <a:ext cx="5481254" cy="2515111"/>
                <a:chOff x="5485952" y="1739851"/>
                <a:chExt cx="5481254" cy="2515111"/>
              </a:xfrm>
            </p:grpSpPr>
            <p:sp>
              <p:nvSpPr>
                <p:cNvPr id="23" name="Rectangle: Rounded Corners 22">
                  <a:extLst>
                    <a:ext uri="{FF2B5EF4-FFF2-40B4-BE49-F238E27FC236}">
                      <a16:creationId xmlns:a16="http://schemas.microsoft.com/office/drawing/2014/main" id="{C284C50F-3C19-235C-1A14-7E572512CA4E}"/>
                    </a:ext>
                  </a:extLst>
                </p:cNvPr>
                <p:cNvSpPr/>
                <p:nvPr/>
              </p:nvSpPr>
              <p:spPr>
                <a:xfrm>
                  <a:off x="7709484" y="1739851"/>
                  <a:ext cx="2718034"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a:latin typeface="Gadugi" panose="020B0502040204020203" pitchFamily="34" charset="0"/>
                      <a:ea typeface="Gadugi" panose="020B0502040204020203" pitchFamily="34" charset="0"/>
                    </a:rPr>
                    <a:t>Cursor AI Adoption</a:t>
                  </a:r>
                  <a:endParaRPr lang="en-US">
                    <a:latin typeface="Gadugi" panose="020B0502040204020203" pitchFamily="34" charset="0"/>
                    <a:ea typeface="Gadugi" panose="020B0502040204020203" pitchFamily="34" charset="0"/>
                  </a:endParaRPr>
                </a:p>
              </p:txBody>
            </p:sp>
            <p:sp>
              <p:nvSpPr>
                <p:cNvPr id="24" name="Rectangle: Rounded Corners 23">
                  <a:extLst>
                    <a:ext uri="{FF2B5EF4-FFF2-40B4-BE49-F238E27FC236}">
                      <a16:creationId xmlns:a16="http://schemas.microsoft.com/office/drawing/2014/main" id="{E98D8C80-8541-E44F-0863-DD0D9024B6A2}"/>
                    </a:ext>
                  </a:extLst>
                </p:cNvPr>
                <p:cNvSpPr/>
                <p:nvPr/>
              </p:nvSpPr>
              <p:spPr>
                <a:xfrm>
                  <a:off x="5485952" y="3613204"/>
                  <a:ext cx="2104938"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Velocity</a:t>
                  </a:r>
                </a:p>
              </p:txBody>
            </p:sp>
            <p:sp>
              <p:nvSpPr>
                <p:cNvPr id="25" name="Rectangle: Rounded Corners 24">
                  <a:extLst>
                    <a:ext uri="{FF2B5EF4-FFF2-40B4-BE49-F238E27FC236}">
                      <a16:creationId xmlns:a16="http://schemas.microsoft.com/office/drawing/2014/main" id="{79B1B259-A551-7A6C-258C-A686A4E54E7B}"/>
                    </a:ext>
                  </a:extLst>
                </p:cNvPr>
                <p:cNvSpPr/>
                <p:nvPr/>
              </p:nvSpPr>
              <p:spPr>
                <a:xfrm>
                  <a:off x="8897921" y="3613204"/>
                  <a:ext cx="2069285"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Static Analysis Warnings</a:t>
                  </a:r>
                </a:p>
              </p:txBody>
            </p:sp>
            <p:cxnSp>
              <p:nvCxnSpPr>
                <p:cNvPr id="26" name="Straight Arrow Connector 25">
                  <a:extLst>
                    <a:ext uri="{FF2B5EF4-FFF2-40B4-BE49-F238E27FC236}">
                      <a16:creationId xmlns:a16="http://schemas.microsoft.com/office/drawing/2014/main" id="{87927EEC-4AD1-A641-28C8-B7A8EA8CCD6F}"/>
                    </a:ext>
                  </a:extLst>
                </p:cNvPr>
                <p:cNvCxnSpPr>
                  <a:cxnSpLocks/>
                  <a:endCxn id="24" idx="0"/>
                </p:cNvCxnSpPr>
                <p:nvPr/>
              </p:nvCxnSpPr>
              <p:spPr>
                <a:xfrm flipH="1">
                  <a:off x="6538421" y="2381609"/>
                  <a:ext cx="1430416" cy="12315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8D1BB679-45F1-2AD0-841A-2CA312674835}"/>
                    </a:ext>
                  </a:extLst>
                </p:cNvPr>
                <p:cNvSpPr txBox="1"/>
                <p:nvPr/>
              </p:nvSpPr>
              <p:spPr>
                <a:xfrm>
                  <a:off x="6814207" y="2632883"/>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28" name="Straight Arrow Connector 27">
                  <a:extLst>
                    <a:ext uri="{FF2B5EF4-FFF2-40B4-BE49-F238E27FC236}">
                      <a16:creationId xmlns:a16="http://schemas.microsoft.com/office/drawing/2014/main" id="{87B0A317-92B3-254F-D7AB-121F16F63644}"/>
                    </a:ext>
                  </a:extLst>
                </p:cNvPr>
                <p:cNvCxnSpPr>
                  <a:cxnSpLocks/>
                  <a:stCxn id="23" idx="2"/>
                  <a:endCxn id="25" idx="0"/>
                </p:cNvCxnSpPr>
                <p:nvPr/>
              </p:nvCxnSpPr>
              <p:spPr>
                <a:xfrm>
                  <a:off x="9068501" y="2381609"/>
                  <a:ext cx="864063" cy="1231595"/>
                </a:xfrm>
                <a:prstGeom prst="straightConnector1">
                  <a:avLst/>
                </a:prstGeom>
                <a:ln w="38100">
                  <a:prstDash val="dash"/>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21237141-4447-C4B8-FFD0-8DBFB4940EF3}"/>
                    </a:ext>
                  </a:extLst>
                </p:cNvPr>
                <p:cNvSpPr txBox="1"/>
                <p:nvPr/>
              </p:nvSpPr>
              <p:spPr>
                <a:xfrm>
                  <a:off x="9543694" y="2685862"/>
                  <a:ext cx="402674" cy="461665"/>
                </a:xfrm>
                <a:prstGeom prst="rect">
                  <a:avLst/>
                </a:prstGeom>
                <a:noFill/>
              </p:spPr>
              <p:txBody>
                <a:bodyPr wrap="none" rtlCol="0">
                  <a:spAutoFit/>
                </a:bodyPr>
                <a:lstStyle/>
                <a:p>
                  <a:r>
                    <a:rPr lang="en-US" altLang="zh-CN" sz="2400" b="1">
                      <a:latin typeface="Gadugi" panose="020B0502040204020203" pitchFamily="34" charset="0"/>
                      <a:ea typeface="Gadugi" panose="020B0502040204020203" pitchFamily="34" charset="0"/>
                    </a:rPr>
                    <a:t>+</a:t>
                  </a:r>
                  <a:endParaRPr lang="en-US" sz="2400" b="1">
                    <a:latin typeface="Gadugi" panose="020B0502040204020203" pitchFamily="34" charset="0"/>
                    <a:ea typeface="Gadugi" panose="020B0502040204020203" pitchFamily="34" charset="0"/>
                  </a:endParaRPr>
                </a:p>
              </p:txBody>
            </p:sp>
            <p:sp>
              <p:nvSpPr>
                <p:cNvPr id="30" name="TextBox 29">
                  <a:extLst>
                    <a:ext uri="{FF2B5EF4-FFF2-40B4-BE49-F238E27FC236}">
                      <a16:creationId xmlns:a16="http://schemas.microsoft.com/office/drawing/2014/main" id="{C55B5B99-DCD6-F72D-46A9-93F4AE31F824}"/>
                    </a:ext>
                  </a:extLst>
                </p:cNvPr>
                <p:cNvSpPr txBox="1"/>
                <p:nvPr/>
              </p:nvSpPr>
              <p:spPr>
                <a:xfrm>
                  <a:off x="8143162" y="3543370"/>
                  <a:ext cx="309700" cy="461665"/>
                </a:xfrm>
                <a:prstGeom prst="rect">
                  <a:avLst/>
                </a:prstGeom>
                <a:noFill/>
              </p:spPr>
              <p:txBody>
                <a:bodyPr wrap="none" rtlCol="0">
                  <a:spAutoFit/>
                </a:bodyPr>
                <a:lstStyle/>
                <a:p>
                  <a:pPr algn="ctr"/>
                  <a:r>
                    <a:rPr lang="en-US" sz="2400" b="1">
                      <a:latin typeface="Gadugi" panose="020B0502040204020203" pitchFamily="34" charset="0"/>
                      <a:ea typeface="Gadugi" panose="020B0502040204020203" pitchFamily="34" charset="0"/>
                    </a:rPr>
                    <a:t>-</a:t>
                  </a:r>
                </a:p>
              </p:txBody>
            </p:sp>
            <p:cxnSp>
              <p:nvCxnSpPr>
                <p:cNvPr id="31" name="Straight Arrow Connector 30">
                  <a:extLst>
                    <a:ext uri="{FF2B5EF4-FFF2-40B4-BE49-F238E27FC236}">
                      <a16:creationId xmlns:a16="http://schemas.microsoft.com/office/drawing/2014/main" id="{C6F80F03-736A-10C2-654A-6DD23BFD6ABF}"/>
                    </a:ext>
                  </a:extLst>
                </p:cNvPr>
                <p:cNvCxnSpPr>
                  <a:cxnSpLocks/>
                  <a:stCxn id="25" idx="1"/>
                  <a:endCxn id="24" idx="3"/>
                </p:cNvCxnSpPr>
                <p:nvPr/>
              </p:nvCxnSpPr>
              <p:spPr>
                <a:xfrm flipH="1">
                  <a:off x="7590890" y="3934083"/>
                  <a:ext cx="130703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
            <p:nvSpPr>
              <p:cNvPr id="22" name="Rectangle: Rounded Corners 21">
                <a:extLst>
                  <a:ext uri="{FF2B5EF4-FFF2-40B4-BE49-F238E27FC236}">
                    <a16:creationId xmlns:a16="http://schemas.microsoft.com/office/drawing/2014/main" id="{7898577A-F95B-3B9A-F63F-A799F17D8C2C}"/>
                  </a:ext>
                </a:extLst>
              </p:cNvPr>
              <p:cNvSpPr/>
              <p:nvPr/>
            </p:nvSpPr>
            <p:spPr>
              <a:xfrm>
                <a:off x="10054204" y="1523391"/>
                <a:ext cx="2347519" cy="869121"/>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Frustration &amp; Abandonment</a:t>
                </a:r>
              </a:p>
            </p:txBody>
          </p:sp>
        </p:grpSp>
        <p:sp>
          <p:nvSpPr>
            <p:cNvPr id="10" name="Rectangle: Rounded Corners 9">
              <a:extLst>
                <a:ext uri="{FF2B5EF4-FFF2-40B4-BE49-F238E27FC236}">
                  <a16:creationId xmlns:a16="http://schemas.microsoft.com/office/drawing/2014/main" id="{CDB38858-FB01-203E-AD29-85398489590F}"/>
                </a:ext>
              </a:extLst>
            </p:cNvPr>
            <p:cNvSpPr/>
            <p:nvPr/>
          </p:nvSpPr>
          <p:spPr>
            <a:xfrm>
              <a:off x="7624193" y="5056584"/>
              <a:ext cx="2069285" cy="641758"/>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atin typeface="Gadugi" panose="020B0502040204020203" pitchFamily="34" charset="0"/>
                  <a:ea typeface="Gadugi" panose="020B0502040204020203" pitchFamily="34" charset="0"/>
                </a:rPr>
                <a:t>Code Complexity</a:t>
              </a:r>
            </a:p>
          </p:txBody>
        </p:sp>
        <p:cxnSp>
          <p:nvCxnSpPr>
            <p:cNvPr id="11" name="Straight Arrow Connector 10">
              <a:extLst>
                <a:ext uri="{FF2B5EF4-FFF2-40B4-BE49-F238E27FC236}">
                  <a16:creationId xmlns:a16="http://schemas.microsoft.com/office/drawing/2014/main" id="{C957AADB-738F-F673-FF2B-1DC3FFD217F3}"/>
                </a:ext>
              </a:extLst>
            </p:cNvPr>
            <p:cNvCxnSpPr>
              <a:cxnSpLocks/>
              <a:endCxn id="10" idx="0"/>
            </p:cNvCxnSpPr>
            <p:nvPr/>
          </p:nvCxnSpPr>
          <p:spPr>
            <a:xfrm>
              <a:off x="6732333" y="3824989"/>
              <a:ext cx="1926503" cy="12315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146F206-6E74-E8FE-1C1D-A0BDEEB6F054}"/>
                </a:ext>
              </a:extLst>
            </p:cNvPr>
            <p:cNvSpPr txBox="1"/>
            <p:nvPr/>
          </p:nvSpPr>
          <p:spPr>
            <a:xfrm>
              <a:off x="7675223" y="4036593"/>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3" name="Connector: Elbow 12">
              <a:extLst>
                <a:ext uri="{FF2B5EF4-FFF2-40B4-BE49-F238E27FC236}">
                  <a16:creationId xmlns:a16="http://schemas.microsoft.com/office/drawing/2014/main" id="{91F9E065-8DE6-6E6A-963D-496752199FE8}"/>
                </a:ext>
              </a:extLst>
            </p:cNvPr>
            <p:cNvCxnSpPr>
              <a:stCxn id="10" idx="2"/>
              <a:endCxn id="24" idx="2"/>
            </p:cNvCxnSpPr>
            <p:nvPr/>
          </p:nvCxnSpPr>
          <p:spPr>
            <a:xfrm rot="5400000">
              <a:off x="5820163" y="2859669"/>
              <a:ext cx="12700" cy="5677347"/>
            </a:xfrm>
            <a:prstGeom prst="bentConnector3">
              <a:avLst>
                <a:gd name="adj1" fmla="val 1800000"/>
              </a:avLst>
            </a:prstGeom>
            <a:ln w="381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00C7CAE-E412-AFC6-62A1-4588EE0AECEE}"/>
                </a:ext>
              </a:extLst>
            </p:cNvPr>
            <p:cNvSpPr txBox="1"/>
            <p:nvPr/>
          </p:nvSpPr>
          <p:spPr>
            <a:xfrm>
              <a:off x="5786300" y="5806328"/>
              <a:ext cx="309700" cy="461665"/>
            </a:xfrm>
            <a:prstGeom prst="rect">
              <a:avLst/>
            </a:prstGeom>
            <a:noFill/>
          </p:spPr>
          <p:txBody>
            <a:bodyPr wrap="none" rtlCol="0">
              <a:spAutoFit/>
            </a:bodyPr>
            <a:lstStyle/>
            <a:p>
              <a:pPr algn="ctr"/>
              <a:r>
                <a:rPr lang="en-US" sz="2400" b="1">
                  <a:latin typeface="Gadugi" panose="020B0502040204020203" pitchFamily="34" charset="0"/>
                  <a:ea typeface="Gadugi" panose="020B0502040204020203" pitchFamily="34" charset="0"/>
                </a:rPr>
                <a:t>-</a:t>
              </a:r>
            </a:p>
          </p:txBody>
        </p:sp>
        <p:cxnSp>
          <p:nvCxnSpPr>
            <p:cNvPr id="15" name="Connector: Elbow 14">
              <a:extLst>
                <a:ext uri="{FF2B5EF4-FFF2-40B4-BE49-F238E27FC236}">
                  <a16:creationId xmlns:a16="http://schemas.microsoft.com/office/drawing/2014/main" id="{DC9E9B16-D3F7-C093-6D0B-40BEDA288F9A}"/>
                </a:ext>
              </a:extLst>
            </p:cNvPr>
            <p:cNvCxnSpPr>
              <a:cxnSpLocks/>
              <a:stCxn id="10" idx="3"/>
              <a:endCxn id="22" idx="3"/>
            </p:cNvCxnSpPr>
            <p:nvPr/>
          </p:nvCxnSpPr>
          <p:spPr>
            <a:xfrm flipH="1" flipV="1">
              <a:off x="9251657" y="2180260"/>
              <a:ext cx="441821" cy="3197203"/>
            </a:xfrm>
            <a:prstGeom prst="bentConnector3">
              <a:avLst>
                <a:gd name="adj1" fmla="val -51740"/>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50CE0B61-6864-C87E-A517-96C1BA8C1D3A}"/>
                </a:ext>
              </a:extLst>
            </p:cNvPr>
            <p:cNvSpPr txBox="1"/>
            <p:nvPr/>
          </p:nvSpPr>
          <p:spPr>
            <a:xfrm>
              <a:off x="9966815" y="3317196"/>
              <a:ext cx="402674"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7" name="Connector: Elbow 16">
              <a:extLst>
                <a:ext uri="{FF2B5EF4-FFF2-40B4-BE49-F238E27FC236}">
                  <a16:creationId xmlns:a16="http://schemas.microsoft.com/office/drawing/2014/main" id="{CE7BDC3E-6E10-0268-F666-A15B8A0D000D}"/>
                </a:ext>
              </a:extLst>
            </p:cNvPr>
            <p:cNvCxnSpPr>
              <a:cxnSpLocks/>
              <a:stCxn id="22" idx="1"/>
              <a:endCxn id="24" idx="1"/>
            </p:cNvCxnSpPr>
            <p:nvPr/>
          </p:nvCxnSpPr>
          <p:spPr>
            <a:xfrm rot="10800000" flipV="1">
              <a:off x="1929020" y="2180259"/>
              <a:ext cx="4975118" cy="3197203"/>
            </a:xfrm>
            <a:prstGeom prst="bentConnector3">
              <a:avLst>
                <a:gd name="adj1" fmla="val 104595"/>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786D7EC8-46BE-EB9D-84BE-C778A0191FD7}"/>
                </a:ext>
              </a:extLst>
            </p:cNvPr>
            <p:cNvSpPr txBox="1"/>
            <p:nvPr/>
          </p:nvSpPr>
          <p:spPr>
            <a:xfrm>
              <a:off x="1336198" y="3429000"/>
              <a:ext cx="309700"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cxnSp>
          <p:nvCxnSpPr>
            <p:cNvPr id="19" name="Straight Arrow Connector 18">
              <a:extLst>
                <a:ext uri="{FF2B5EF4-FFF2-40B4-BE49-F238E27FC236}">
                  <a16:creationId xmlns:a16="http://schemas.microsoft.com/office/drawing/2014/main" id="{630D0ECE-78BD-99CA-DA4C-D672C46152D0}"/>
                </a:ext>
              </a:extLst>
            </p:cNvPr>
            <p:cNvCxnSpPr>
              <a:cxnSpLocks/>
            </p:cNvCxnSpPr>
            <p:nvPr/>
          </p:nvCxnSpPr>
          <p:spPr>
            <a:xfrm flipH="1">
              <a:off x="6811861" y="2614820"/>
              <a:ext cx="375398" cy="574761"/>
            </a:xfrm>
            <a:prstGeom prst="straightConnector1">
              <a:avLst/>
            </a:prstGeom>
            <a:ln w="38100">
              <a:prstDash val="sysDot"/>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AFBF7B0-40FB-B3D9-9EDF-D02F64CABA97}"/>
                </a:ext>
              </a:extLst>
            </p:cNvPr>
            <p:cNvSpPr txBox="1"/>
            <p:nvPr/>
          </p:nvSpPr>
          <p:spPr>
            <a:xfrm>
              <a:off x="6657011" y="2573901"/>
              <a:ext cx="309700" cy="461665"/>
            </a:xfrm>
            <a:prstGeom prst="rect">
              <a:avLst/>
            </a:prstGeom>
            <a:noFill/>
          </p:spPr>
          <p:txBody>
            <a:bodyPr wrap="none" rtlCol="0">
              <a:spAutoFit/>
            </a:bodyPr>
            <a:lstStyle/>
            <a:p>
              <a:r>
                <a:rPr lang="en-US" sz="2400" b="1">
                  <a:latin typeface="Gadugi" panose="020B0502040204020203" pitchFamily="34" charset="0"/>
                  <a:ea typeface="Gadugi" panose="020B0502040204020203" pitchFamily="34" charset="0"/>
                </a:rPr>
                <a:t>-</a:t>
              </a:r>
            </a:p>
          </p:txBody>
        </p:sp>
      </p:grpSp>
      <p:sp>
        <p:nvSpPr>
          <p:cNvPr id="33" name="TextBox 32">
            <a:extLst>
              <a:ext uri="{FF2B5EF4-FFF2-40B4-BE49-F238E27FC236}">
                <a16:creationId xmlns:a16="http://schemas.microsoft.com/office/drawing/2014/main" id="{56905542-6F7D-B2E6-B551-55E6867C9395}"/>
              </a:ext>
            </a:extLst>
          </p:cNvPr>
          <p:cNvSpPr txBox="1"/>
          <p:nvPr/>
        </p:nvSpPr>
        <p:spPr>
          <a:xfrm>
            <a:off x="2948777" y="5938228"/>
            <a:ext cx="6096740" cy="461665"/>
          </a:xfrm>
          <a:prstGeom prst="rect">
            <a:avLst/>
          </a:prstGeom>
          <a:noFill/>
        </p:spPr>
        <p:txBody>
          <a:bodyPr wrap="square">
            <a:spAutoFit/>
          </a:bodyPr>
          <a:lstStyle/>
          <a:p>
            <a:pPr algn="ctr"/>
            <a:r>
              <a:rPr lang="zh-CN" altLang="en-US" sz="2400" b="1">
                <a:solidFill>
                  <a:schemeClr val="accent6">
                    <a:lumMod val="75000"/>
                  </a:schemeClr>
                </a:solidFill>
                <a:latin typeface="Gadugi" panose="020B0502040204020203" pitchFamily="34" charset="0"/>
                <a:ea typeface="Gadugi" panose="020B0502040204020203" pitchFamily="34" charset="0"/>
              </a:rPr>
              <a:t>√</a:t>
            </a:r>
            <a:r>
              <a:rPr lang="en-US" altLang="zh-CN" sz="2400" b="1">
                <a:solidFill>
                  <a:schemeClr val="accent6">
                    <a:lumMod val="75000"/>
                  </a:schemeClr>
                </a:solidFill>
                <a:latin typeface="Gadugi" panose="020B0502040204020203" pitchFamily="34" charset="0"/>
                <a:ea typeface="Gadugi" panose="020B0502040204020203" pitchFamily="34" charset="0"/>
              </a:rPr>
              <a:t>(supported) </a:t>
            </a:r>
            <a:r>
              <a:rPr lang="en-US" sz="2400">
                <a:solidFill>
                  <a:prstClr val="black"/>
                </a:solidFill>
                <a:latin typeface="Gadugi" panose="020B0502040204020203" pitchFamily="34" charset="0"/>
                <a:ea typeface="Gadugi" panose="020B0502040204020203" pitchFamily="34" charset="0"/>
              </a:rPr>
              <a:t>Alternative Theory </a:t>
            </a:r>
            <a:endParaRPr lang="en-US" sz="2400"/>
          </a:p>
        </p:txBody>
      </p:sp>
    </p:spTree>
    <p:extLst>
      <p:ext uri="{BB962C8B-B14F-4D97-AF65-F5344CB8AC3E}">
        <p14:creationId xmlns:p14="http://schemas.microsoft.com/office/powerpoint/2010/main" val="1154134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04E60-2AD5-3591-04BE-5B3FEF66E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82525-DDC7-01BC-9326-A1ED865269E9}"/>
              </a:ext>
            </a:extLst>
          </p:cNvPr>
          <p:cNvSpPr>
            <a:spLocks noGrp="1"/>
          </p:cNvSpPr>
          <p:nvPr>
            <p:ph type="title"/>
          </p:nvPr>
        </p:nvSpPr>
        <p:spPr/>
        <p:txBody>
          <a:bodyPr/>
          <a:lstStyle/>
          <a:p>
            <a:r>
              <a:rPr lang="en-US"/>
              <a:t>Thesis Statement</a:t>
            </a:r>
          </a:p>
        </p:txBody>
      </p:sp>
      <p:sp>
        <p:nvSpPr>
          <p:cNvPr id="4" name="Footer Placeholder 3">
            <a:extLst>
              <a:ext uri="{FF2B5EF4-FFF2-40B4-BE49-F238E27FC236}">
                <a16:creationId xmlns:a16="http://schemas.microsoft.com/office/drawing/2014/main" id="{F2D61E95-3172-106C-64FC-95AEB7605A67}"/>
              </a:ext>
            </a:extLst>
          </p:cNvPr>
          <p:cNvSpPr>
            <a:spLocks noGrp="1"/>
          </p:cNvSpPr>
          <p:nvPr>
            <p:ph type="ftr" sz="quarter" idx="11"/>
          </p:nvPr>
        </p:nvSpPr>
        <p:spPr/>
        <p:txBody>
          <a:bodyPr/>
          <a:lstStyle/>
          <a:p>
            <a:r>
              <a:rPr lang="en-US" dirty="0">
                <a:latin typeface="Gadugi" panose="020B0502040204020203" pitchFamily="34" charset="0"/>
                <a:ea typeface="Gadugi" panose="020B0502040204020203" pitchFamily="34" charset="0"/>
              </a:rPr>
              <a:t>Dispelling Software Engineering Myths: A Pragmatic Causal Inference Approach</a:t>
            </a:r>
            <a:endParaRPr lang="en-US" dirty="0"/>
          </a:p>
        </p:txBody>
      </p:sp>
      <p:sp>
        <p:nvSpPr>
          <p:cNvPr id="5" name="Slide Number Placeholder 4">
            <a:extLst>
              <a:ext uri="{FF2B5EF4-FFF2-40B4-BE49-F238E27FC236}">
                <a16:creationId xmlns:a16="http://schemas.microsoft.com/office/drawing/2014/main" id="{A72CD548-16E7-0FA3-683B-568BFF53F32F}"/>
              </a:ext>
            </a:extLst>
          </p:cNvPr>
          <p:cNvSpPr>
            <a:spLocks noGrp="1"/>
          </p:cNvSpPr>
          <p:nvPr>
            <p:ph type="sldNum" sz="quarter" idx="12"/>
          </p:nvPr>
        </p:nvSpPr>
        <p:spPr/>
        <p:txBody>
          <a:bodyPr/>
          <a:lstStyle/>
          <a:p>
            <a:fld id="{8E90A93A-CBEB-40B0-B638-E400989BEC3F}" type="slidenum">
              <a:rPr lang="zh-CN" altLang="en-US" smtClean="0"/>
              <a:pPr/>
              <a:t>33</a:t>
            </a:fld>
            <a:endParaRPr lang="zh-CN" altLang="en-US"/>
          </a:p>
        </p:txBody>
      </p:sp>
      <p:sp>
        <p:nvSpPr>
          <p:cNvPr id="6" name="Content Placeholder 2">
            <a:extLst>
              <a:ext uri="{FF2B5EF4-FFF2-40B4-BE49-F238E27FC236}">
                <a16:creationId xmlns:a16="http://schemas.microsoft.com/office/drawing/2014/main" id="{E7095C1A-9A00-56AC-87CD-7F31B284D9ED}"/>
              </a:ext>
            </a:extLst>
          </p:cNvPr>
          <p:cNvSpPr txBox="1">
            <a:spLocks/>
          </p:cNvSpPr>
          <p:nvPr/>
        </p:nvSpPr>
        <p:spPr>
          <a:xfrm>
            <a:off x="320948" y="1258351"/>
            <a:ext cx="11584419" cy="994094"/>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dk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I argue that </a:t>
            </a:r>
            <a:r>
              <a:rPr lang="en-US" dirty="0">
                <a:solidFill>
                  <a:srgbClr val="EE0000"/>
                </a:solidFill>
              </a:rPr>
              <a:t>causal credibility assessments</a:t>
            </a:r>
            <a:r>
              <a:rPr lang="en-US" dirty="0"/>
              <a:t> are feasible in empirical software engineering through an explicit articulation of causal theory and assumptions.</a:t>
            </a:r>
            <a:endParaRPr lang="en-US" b="1" dirty="0"/>
          </a:p>
        </p:txBody>
      </p:sp>
      <p:sp>
        <p:nvSpPr>
          <p:cNvPr id="7" name="Content Placeholder 2">
            <a:extLst>
              <a:ext uri="{FF2B5EF4-FFF2-40B4-BE49-F238E27FC236}">
                <a16:creationId xmlns:a16="http://schemas.microsoft.com/office/drawing/2014/main" id="{087411DE-FF13-3964-EEB9-60133B60E09F}"/>
              </a:ext>
            </a:extLst>
          </p:cNvPr>
          <p:cNvSpPr>
            <a:spLocks noGrp="1"/>
          </p:cNvSpPr>
          <p:nvPr>
            <p:ph idx="1"/>
          </p:nvPr>
        </p:nvSpPr>
        <p:spPr>
          <a:xfrm>
            <a:off x="320948" y="2652567"/>
            <a:ext cx="11584419" cy="3363445"/>
          </a:xfrm>
        </p:spPr>
        <p:txBody>
          <a:bodyPr>
            <a:normAutofit fontScale="92500"/>
          </a:bodyPr>
          <a:lstStyle/>
          <a:p>
            <a:r>
              <a:rPr lang="en-US" dirty="0"/>
              <a:t>One feasible causal credibility </a:t>
            </a:r>
            <a:r>
              <a:rPr lang="en-US" altLang="zh-CN" dirty="0"/>
              <a:t>assessment</a:t>
            </a:r>
            <a:r>
              <a:rPr lang="en-US" dirty="0"/>
              <a:t> </a:t>
            </a:r>
            <a:r>
              <a:rPr lang="en-US" altLang="zh-CN" dirty="0"/>
              <a:t>operationalization in SE settings is as follows:</a:t>
            </a:r>
            <a:endParaRPr lang="en-US" dirty="0"/>
          </a:p>
          <a:p>
            <a:pPr marL="914400" lvl="1" indent="-457200">
              <a:buFont typeface="+mj-lt"/>
              <a:buAutoNum type="arabicPeriod"/>
            </a:pPr>
            <a:r>
              <a:rPr lang="en-US" dirty="0"/>
              <a:t>Derive a </a:t>
            </a:r>
            <a:r>
              <a:rPr lang="en-US" b="1" dirty="0"/>
              <a:t>causal theory </a:t>
            </a:r>
            <a:r>
              <a:rPr lang="en-US" dirty="0"/>
              <a:t>from existing SE domain knowledge </a:t>
            </a:r>
          </a:p>
          <a:p>
            <a:pPr marL="914400" lvl="1" indent="-457200">
              <a:buFont typeface="+mj-lt"/>
              <a:buAutoNum type="arabicPeriod"/>
            </a:pPr>
            <a:r>
              <a:rPr lang="en-US" dirty="0"/>
              <a:t>Define a causal estimate of interest and the </a:t>
            </a:r>
            <a:r>
              <a:rPr lang="en-US" b="1" dirty="0"/>
              <a:t>assumption</a:t>
            </a:r>
            <a:r>
              <a:rPr lang="en-US" dirty="0"/>
              <a:t> under which the estimate would carry a causal interpretation through the potential outcome framework</a:t>
            </a:r>
          </a:p>
          <a:p>
            <a:pPr marL="914400" lvl="1" indent="-457200">
              <a:buFont typeface="+mj-lt"/>
              <a:buAutoNum type="arabicPeriod"/>
            </a:pPr>
            <a:r>
              <a:rPr lang="en-US" dirty="0"/>
              <a:t>Honestly </a:t>
            </a:r>
            <a:r>
              <a:rPr lang="en-US" b="1" dirty="0"/>
              <a:t>acknowledge</a:t>
            </a:r>
            <a:r>
              <a:rPr lang="en-US" dirty="0"/>
              <a:t> and </a:t>
            </a:r>
            <a:r>
              <a:rPr lang="en-US" b="1" dirty="0"/>
              <a:t>mitigate</a:t>
            </a:r>
            <a:r>
              <a:rPr lang="en-US" dirty="0"/>
              <a:t> limitations in data collection, metric design, measurement infrastructure, and model specifications</a:t>
            </a:r>
          </a:p>
          <a:p>
            <a:pPr marL="914400" lvl="1" indent="-457200">
              <a:buFont typeface="+mj-lt"/>
              <a:buAutoNum type="arabicPeriod"/>
            </a:pPr>
            <a:r>
              <a:rPr lang="en-US" dirty="0"/>
              <a:t>Thoughtfully navigate </a:t>
            </a:r>
            <a:r>
              <a:rPr lang="en-US" b="1" dirty="0"/>
              <a:t>alternative explanations</a:t>
            </a:r>
            <a:r>
              <a:rPr lang="en-US" dirty="0"/>
              <a:t> (i.e., alternative DAGs)</a:t>
            </a:r>
          </a:p>
        </p:txBody>
      </p:sp>
    </p:spTree>
    <p:extLst>
      <p:ext uri="{BB962C8B-B14F-4D97-AF65-F5344CB8AC3E}">
        <p14:creationId xmlns:p14="http://schemas.microsoft.com/office/powerpoint/2010/main" val="881223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A536D-FA7B-F8EF-DFF8-8EFE8A4AE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9BFCF-0D3D-35E5-2A7B-28679E9904EE}"/>
              </a:ext>
            </a:extLst>
          </p:cNvPr>
          <p:cNvSpPr>
            <a:spLocks noGrp="1"/>
          </p:cNvSpPr>
          <p:nvPr>
            <p:ph type="title"/>
          </p:nvPr>
        </p:nvSpPr>
        <p:spPr/>
        <p:txBody>
          <a:bodyPr/>
          <a:lstStyle/>
          <a:p>
            <a:r>
              <a:rPr lang="en-US"/>
              <a:t>Thesis Statement</a:t>
            </a:r>
          </a:p>
        </p:txBody>
      </p:sp>
      <p:sp>
        <p:nvSpPr>
          <p:cNvPr id="4" name="Footer Placeholder 3">
            <a:extLst>
              <a:ext uri="{FF2B5EF4-FFF2-40B4-BE49-F238E27FC236}">
                <a16:creationId xmlns:a16="http://schemas.microsoft.com/office/drawing/2014/main" id="{B9146F62-E51F-76BB-DC00-961D4D68B7E2}"/>
              </a:ext>
            </a:extLst>
          </p:cNvPr>
          <p:cNvSpPr>
            <a:spLocks noGrp="1"/>
          </p:cNvSpPr>
          <p:nvPr>
            <p:ph type="ftr" sz="quarter" idx="11"/>
          </p:nvPr>
        </p:nvSpPr>
        <p:spPr/>
        <p:txBody>
          <a:bodyPr/>
          <a:lstStyle/>
          <a:p>
            <a:r>
              <a:rPr lang="en-US" dirty="0">
                <a:latin typeface="Gadugi" panose="020B0502040204020203" pitchFamily="34" charset="0"/>
                <a:ea typeface="Gadugi" panose="020B0502040204020203" pitchFamily="34" charset="0"/>
              </a:rPr>
              <a:t>Dispelling Software Engineering Myths: A Pragmatic Causal Inference Approach</a:t>
            </a:r>
            <a:endParaRPr lang="en-US" dirty="0"/>
          </a:p>
        </p:txBody>
      </p:sp>
      <p:sp>
        <p:nvSpPr>
          <p:cNvPr id="5" name="Slide Number Placeholder 4">
            <a:extLst>
              <a:ext uri="{FF2B5EF4-FFF2-40B4-BE49-F238E27FC236}">
                <a16:creationId xmlns:a16="http://schemas.microsoft.com/office/drawing/2014/main" id="{46052873-6824-5A44-1995-455E720D18E5}"/>
              </a:ext>
            </a:extLst>
          </p:cNvPr>
          <p:cNvSpPr>
            <a:spLocks noGrp="1"/>
          </p:cNvSpPr>
          <p:nvPr>
            <p:ph type="sldNum" sz="quarter" idx="12"/>
          </p:nvPr>
        </p:nvSpPr>
        <p:spPr/>
        <p:txBody>
          <a:bodyPr/>
          <a:lstStyle/>
          <a:p>
            <a:fld id="{8E90A93A-CBEB-40B0-B638-E400989BEC3F}" type="slidenum">
              <a:rPr lang="zh-CN" altLang="en-US" smtClean="0"/>
              <a:pPr/>
              <a:t>34</a:t>
            </a:fld>
            <a:endParaRPr lang="zh-CN" altLang="en-US"/>
          </a:p>
        </p:txBody>
      </p:sp>
      <p:sp>
        <p:nvSpPr>
          <p:cNvPr id="6" name="Content Placeholder 2">
            <a:extLst>
              <a:ext uri="{FF2B5EF4-FFF2-40B4-BE49-F238E27FC236}">
                <a16:creationId xmlns:a16="http://schemas.microsoft.com/office/drawing/2014/main" id="{A1B56179-3046-1A74-2538-8BD8FBC2ACA3}"/>
              </a:ext>
            </a:extLst>
          </p:cNvPr>
          <p:cNvSpPr txBox="1">
            <a:spLocks/>
          </p:cNvSpPr>
          <p:nvPr/>
        </p:nvSpPr>
        <p:spPr>
          <a:xfrm>
            <a:off x="320948" y="1258351"/>
            <a:ext cx="11584419" cy="994094"/>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dk1"/>
                </a:solidFill>
                <a:latin typeface="Gadugi" panose="020B0502040204020203"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400" kern="1200">
                <a:solidFill>
                  <a:schemeClr val="dk1"/>
                </a:solidFill>
                <a:latin typeface="Gadug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I argue that </a:t>
            </a:r>
            <a:r>
              <a:rPr lang="en-US" dirty="0">
                <a:solidFill>
                  <a:srgbClr val="EE0000"/>
                </a:solidFill>
              </a:rPr>
              <a:t>causal credibility assessments</a:t>
            </a:r>
            <a:r>
              <a:rPr lang="en-US" dirty="0"/>
              <a:t> are feasible in empirical software engineering through an explicit articulation of causal theory and assumptions.</a:t>
            </a:r>
            <a:endParaRPr lang="en-US" b="1" dirty="0"/>
          </a:p>
        </p:txBody>
      </p:sp>
    </p:spTree>
    <p:extLst>
      <p:ext uri="{BB962C8B-B14F-4D97-AF65-F5344CB8AC3E}">
        <p14:creationId xmlns:p14="http://schemas.microsoft.com/office/powerpoint/2010/main" val="25399697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89</TotalTime>
  <Words>2198</Words>
  <Application>Microsoft Office PowerPoint</Application>
  <PresentationFormat>Widescreen</PresentationFormat>
  <Paragraphs>258</Paragraphs>
  <Slides>34</Slides>
  <Notes>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等线</vt:lpstr>
      <vt:lpstr>等线 Light</vt:lpstr>
      <vt:lpstr>Aptos Serif</vt:lpstr>
      <vt:lpstr>Arial</vt:lpstr>
      <vt:lpstr>Calibri</vt:lpstr>
      <vt:lpstr>Cambria Math</vt:lpstr>
      <vt:lpstr>Gadugi</vt:lpstr>
      <vt:lpstr>Roboto</vt:lpstr>
      <vt:lpstr>Roboto Slab</vt:lpstr>
      <vt:lpstr>Office 主题​​</vt:lpstr>
      <vt:lpstr>Dispelling Software Engineering Myths: A Pragmatic Causal Inference Approach</vt:lpstr>
      <vt:lpstr>Software engineering is one of the most consequential engineering disciplines in the modern era</vt:lpstr>
      <vt:lpstr>However, software engineering practice today is filled with myths</vt:lpstr>
      <vt:lpstr>Example 1: Pinning vs. Floating </vt:lpstr>
      <vt:lpstr>Example 2: GitHub Stars for Growth Hacking</vt:lpstr>
      <vt:lpstr>Example 3: AI Coding Tools on Productivity</vt:lpstr>
      <vt:lpstr>Example 4: Programming Language vs. Defect Proneness</vt:lpstr>
      <vt:lpstr>Example 4: Programming Language vs. Defect Proneness</vt:lpstr>
      <vt:lpstr>Common Pattern: Claiming to be only studying correlation when the research question is fundamentally a question about causal relationships</vt:lpstr>
      <vt:lpstr>Even a “causal inference” method is claimed, SE research may fail to discuss the nuance of underlying assumptions and when you can make a causal claim</vt:lpstr>
      <vt:lpstr>Without a framework and language of causal credibility, one has to be an expert to assess the strength of causal claims in each paper</vt:lpstr>
      <vt:lpstr>The Art of Causal Inference on Observational Data</vt:lpstr>
      <vt:lpstr>Causal Directed Acyclic Graphs (DAGs)</vt:lpstr>
      <vt:lpstr>The Potential Outcome Framework</vt:lpstr>
      <vt:lpstr>The Modern Weaponry for Causal Inference</vt:lpstr>
      <vt:lpstr>It has been used in software engineering, but not that much</vt:lpstr>
      <vt:lpstr>PowerPoint Presentation</vt:lpstr>
      <vt:lpstr>Thesis Statement</vt:lpstr>
      <vt:lpstr>The Impact of Dependency Pinning on Supply Chain Security</vt:lpstr>
      <vt:lpstr>The Impact of Dependency Pinning on Supply Chain Security</vt:lpstr>
      <vt:lpstr>Completed Work : Pinning vs. Floating</vt:lpstr>
      <vt:lpstr>Completed Work: Pinning vs. Floating</vt:lpstr>
      <vt:lpstr>Completed Work: Pinning vs. Floating</vt:lpstr>
      <vt:lpstr>The Impact of Fake GitHub Stars on Repository Promotion</vt:lpstr>
      <vt:lpstr>Completed Work: The Effect of Fake GitHub Stars</vt:lpstr>
      <vt:lpstr>Completed Work: The Effect of Fake GitHub Stars</vt:lpstr>
      <vt:lpstr>Completed Work: The Effect of Fake GitHub Stars</vt:lpstr>
      <vt:lpstr>The Impact of Cursor AI on Open-Source Projects</vt:lpstr>
      <vt:lpstr>Completed Work: The Impact of Cursor AI Adoption</vt:lpstr>
      <vt:lpstr>Completed Work: The Impact of Cursor AI Adoption</vt:lpstr>
      <vt:lpstr>Completed Work: The Impact of Cursor AI Adoption</vt:lpstr>
      <vt:lpstr>Completed Work: The Impact of Cursor AI Adoption</vt:lpstr>
      <vt:lpstr>Thesis Statement</vt:lpstr>
      <vt:lpstr>Thesis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Multi-Metric Ranking Approach for Library Migration Recommendations</dc:title>
  <dc:creator>hehao</dc:creator>
  <cp:lastModifiedBy>Hao He</cp:lastModifiedBy>
  <cp:revision>1</cp:revision>
  <dcterms:created xsi:type="dcterms:W3CDTF">2021-03-04T09:37:12Z</dcterms:created>
  <dcterms:modified xsi:type="dcterms:W3CDTF">2026-09-13T19:09:22Z</dcterms:modified>
</cp:coreProperties>
</file>